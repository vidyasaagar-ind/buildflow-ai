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3139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jp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jp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2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4114800" cy="4114800"/>
          </a:xfrm>
          <a:prstGeom prst="ellipse">
            <a:avLst/>
          </a:prstGeom>
          <a:solidFill>
            <a:srgbClr val="1D4ED8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926080"/>
            <a:ext cx="3657600" cy="3657600"/>
          </a:xfrm>
          <a:prstGeom prst="ellipse">
            <a:avLst/>
          </a:prstGeom>
          <a:solidFill>
            <a:srgbClr val="1D4ED8">
              <a:alpha val="3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15464"/>
            <a:ext cx="91440" cy="3215641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BuildFlow</a:t>
            </a:r>
            <a:r>
              <a:rPr lang="en-US" sz="4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Project Planning Assistant</a:t>
            </a:r>
          </a:p>
          <a:p>
            <a:pPr marL="0" indent="0">
              <a:buNone/>
            </a:pPr>
            <a:r>
              <a:rPr lang="en-US" sz="12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7772400" cy="18288"/>
          </a:xfrm>
          <a:prstGeom prst="rect">
            <a:avLst/>
          </a:prstGeom>
          <a:solidFill>
            <a:srgbClr val="BFDBFE">
              <a:alpha val="40000"/>
            </a:srgbClr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01752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M 		(23TD0003)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SHAFI AHMED F  	(23TD0076)</a:t>
            </a: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VIDYASAAGAR M  	(23TD0091)</a:t>
            </a:r>
            <a:endParaRPr lang="en-US" sz="1300" dirty="0"/>
          </a:p>
          <a:p>
            <a:pPr marL="0" indent="0">
              <a:buNone/>
            </a:pPr>
            <a:endParaRPr lang="en-US" sz="12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Dr. R. G. Suresh Kumar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Rajiv Gandhi College of Engineering and Technology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8412480" cy="960120"/>
          </a:xfrm>
          <a:prstGeom prst="rect">
            <a:avLst/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0594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896112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early-stage developers struggle to bridge the gap between project ideas and structured technical documentation — leading to poorly planned projects and wasted development time.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65760" y="2011680"/>
            <a:ext cx="41605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760" y="2011680"/>
            <a:ext cx="6400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04168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212140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approach to convert ideas into BRD, SRS, or Roadmaps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663440" y="2011680"/>
            <a:ext cx="41605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011680"/>
            <a:ext cx="64008" cy="10515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304168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94960" y="212140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 like ChatGPT lack project memory and context continuity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65760" y="3246120"/>
            <a:ext cx="41605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365760" y="3246120"/>
            <a:ext cx="64008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38608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35584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documentation is time-consuming and error-prone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663440" y="3246120"/>
            <a:ext cx="41605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663440" y="3246120"/>
            <a:ext cx="64008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3538608"/>
            <a:ext cx="411480" cy="411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394960" y="335584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lack stage-by-stage guidance and implementation prompts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41248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2412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005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of AI Tools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0352" y="143560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guide structured conversations to produce technical artifacts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0400" y="841248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024128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86200" y="1005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Need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364992" y="143560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need step-by-step support from idea to deployable project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841248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024128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20840" y="1005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Gap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199632" y="143560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of developers skip formal documentation in early stages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1546913" y="2627343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0402" y="2849887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336574" y="2895607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Gap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814445" y="322341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domain-specific planning tools for software projects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448167" y="2627537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9044" y="2862072"/>
            <a:ext cx="411480" cy="411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120640" y="2900179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Platform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669044" y="3223418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AI makes intelligent assistants affordable and scalable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68680"/>
            <a:ext cx="777240" cy="7132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23544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25880" y="960120"/>
            <a:ext cx="7223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and structure project requirements through guided AI conversation stages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673352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673352"/>
            <a:ext cx="777240" cy="7132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728216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" y="1764792"/>
            <a:ext cx="7223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persistent blueprint memory across all planning stages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2478024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478024"/>
            <a:ext cx="777240" cy="7132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532888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5880" y="2569464"/>
            <a:ext cx="7223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professional documents: BRD, SRS, Roadmap, and To-Do List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3282696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282696"/>
            <a:ext cx="777240" cy="7132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33756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25880" y="3374136"/>
            <a:ext cx="7223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stage-specific implementation prompts for development guidance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087368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4087368"/>
            <a:ext cx="777240" cy="7132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142232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325880" y="4178808"/>
            <a:ext cx="7223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export capabilities in Markdown and PDF formats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 &amp; Limitations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41248"/>
            <a:ext cx="26974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41248"/>
            <a:ext cx="2697480" cy="502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/ Gemini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1657304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463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project memory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3248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13055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document export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2992328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279806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responses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59840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46557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stage guidance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18688" y="841248"/>
            <a:ext cx="26974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18688" y="841248"/>
            <a:ext cx="269748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84124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 / Notion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419856" y="1657304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2736" y="1463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assistance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19856" y="23248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02736" y="213055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 entry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19856" y="2992328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79806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prompt gen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19856" y="3659840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2736" y="346557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onboarding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71616" y="841248"/>
            <a:ext cx="269748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71616" y="841248"/>
            <a:ext cx="269748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63056" y="84124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Planning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272784" y="1657304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55664" y="1463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Time-consuming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72784" y="23248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55664" y="213055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Error-prone process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72784" y="2992328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55664" y="279806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 enforced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72784" y="3659840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55664" y="346557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integration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1D4ED8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657600"/>
            <a:ext cx="2286000" cy="2286000"/>
          </a:xfrm>
          <a:prstGeom prst="ellipse">
            <a:avLst/>
          </a:prstGeom>
          <a:solidFill>
            <a:srgbClr val="1D4ED8">
              <a:alpha val="3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BuildFlow</a:t>
            </a: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web-based, AI-powered project planning assistant that guides users through structured planning stages to produce professional documentation, implementation prompts, and exportable artifacts — all within a single unified platform.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196596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246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Stage-Based AI Chat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06040" y="3246120"/>
            <a:ext cx="196596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3246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Memory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3246120"/>
            <a:ext cx="196596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3246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904488"/>
            <a:ext cx="196596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044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06040" y="3904488"/>
            <a:ext cx="196596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39044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MD Export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12280" y="2090056"/>
            <a:ext cx="1965960" cy="2619103"/>
          </a:xfrm>
          <a:prstGeom prst="rect">
            <a:avLst/>
          </a:prstGeom>
          <a:solidFill>
            <a:srgbClr val="1D4ED8"/>
          </a:solidFill>
          <a:ln w="9525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15100" y="21945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🤖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515100" y="32461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BuildFlow 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3794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Planning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4124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24128" y="1024128"/>
            <a:ext cx="548640" cy="548640"/>
          </a:xfrm>
          <a:prstGeom prst="ellipse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069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166420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65760" y="207568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Firebase login &amp; signup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450592" y="84124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024128"/>
            <a:ext cx="548640" cy="548640"/>
          </a:xfrm>
          <a:prstGeom prst="ellipse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069848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42032" y="166420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2542032" y="207568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manage, organize projects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626864" y="84124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376672" y="1024128"/>
            <a:ext cx="548640" cy="54864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392" y="1069848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18304" y="166420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Stage-Based AI Chat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718304" y="207568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5-stage guided chatbot planning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803136" y="84124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552944" y="1024128"/>
            <a:ext cx="548640" cy="54864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664" y="1069848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894576" y="166420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Memory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6894576" y="207568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context across stages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274320" y="285292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1024128" y="3035808"/>
            <a:ext cx="548640" cy="54864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848" y="3081528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65760" y="367588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Generation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365760" y="40873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BRD, SRS, Roadmap, To-Do List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2450592" y="285292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3200400" y="3035808"/>
            <a:ext cx="548640" cy="548640"/>
          </a:xfrm>
          <a:prstGeom prst="ellipse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3081528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542032" y="367588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Generation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2542032" y="40873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prompts for all tech layers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4626864" y="285292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376672" y="3035808"/>
            <a:ext cx="548640" cy="548640"/>
          </a:xfrm>
          <a:prstGeom prst="ellipse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22392" y="3081528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4718304" y="367588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&amp; PDF Export</a:t>
            </a:r>
            <a:endParaRPr lang="en-US" sz="1150" dirty="0"/>
          </a:p>
        </p:txBody>
      </p:sp>
      <p:sp>
        <p:nvSpPr>
          <p:cNvPr id="40" name="Text 31"/>
          <p:cNvSpPr/>
          <p:nvPr/>
        </p:nvSpPr>
        <p:spPr>
          <a:xfrm>
            <a:off x="4718304" y="40873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ready artifacts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6803136" y="2852928"/>
            <a:ext cx="202996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7552944" y="3035808"/>
            <a:ext cx="548640" cy="548640"/>
          </a:xfrm>
          <a:prstGeom prst="ellipse">
            <a:avLst/>
          </a:prstGeom>
          <a:solidFill>
            <a:srgbClr val="64748B">
              <a:alpha val="15000"/>
            </a:srgbClr>
          </a:solidFill>
          <a:ln w="12700">
            <a:solidFill>
              <a:srgbClr val="64748B"/>
            </a:solidFill>
            <a:prstDash val="solid"/>
          </a:ln>
        </p:spPr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8664" y="3081528"/>
            <a:ext cx="457200" cy="4572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6894576" y="367588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/ Dark Themes</a:t>
            </a:r>
            <a:endParaRPr lang="en-US" sz="1150" dirty="0"/>
          </a:p>
        </p:txBody>
      </p:sp>
      <p:sp>
        <p:nvSpPr>
          <p:cNvPr id="45" name="Text 35"/>
          <p:cNvSpPr/>
          <p:nvPr/>
        </p:nvSpPr>
        <p:spPr>
          <a:xfrm>
            <a:off x="6894576" y="40873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responsive UI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1268653" y="886960"/>
            <a:ext cx="6606692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552683-3850-7616-A392-14397D9C8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074" y="1015712"/>
            <a:ext cx="6079851" cy="34320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9</a:t>
            </a:r>
          </a:p>
          <a:p>
            <a:pPr marL="0" indent="0" algn="r">
              <a:buNone/>
            </a:pP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68680"/>
            <a:ext cx="2651760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68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399032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 •  Vite  •  Tailwind CSS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0" y="86868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868680"/>
            <a:ext cx="2651760" cy="43891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3291840" y="868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1399032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 •  Express.js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86868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868680"/>
            <a:ext cx="265176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868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DB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1399032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 •  Firestore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83080" y="260604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783080" y="2606040"/>
            <a:ext cx="2651760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26060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874520" y="3136392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API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09162" y="260604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4617" y="2606040"/>
            <a:ext cx="2651760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2" y="26060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2" y="3136392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Render </a:t>
            </a:r>
            <a:endParaRPr lang="en-US" sz="11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98C6BF7-D630-F1C7-5355-A8D360B84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51" y="1701838"/>
            <a:ext cx="444307" cy="39571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A8660F6-781E-BBC7-7E7A-1B412522A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3870" y="1701838"/>
            <a:ext cx="653096" cy="39951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1436724-73D9-15E4-2C18-743F23DCB4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3926" y="1673666"/>
            <a:ext cx="458744" cy="452054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8DAAF5B-6990-86C9-75F0-773B9D9817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4246" y="1623060"/>
            <a:ext cx="506920" cy="5069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6FC3318-4A5E-E289-814D-1926D885A9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594429"/>
            <a:ext cx="900291" cy="5069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E1AA440-6002-DFC2-EF48-063A47DF11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5710" y="1663903"/>
            <a:ext cx="1330423" cy="37522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1E26C295-3057-1537-DA6A-173682FB8F2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30604" b="31423"/>
          <a:stretch>
            <a:fillRect/>
          </a:stretch>
        </p:blipFill>
        <p:spPr>
          <a:xfrm>
            <a:off x="2005029" y="3466808"/>
            <a:ext cx="2207861" cy="36493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E5808E1-4B53-6CE2-A197-C8D2748E674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44245" y="3466808"/>
            <a:ext cx="586252" cy="329767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9FEA773-C6D2-C72E-8071-176CBBC6DB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32536" y="3437762"/>
            <a:ext cx="387858" cy="3878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Description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5039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50392"/>
            <a:ext cx="2029968" cy="411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8503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353312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185623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Login/signup via Firebase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50592" y="85039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50592" y="850392"/>
            <a:ext cx="2029968" cy="4114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450592" y="8503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1353312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542032" y="185623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management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626864" y="85039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26864" y="850392"/>
            <a:ext cx="2029968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26864" y="8503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2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353312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18304" y="185623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staging environment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803136" y="85039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803136" y="850392"/>
            <a:ext cx="2029968" cy="411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803136" y="8503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</a:t>
            </a:r>
            <a:endParaRPr lang="en-US" sz="12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0376" y="1353312"/>
            <a:ext cx="411480" cy="4114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94576" y="185623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Stage-based guided prompting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274320" y="281635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274320" y="2816352"/>
            <a:ext cx="2029968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74320" y="281635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</a:t>
            </a:r>
            <a:endParaRPr lang="en-US" sz="12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3319272"/>
            <a:ext cx="411480" cy="4114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65760" y="38221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memory persistence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2450592" y="281635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2450592" y="2816352"/>
            <a:ext cx="2029968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2450592" y="281635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2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27832" y="3319272"/>
            <a:ext cx="411480" cy="41148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2542032" y="38221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BRD, SRS, Roadmap, To-Do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4626864" y="281635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4626864" y="2816352"/>
            <a:ext cx="2029968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4626864" y="281635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200" dirty="0"/>
          </a:p>
        </p:txBody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4104" y="3319272"/>
            <a:ext cx="411480" cy="41148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4718304" y="38221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prompts by tech layer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6803136" y="2816352"/>
            <a:ext cx="202996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6803136" y="2816352"/>
            <a:ext cx="2029968" cy="4114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6803136" y="281635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20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0376" y="3319272"/>
            <a:ext cx="411480" cy="41148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6894576" y="38221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preferences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Stages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1554480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68680"/>
            <a:ext cx="1554480" cy="731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88696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1247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38912" y="1719072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371577"/>
            <a:ext cx="1371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project title, domain, goals, and target users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48256" y="868680"/>
            <a:ext cx="15544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48256" y="868680"/>
            <a:ext cx="1554480" cy="731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48256" y="88696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48256" y="11247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121408" y="1719072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39696" y="2377440"/>
            <a:ext cx="1371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functional and non-functional requirements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30752" y="868680"/>
            <a:ext cx="15544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30752" y="868680"/>
            <a:ext cx="1554480" cy="731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30752" y="88696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30752" y="11247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803904" y="1719072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22192" y="2377440"/>
            <a:ext cx="1371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tech stack, system architecture, and data flow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13248" y="868680"/>
            <a:ext cx="15544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13248" y="868680"/>
            <a:ext cx="1554480" cy="731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88696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13248" y="11247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5486400" y="1719072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Tasks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04688" y="2377440"/>
            <a:ext cx="1371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milestones, sprints, and task breakdown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095744" y="868680"/>
            <a:ext cx="15544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095744" y="868680"/>
            <a:ext cx="1554480" cy="731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95744" y="88696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095744" y="11247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168896" y="1719072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87184" y="2377440"/>
            <a:ext cx="1371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finalize blueprint, and generate all outputs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938528" y="2468880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21024" y="2468880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03520" y="2468880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86016" y="2468880"/>
            <a:ext cx="109728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905ED1C3-216A-1F8C-F2C9-C3F716D3B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6" y="2178559"/>
            <a:ext cx="827531" cy="82753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5FD99CD0-9F9A-01CC-3A8D-AC4576EAE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7767" y="2178559"/>
            <a:ext cx="731521" cy="73152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95C2354-7CD6-2700-F642-FFD34C35B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70" y="2153225"/>
            <a:ext cx="837049" cy="837049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23FDA72-E37E-2EA0-DB67-7913DEB040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5450" y="2240280"/>
            <a:ext cx="1077577" cy="646362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D6C22CC6-6FD5-4FFA-5FA9-BA0E6F6E74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3379" y="2200889"/>
            <a:ext cx="698473" cy="69847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&amp; Memory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402336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0584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02412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Memory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" y="1691640"/>
            <a:ext cx="374904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Blueprint is a persistent JSON object maintained across all 5 AI planning stages. It captures: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title, domain &amp; goals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Functional &amp; non-functional requirements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Tech stack decisions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Roadmap and task list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validation summary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prompt in subsequent stages includes the full blueprint context — ensuring continuity and coherent document generation.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960120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63440" y="960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Input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577840" y="1399032"/>
            <a:ext cx="18288" cy="914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1490472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663440" y="14904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Input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77840" y="1929384"/>
            <a:ext cx="18288" cy="914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63440" y="2020824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663440" y="202082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Input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77840" y="2459736"/>
            <a:ext cx="18288" cy="914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63440" y="2551176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663440" y="255117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Input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577840" y="2990088"/>
            <a:ext cx="18288" cy="914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63440" y="3081528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663440" y="308152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Input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577840" y="3520440"/>
            <a:ext cx="18288" cy="914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663440" y="3611880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F4444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663440" y="36118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JSON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675120" y="2286000"/>
            <a:ext cx="2103120" cy="2331720"/>
          </a:xfrm>
          <a:prstGeom prst="rect">
            <a:avLst/>
          </a:prstGeom>
          <a:solidFill>
            <a:srgbClr val="EFF6FF"/>
          </a:solidFill>
          <a:ln w="9525">
            <a:solidFill>
              <a:srgbClr val="2563EB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675120" y="2834640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2029968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68680"/>
            <a:ext cx="2029968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932688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89611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5087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 Document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1645920" cy="18288"/>
          </a:xfrm>
          <a:prstGeom prst="rect">
            <a:avLst/>
          </a:prstGeom>
          <a:solidFill>
            <a:srgbClr val="2563EB">
              <a:alpha val="4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" y="237947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19456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288239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69748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338531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320040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Needs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88823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70332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Constraints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514600" y="868680"/>
            <a:ext cx="2029968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514600" y="868680"/>
            <a:ext cx="2029968" cy="548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28" y="932688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063240" y="89611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2606040" y="15087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2697480" y="2103120"/>
            <a:ext cx="1645920" cy="18288"/>
          </a:xfrm>
          <a:prstGeom prst="rect">
            <a:avLst/>
          </a:prstGeom>
          <a:solidFill>
            <a:srgbClr val="06B6D4">
              <a:alpha val="4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715768" y="237947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862072" y="219456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715768" y="288239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862072" y="269748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2715768" y="338531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862072" y="320040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2715768" y="388823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2862072" y="370332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663440" y="868680"/>
            <a:ext cx="2029968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4663440" y="868680"/>
            <a:ext cx="2029968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932688"/>
            <a:ext cx="365760" cy="36576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5212080" y="89611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600" dirty="0"/>
          </a:p>
        </p:txBody>
      </p:sp>
      <p:sp>
        <p:nvSpPr>
          <p:cNvPr id="38" name="Text 33"/>
          <p:cNvSpPr/>
          <p:nvPr/>
        </p:nvSpPr>
        <p:spPr>
          <a:xfrm>
            <a:off x="4754880" y="15087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Roadmap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4846320" y="2103120"/>
            <a:ext cx="1645920" cy="18288"/>
          </a:xfrm>
          <a:prstGeom prst="rect">
            <a:avLst/>
          </a:prstGeom>
          <a:solidFill>
            <a:srgbClr val="10B981">
              <a:alpha val="4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4864608" y="2379472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010912" y="219456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Breakdown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4864608" y="2882392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010912" y="269748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864608" y="3385312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5010912" y="320040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Estimates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4864608" y="3888232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10912" y="370332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812280" y="868680"/>
            <a:ext cx="2029968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9" name="Shape 44"/>
          <p:cNvSpPr/>
          <p:nvPr/>
        </p:nvSpPr>
        <p:spPr>
          <a:xfrm>
            <a:off x="6812280" y="868680"/>
            <a:ext cx="2029968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932688"/>
            <a:ext cx="365760" cy="365760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7360920" y="89611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 List</a:t>
            </a:r>
            <a:endParaRPr lang="en-US" sz="1600" dirty="0"/>
          </a:p>
        </p:txBody>
      </p:sp>
      <p:sp>
        <p:nvSpPr>
          <p:cNvPr id="52" name="Text 46"/>
          <p:cNvSpPr/>
          <p:nvPr/>
        </p:nvSpPr>
        <p:spPr>
          <a:xfrm>
            <a:off x="6903720" y="15087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Task List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6995160" y="2103120"/>
            <a:ext cx="1645920" cy="18288"/>
          </a:xfrm>
          <a:prstGeom prst="rect">
            <a:avLst/>
          </a:prstGeom>
          <a:solidFill>
            <a:srgbClr val="F59E0B">
              <a:alpha val="4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7013448" y="237947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7159752" y="219456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Tasks</a:t>
            </a:r>
            <a:endParaRPr lang="en-US" sz="1100" dirty="0"/>
          </a:p>
        </p:txBody>
      </p:sp>
      <p:sp>
        <p:nvSpPr>
          <p:cNvPr id="56" name="Shape 50"/>
          <p:cNvSpPr/>
          <p:nvPr/>
        </p:nvSpPr>
        <p:spPr>
          <a:xfrm>
            <a:off x="7013448" y="288239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1"/>
          <p:cNvSpPr/>
          <p:nvPr/>
        </p:nvSpPr>
        <p:spPr>
          <a:xfrm>
            <a:off x="7159752" y="269748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</a:t>
            </a:r>
            <a:endParaRPr lang="en-US" sz="1100" dirty="0"/>
          </a:p>
        </p:txBody>
      </p:sp>
      <p:sp>
        <p:nvSpPr>
          <p:cNvPr id="58" name="Shape 52"/>
          <p:cNvSpPr/>
          <p:nvPr/>
        </p:nvSpPr>
        <p:spPr>
          <a:xfrm>
            <a:off x="7013448" y="3385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7159752" y="320040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Assignments</a:t>
            </a:r>
            <a:endParaRPr lang="en-US" sz="1100" dirty="0"/>
          </a:p>
        </p:txBody>
      </p:sp>
      <p:sp>
        <p:nvSpPr>
          <p:cNvPr id="60" name="Shape 54"/>
          <p:cNvSpPr/>
          <p:nvPr/>
        </p:nvSpPr>
        <p:spPr>
          <a:xfrm>
            <a:off x="7013448" y="388823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1" name="Text 55"/>
          <p:cNvSpPr/>
          <p:nvPr/>
        </p:nvSpPr>
        <p:spPr>
          <a:xfrm>
            <a:off x="7159752" y="3703320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Generation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8412480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14400"/>
            <a:ext cx="64008" cy="7040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60704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97840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97280" y="1280160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component structures, UI flows, routing logic, state management patterns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1709928"/>
            <a:ext cx="8412480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1709928"/>
            <a:ext cx="64008" cy="70408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856232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17739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097280" y="2075688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routes, middleware, controller logic, authentication handlers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65760" y="2505456"/>
            <a:ext cx="8412480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5760" y="2505456"/>
            <a:ext cx="64008" cy="7040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265176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97280" y="25694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097280" y="2871216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schema design, collection structures, security rules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365760" y="3300984"/>
            <a:ext cx="8412480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65760" y="3300984"/>
            <a:ext cx="64008" cy="7040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447288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97280" y="33649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097280" y="3666744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cases, integration tests, test data and validation criteria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365760" y="4096512"/>
            <a:ext cx="8412480" cy="704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65760" y="4096512"/>
            <a:ext cx="64008" cy="7040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242816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9728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097280" y="4462272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pipeline, Vercel/Render config, environment variable setup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Existing Tools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8412480" cy="36576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ChatGPT / Gemini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Trello / Notion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BuildFlow AI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B6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Stage-based Planning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Project Memory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59E0B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Document Generation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Implementation Prompts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PDF / MD Export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59E0B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AI Integration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Single Platform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✗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8412480" cy="667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14400"/>
            <a:ext cx="1463040" cy="6675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1463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18/18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133502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965960" y="97840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65960" y="1280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&amp; function level tests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0" y="1115568"/>
            <a:ext cx="274320" cy="274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1673352"/>
            <a:ext cx="8412480" cy="667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1673352"/>
            <a:ext cx="1463040" cy="6675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673352"/>
            <a:ext cx="1463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" y="209397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965960" y="1737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65960" y="2039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and Firebase integration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1920240"/>
            <a:ext cx="274320" cy="274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432304"/>
            <a:ext cx="8412480" cy="667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432304"/>
            <a:ext cx="1463040" cy="6675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432304"/>
            <a:ext cx="1463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5760" y="285292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965960" y="249631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Response Testing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965960" y="27980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prompt accuracy and memory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2642616"/>
            <a:ext cx="274320" cy="274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191256"/>
            <a:ext cx="8412480" cy="667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3191256"/>
            <a:ext cx="1463040" cy="6675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191256"/>
            <a:ext cx="1463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65760" y="3611880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965960" y="325526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Testing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965960" y="35570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Responsiveness and theme switching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72400" y="3392424"/>
            <a:ext cx="274320" cy="274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950208"/>
            <a:ext cx="8412480" cy="667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950208"/>
            <a:ext cx="1463040" cy="6675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950208"/>
            <a:ext cx="1463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65760" y="4370832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965960" y="401421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Testing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96596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and Markdown output validation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772400" y="4151376"/>
            <a:ext cx="274320" cy="274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54 test cases executed  •  54 PASSED  •  0 FAILED  •  100% Pass Rate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20040" y="841248"/>
            <a:ext cx="2743200" cy="1828800"/>
          </a:xfrm>
          <a:prstGeom prst="rect">
            <a:avLst/>
          </a:prstGeom>
          <a:solidFill>
            <a:srgbClr val="EFF6FF"/>
          </a:solidFill>
          <a:ln w="19050">
            <a:solidFill>
              <a:srgbClr val="06B6D4"/>
            </a:solidFill>
            <a:prstDash val="dash"/>
          </a:ln>
        </p:spPr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F0B48B1-E792-E3C8-0908-A3C4763E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60" y="992021"/>
            <a:ext cx="2518988" cy="1371703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Screenshots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235000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841248"/>
            <a:ext cx="2743200" cy="1828800"/>
          </a:xfrm>
          <a:prstGeom prst="rect">
            <a:avLst/>
          </a:prstGeom>
          <a:solidFill>
            <a:srgbClr val="EFF6FF"/>
          </a:solidFill>
          <a:ln w="19050">
            <a:solidFill>
              <a:srgbClr val="06B6D4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00400" y="235000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80760" y="841248"/>
            <a:ext cx="2697480" cy="1828800"/>
          </a:xfrm>
          <a:prstGeom prst="rect">
            <a:avLst/>
          </a:prstGeom>
          <a:solidFill>
            <a:srgbClr val="EFF6FF"/>
          </a:solidFill>
          <a:ln w="19050">
            <a:solidFill>
              <a:srgbClr val="06B6D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080760" y="2350008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/ AI Chat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834640"/>
            <a:ext cx="4251960" cy="1965960"/>
          </a:xfrm>
          <a:prstGeom prst="rect">
            <a:avLst/>
          </a:prstGeom>
          <a:solidFill>
            <a:srgbClr val="EFF6FF"/>
          </a:solidFill>
          <a:ln w="19050">
            <a:solidFill>
              <a:srgbClr val="06B6D4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20040" y="4480560"/>
            <a:ext cx="4251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BRD, SRS, ROADMAP, TO-DO Document (Output Panel)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09160" y="2834640"/>
            <a:ext cx="4069080" cy="1965960"/>
          </a:xfrm>
          <a:prstGeom prst="rect">
            <a:avLst/>
          </a:prstGeom>
          <a:solidFill>
            <a:srgbClr val="EFF6FF"/>
          </a:solidFill>
          <a:ln w="19050">
            <a:solidFill>
              <a:srgbClr val="06B6D4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709160" y="4480560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Panel</a:t>
            </a:r>
            <a:endParaRPr lang="en-US" sz="9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D789919-3786-0714-9815-DBFDBA79F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2429" y="1014508"/>
            <a:ext cx="2543364" cy="134921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73E1293-0B64-F6D3-32B4-F6B11B2EA0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2797" y="1031564"/>
            <a:ext cx="2501276" cy="133638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E1C626F-5DA7-9F5A-4787-4AB79A661D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506" y="2964016"/>
            <a:ext cx="739091" cy="152333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1A6754C-7FDD-798C-6304-FDDB3681A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5739" y="2963717"/>
            <a:ext cx="815725" cy="15281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763689-F208-0F8E-E12C-324CDC4598D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6380" y="2963717"/>
            <a:ext cx="815725" cy="152363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0183A5B-5D42-84C1-7463-B0C57EBE41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8420" y="2964016"/>
            <a:ext cx="739092" cy="151251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155A903-0AEE-895E-AAF6-9282AB7641A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95893" y="2964016"/>
            <a:ext cx="733637" cy="148911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BE0C41F-FF4D-A93A-E897-D1A240D38F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31488" y="2964016"/>
            <a:ext cx="733637" cy="1489112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EA878F7-1EE0-8E4C-1139-9B03AEC452E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67083" y="2960546"/>
            <a:ext cx="733637" cy="1492582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FC2F042-F4EC-1D79-B3AF-C48262D992E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96622" y="2958215"/>
            <a:ext cx="733636" cy="149258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Benefits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868680"/>
            <a:ext cx="2651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08483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manual documentation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18688" y="86868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18688" y="868680"/>
            <a:ext cx="265176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18688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218688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Docs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18688" y="208483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to scratch writing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71616" y="86868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71616" y="868680"/>
            <a:ext cx="265176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71616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071616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71616" y="208483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test cases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560320"/>
            <a:ext cx="8412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560320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24328"/>
            <a:ext cx="347472" cy="34747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078992" y="262432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Accelerates project documentation from hours to minutes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5760" y="3154680"/>
            <a:ext cx="8412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5760" y="3154680"/>
            <a:ext cx="64008" cy="5029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218688"/>
            <a:ext cx="347472" cy="34747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078992" y="321868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full context continuity across all planning stages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65760" y="3749040"/>
            <a:ext cx="8412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365760" y="3749040"/>
            <a:ext cx="64008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813048"/>
            <a:ext cx="347472" cy="347472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078992" y="381304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structured, professional-grade documentation output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365760" y="4343400"/>
            <a:ext cx="64008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407408"/>
            <a:ext cx="347472" cy="347472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40740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the gap between planning and implementation with targeted prompts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BFDBFE"/>
                </a:solidFill>
              </a:rPr>
              <a:t>19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63040" y="1051560"/>
            <a:ext cx="548640" cy="548640"/>
          </a:xfrm>
          <a:prstGeom prst="ellipse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09728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7099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Collaboration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21031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project workspaces with role-based access and real-time co-editing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8686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051560"/>
            <a:ext cx="548640" cy="548640"/>
          </a:xfrm>
          <a:prstGeom prst="ellipse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0972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37560" y="17099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 Generation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383280" y="21031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generation of class diagrams, ER diagrams, and sequence diagrams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26480" y="8686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23760" y="1051560"/>
            <a:ext cx="548640" cy="54864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109728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17920" y="17099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/ PPT Export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263640" y="21031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generated documents directly as Microsoft Word or PowerPoint files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365760" y="288036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463040" y="3063240"/>
            <a:ext cx="548640" cy="54864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310896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372160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02920" y="41148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Voice-to-text integration for hands-free project planning input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3246120" y="288036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343400" y="3063240"/>
            <a:ext cx="548640" cy="54864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310896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337560" y="372160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History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3383280" y="41148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blueprint changes and revert to previous planning versions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126480" y="288036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223760" y="3063240"/>
            <a:ext cx="548640" cy="548640"/>
          </a:xfrm>
          <a:prstGeom prst="ellipse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310896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217920" y="372160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263640" y="41148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health metrics, completion predictions, and AI usage insights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200400"/>
            <a:ext cx="3200400" cy="3200400"/>
          </a:xfrm>
          <a:prstGeom prst="ellipse">
            <a:avLst/>
          </a:prstGeom>
          <a:solidFill>
            <a:srgbClr val="1D4ED8">
              <a:alpha val="3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18288"/>
          </a:xfrm>
          <a:prstGeom prst="rect">
            <a:avLst/>
          </a:prstGeom>
          <a:solidFill>
            <a:srgbClr val="BFDBFE">
              <a:alpha val="60000"/>
            </a:srgbClr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344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BuildFlow AI successfully transforms raw project ideas into complete, development-ready planning artifacts through a structured, memory-aware AI conversation interface.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542032"/>
            <a:ext cx="137160" cy="13716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404872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the real gap between ideation and documentation in software development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4360" y="2990088"/>
            <a:ext cx="137160" cy="13716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85292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BRD, SRS, Roadmap, To-Do List, and implementation prompts on a single platform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438144"/>
            <a:ext cx="137160" cy="13716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00984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memory ensures consistent, context-aware AI responses across all 5 stages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3886200"/>
            <a:ext cx="137160" cy="13716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7490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modern, production-grade technologies for scalability and reliability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334256"/>
            <a:ext cx="137160" cy="13716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197096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54/54 test cases and ready for real-world academic project use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1D4ED8">
              <a:alpha val="5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2743200"/>
            <a:ext cx="4572000" cy="4572000"/>
          </a:xfrm>
          <a:prstGeom prst="ellipse">
            <a:avLst/>
          </a:prstGeom>
          <a:solidFill>
            <a:srgbClr val="1D4ED8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00457"/>
            <a:ext cx="8046720" cy="18288"/>
          </a:xfrm>
          <a:prstGeom prst="rect">
            <a:avLst/>
          </a:prstGeom>
          <a:solidFill>
            <a:srgbClr val="BFDBFE">
              <a:alpha val="60000"/>
            </a:srgbClr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10216" y="3091224"/>
            <a:ext cx="2867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M 		(23TD0003)</a:t>
            </a:r>
          </a:p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SHAFI AHMED F  	(23TD0076)</a:t>
            </a:r>
          </a:p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VIDYASAAGAR M  	(23TD0091)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884325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Dr. R. G. Suresh Kumar  |  Dept. of CSE  |  RGCET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1169</Words>
  <Application>Microsoft Office PowerPoint</Application>
  <PresentationFormat>On-screen Show (16:9)</PresentationFormat>
  <Paragraphs>327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BuildFlow AI – AI-Based Project Planning Assistant</dc:title>
  <dc:subject>PptxGenJS Presentation</dc:subject>
  <dc:creator>PptxGenJS</dc:creator>
  <cp:lastModifiedBy>vidyasaagar.ind@outlook.com</cp:lastModifiedBy>
  <cp:revision>8</cp:revision>
  <dcterms:created xsi:type="dcterms:W3CDTF">2026-05-10T14:55:45Z</dcterms:created>
  <dcterms:modified xsi:type="dcterms:W3CDTF">2026-05-15T04:23:03Z</dcterms:modified>
</cp:coreProperties>
</file>