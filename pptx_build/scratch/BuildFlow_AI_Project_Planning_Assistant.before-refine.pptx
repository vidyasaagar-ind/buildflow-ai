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product vision: a planning assistant that transforms vague ideas into structured project blueprints.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problem statement in about 25 seconds using the left bullets and right visual cues.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motivation in about 25 seconds using the left bullets and right visual cues.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objectives in about 25 seconds using the left bullets and right visual cues.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existing system &amp; limitations in about 25 seconds using the left bullets and right visual cues.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the solution as a connected planning system, not a one-off chatbot.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features as a system: input, intelligence, artifacts, and persistent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with the final system architecture diagram during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timeline as the primary demo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stack by layers: client, server, storage, AI, hosting.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module to implementation responsibilities.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staged generation as the reason outputs are more consistent than a generic chat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continuity: the project remembers its planning state instead of starting from zero each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list the generated outputs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prompts as the bridge between planning and actual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BuildFlow AI is not replacing existing tools, but connecting planning artifacts with memory and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testing as a validation plan. Replace with actual results if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placeholders with real screenshots: dashboard, generated BRD/SRS, and prompt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expected/achieved benefits, depending on demo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two future enhancements to discuss if time is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impact statement and transition to demo/questions.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demo URL and QR code once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-1097280" y="-1097280"/>
            <a:ext cx="5303520" cy="5303520"/>
          </a:xfrm>
          <a:prstGeom prst="arc">
            <a:avLst/>
          </a:prstGeom>
          <a:solidFill>
            <a:srgbClr val="2563EB">
              <a:alpha val="5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7863840" y="3383280"/>
            <a:ext cx="5669280" cy="5669280"/>
          </a:xfrm>
          <a:prstGeom prst="arc">
            <a:avLst/>
          </a:prstGeom>
          <a:solidFill>
            <a:srgbClr val="06B6D4">
              <a:alpha val="3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987552"/>
            <a:ext cx="768096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06B6D4">
                <a:alpha val="4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BuildFlow AI</a:t>
            </a:r>
            <a:endParaRPr lang="en-US" sz="4800" dirty="0"/>
          </a:p>
        </p:txBody>
      </p:sp>
      <p:sp>
        <p:nvSpPr>
          <p:cNvPr id="33" name="Text 31"/>
          <p:cNvSpPr/>
          <p:nvPr/>
        </p:nvSpPr>
        <p:spPr>
          <a:xfrm>
            <a:off x="786384" y="184708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AI-Based Project Planning Assistant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786384" y="2340864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Final-Year Mini Project Review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872984" y="1078992"/>
            <a:ext cx="1115568" cy="566928"/>
          </a:xfrm>
          <a:prstGeom prst="roundRect">
            <a:avLst>
              <a:gd name="adj" fmla="val 8065"/>
            </a:avLst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18120" y="1005840"/>
            <a:ext cx="1115568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A7F3D0">
                <a:alpha val="36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818120" y="120700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9336024" y="1078992"/>
            <a:ext cx="1115568" cy="566928"/>
          </a:xfrm>
          <a:prstGeom prst="roundRect">
            <a:avLst>
              <a:gd name="adj" fmla="val 8065"/>
            </a:avLst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81160" y="1005840"/>
            <a:ext cx="1115568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A7F3D0">
                <a:alpha val="36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281160" y="120700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SRS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7872984" y="2011680"/>
            <a:ext cx="1115568" cy="566928"/>
          </a:xfrm>
          <a:prstGeom prst="roundRect">
            <a:avLst>
              <a:gd name="adj" fmla="val 8065"/>
            </a:avLst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18120" y="1938528"/>
            <a:ext cx="1115568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A7F3D0">
                <a:alpha val="36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818120" y="2139696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9336024" y="2011680"/>
            <a:ext cx="1115568" cy="566928"/>
          </a:xfrm>
          <a:prstGeom prst="roundRect">
            <a:avLst>
              <a:gd name="adj" fmla="val 8065"/>
            </a:avLst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81160" y="1938528"/>
            <a:ext cx="1115568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A7F3D0">
                <a:alpha val="36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281160" y="2139696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7872984" y="2944368"/>
            <a:ext cx="1115568" cy="566928"/>
          </a:xfrm>
          <a:prstGeom prst="roundRect">
            <a:avLst>
              <a:gd name="adj" fmla="val 8065"/>
            </a:avLst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18120" y="2871216"/>
            <a:ext cx="1115568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A7F3D0">
                <a:alpha val="36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818120" y="3072384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PROMPTS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 rot="1200000">
            <a:off x="10012680" y="4261104"/>
            <a:ext cx="804672" cy="804672"/>
          </a:xfrm>
          <a:prstGeom prst="cube">
            <a:avLst/>
          </a:prstGeom>
          <a:solidFill>
            <a:srgbClr val="2563EB">
              <a:alpha val="82000"/>
            </a:srgbClr>
          </a:solidFill>
          <a:ln w="12700">
            <a:solidFill>
              <a:srgbClr val="8DD7FF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2563EB">
                <a:alpha val="24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 rot="900000">
            <a:off x="8869680" y="5029200"/>
            <a:ext cx="475488" cy="475488"/>
          </a:xfrm>
          <a:prstGeom prst="diamond">
            <a:avLst/>
          </a:prstGeom>
          <a:solidFill>
            <a:srgbClr val="06B6D4">
              <a:alpha val="72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-600000">
            <a:off x="10881360" y="868680"/>
            <a:ext cx="676656" cy="676656"/>
          </a:xfrm>
          <a:prstGeom prst="donu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6B6D4">
                <a:alpha val="6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9536" y="4325112"/>
            <a:ext cx="5989320" cy="1316736"/>
          </a:xfrm>
          <a:prstGeom prst="roundRect">
            <a:avLst>
              <a:gd name="adj" fmla="val 3472"/>
            </a:avLst>
          </a:prstGeom>
          <a:solidFill>
            <a:srgbClr val="06B6D4">
              <a:alpha val="9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4672" y="4251960"/>
            <a:ext cx="5989320" cy="1316736"/>
          </a:xfrm>
          <a:prstGeom prst="roundRect">
            <a:avLst>
              <a:gd name="adj" fmla="val 5556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91C8FF">
                <a:alpha val="45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060704" y="44897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Members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60704" y="4818888"/>
            <a:ext cx="5376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AJAY M (23TD0003)   SHAFI AHMED F (23TD0076)   VIDYASAAGAR M (23TD0091)</a:t>
            </a:r>
            <a:endParaRPr lang="en-US" sz="890" dirty="0"/>
          </a:p>
        </p:txBody>
      </p:sp>
      <p:sp>
        <p:nvSpPr>
          <p:cNvPr id="57" name="Text 55"/>
          <p:cNvSpPr/>
          <p:nvPr/>
        </p:nvSpPr>
        <p:spPr>
          <a:xfrm>
            <a:off x="1060704" y="518464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Guide: Dr. R. G. Suresh Kumar</a:t>
            </a:r>
            <a:endParaRPr lang="en-US" sz="890" dirty="0"/>
          </a:p>
        </p:txBody>
      </p:sp>
      <p:sp>
        <p:nvSpPr>
          <p:cNvPr id="58" name="Text 56"/>
          <p:cNvSpPr/>
          <p:nvPr/>
        </p:nvSpPr>
        <p:spPr>
          <a:xfrm>
            <a:off x="786384" y="616305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Science and Engineering | Rajiv Gandhi College of Engineering and Technology</a:t>
            </a:r>
            <a:endParaRPr lang="en-US" sz="88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and small teams lose time turning ideas into execution-ready plans.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77824" y="1764792"/>
            <a:ext cx="4846320" cy="3429000"/>
          </a:xfrm>
          <a:prstGeom prst="roundRect">
            <a:avLst>
              <a:gd name="adj" fmla="val 1333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1691640"/>
            <a:ext cx="4846320" cy="3429000"/>
          </a:xfrm>
          <a:prstGeom prst="roundRect">
            <a:avLst>
              <a:gd name="adj" fmla="val 213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143000" y="220370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62456" y="213055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ideas start vague and incomplete</a:t>
            </a:r>
            <a:endParaRPr lang="en-US" sz="1340" dirty="0"/>
          </a:p>
        </p:txBody>
      </p:sp>
      <p:sp>
        <p:nvSpPr>
          <p:cNvPr id="39" name="Shape 37"/>
          <p:cNvSpPr/>
          <p:nvPr/>
        </p:nvSpPr>
        <p:spPr>
          <a:xfrm>
            <a:off x="1143000" y="267919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62456" y="260604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BRD/SRS writing is manual and inconsistent</a:t>
            </a:r>
            <a:endParaRPr lang="en-US" sz="1340" dirty="0"/>
          </a:p>
        </p:txBody>
      </p:sp>
      <p:sp>
        <p:nvSpPr>
          <p:cNvPr id="41" name="Shape 39"/>
          <p:cNvSpPr/>
          <p:nvPr/>
        </p:nvSpPr>
        <p:spPr>
          <a:xfrm>
            <a:off x="1143000" y="315468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62456" y="30815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tools do not understand project context</a:t>
            </a:r>
            <a:endParaRPr lang="en-US" sz="1340" dirty="0"/>
          </a:p>
        </p:txBody>
      </p:sp>
      <p:sp>
        <p:nvSpPr>
          <p:cNvPr id="43" name="Shape 41"/>
          <p:cNvSpPr/>
          <p:nvPr/>
        </p:nvSpPr>
        <p:spPr>
          <a:xfrm>
            <a:off x="1143000" y="363016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62456" y="355701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struggle to convert goals into tasks</a:t>
            </a:r>
            <a:endParaRPr lang="en-US" sz="1340" dirty="0"/>
          </a:p>
        </p:txBody>
      </p:sp>
      <p:sp>
        <p:nvSpPr>
          <p:cNvPr id="45" name="Shape 43"/>
          <p:cNvSpPr/>
          <p:nvPr/>
        </p:nvSpPr>
        <p:spPr>
          <a:xfrm>
            <a:off x="1143000" y="410565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62456" y="403250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outputs often vanish after one prompt</a:t>
            </a:r>
            <a:endParaRPr lang="en-US" sz="1340" dirty="0"/>
          </a:p>
        </p:txBody>
      </p:sp>
      <p:sp>
        <p:nvSpPr>
          <p:cNvPr id="47" name="Shape 45"/>
          <p:cNvSpPr/>
          <p:nvPr/>
        </p:nvSpPr>
        <p:spPr>
          <a:xfrm>
            <a:off x="6327648" y="1874520"/>
            <a:ext cx="0" cy="3108960"/>
          </a:xfrm>
          <a:prstGeom prst="line">
            <a:avLst/>
          </a:prstGeom>
          <a:noFill/>
          <a:ln w="12700">
            <a:solidFill>
              <a:srgbClr val="D7E3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03720" y="196596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55180" y="2048256"/>
            <a:ext cx="0" cy="33832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86016" y="2217420"/>
            <a:ext cx="338328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31736" y="2093976"/>
            <a:ext cx="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78624" y="2093976"/>
            <a:ext cx="-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71232" y="20939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Unclear scope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710928" y="2221992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903720" y="2935224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49567" y="3030779"/>
            <a:ext cx="211226" cy="276606"/>
          </a:xfrm>
          <a:prstGeom prst="roundRect">
            <a:avLst>
              <a:gd name="adj" fmla="val 8658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84771" y="3121304"/>
            <a:ext cx="125730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84771" y="3186684"/>
            <a:ext cx="110642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71232" y="3063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Rework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710928" y="3191256"/>
            <a:ext cx="9144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903720" y="3904488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59625" y="4060393"/>
            <a:ext cx="191110" cy="19111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81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71232" y="4032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Delayed execution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9710928" y="416052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Motivation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planning-first assistant can shorten the gap between idea and implementation.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77824" y="1764792"/>
            <a:ext cx="4846320" cy="3429000"/>
          </a:xfrm>
          <a:prstGeom prst="roundRect">
            <a:avLst>
              <a:gd name="adj" fmla="val 1333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1691640"/>
            <a:ext cx="4846320" cy="3429000"/>
          </a:xfrm>
          <a:prstGeom prst="roundRect">
            <a:avLst>
              <a:gd name="adj" fmla="val 213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143000" y="220370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62456" y="213055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Final-year projects need fast clarity</a:t>
            </a:r>
            <a:endParaRPr lang="en-US" sz="1340" dirty="0"/>
          </a:p>
        </p:txBody>
      </p:sp>
      <p:sp>
        <p:nvSpPr>
          <p:cNvPr id="39" name="Shape 37"/>
          <p:cNvSpPr/>
          <p:nvPr/>
        </p:nvSpPr>
        <p:spPr>
          <a:xfrm>
            <a:off x="1143000" y="267919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62456" y="260604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create structured planning artifacts</a:t>
            </a:r>
            <a:endParaRPr lang="en-US" sz="1340" dirty="0"/>
          </a:p>
        </p:txBody>
      </p:sp>
      <p:sp>
        <p:nvSpPr>
          <p:cNvPr id="41" name="Shape 39"/>
          <p:cNvSpPr/>
          <p:nvPr/>
        </p:nvSpPr>
        <p:spPr>
          <a:xfrm>
            <a:off x="1143000" y="315468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62456" y="30815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teams expect product-grade workflows</a:t>
            </a:r>
            <a:endParaRPr lang="en-US" sz="1340" dirty="0"/>
          </a:p>
        </p:txBody>
      </p:sp>
      <p:sp>
        <p:nvSpPr>
          <p:cNvPr id="43" name="Shape 41"/>
          <p:cNvSpPr/>
          <p:nvPr/>
        </p:nvSpPr>
        <p:spPr>
          <a:xfrm>
            <a:off x="1143000" y="363016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62456" y="355701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memory improves continuity</a:t>
            </a:r>
            <a:endParaRPr lang="en-US" sz="1340" dirty="0"/>
          </a:p>
        </p:txBody>
      </p:sp>
      <p:sp>
        <p:nvSpPr>
          <p:cNvPr id="45" name="Shape 43"/>
          <p:cNvSpPr/>
          <p:nvPr/>
        </p:nvSpPr>
        <p:spPr>
          <a:xfrm>
            <a:off x="1143000" y="410565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62456" y="403250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prompts help move into coding</a:t>
            </a:r>
            <a:endParaRPr lang="en-US" sz="1340" dirty="0"/>
          </a:p>
        </p:txBody>
      </p:sp>
      <p:sp>
        <p:nvSpPr>
          <p:cNvPr id="47" name="Shape 45"/>
          <p:cNvSpPr/>
          <p:nvPr/>
        </p:nvSpPr>
        <p:spPr>
          <a:xfrm>
            <a:off x="6327648" y="1874520"/>
            <a:ext cx="0" cy="3108960"/>
          </a:xfrm>
          <a:prstGeom prst="line">
            <a:avLst/>
          </a:prstGeom>
          <a:noFill/>
          <a:ln w="12700">
            <a:solidFill>
              <a:srgbClr val="D7E3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03720" y="196596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55180" y="2048256"/>
            <a:ext cx="0" cy="33832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86016" y="2217420"/>
            <a:ext cx="338328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31736" y="2093976"/>
            <a:ext cx="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78624" y="2093976"/>
            <a:ext cx="-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71232" y="20939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Plan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710928" y="2221992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903720" y="2935224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49567" y="3030779"/>
            <a:ext cx="211226" cy="276606"/>
          </a:xfrm>
          <a:prstGeom prst="roundRect">
            <a:avLst>
              <a:gd name="adj" fmla="val 8658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84771" y="3121304"/>
            <a:ext cx="125730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84771" y="3186684"/>
            <a:ext cx="110642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71232" y="3063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Document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710928" y="3191256"/>
            <a:ext cx="9144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903720" y="3904488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59625" y="4060393"/>
            <a:ext cx="191110" cy="19111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81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71232" y="4032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Execute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9710928" y="416052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Objectives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web assistant that creates reliable planning artifacts from a project idea.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77824" y="1764792"/>
            <a:ext cx="4846320" cy="3429000"/>
          </a:xfrm>
          <a:prstGeom prst="roundRect">
            <a:avLst>
              <a:gd name="adj" fmla="val 1333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1691640"/>
            <a:ext cx="4846320" cy="3429000"/>
          </a:xfrm>
          <a:prstGeom prst="roundRect">
            <a:avLst>
              <a:gd name="adj" fmla="val 213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143000" y="220370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62456" y="213055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project intent through guided input</a:t>
            </a:r>
            <a:endParaRPr lang="en-US" sz="1340" dirty="0"/>
          </a:p>
        </p:txBody>
      </p:sp>
      <p:sp>
        <p:nvSpPr>
          <p:cNvPr id="39" name="Shape 37"/>
          <p:cNvSpPr/>
          <p:nvPr/>
        </p:nvSpPr>
        <p:spPr>
          <a:xfrm>
            <a:off x="1143000" y="267919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62456" y="260604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BRD, SRS, roadmap, to-do list, and prompts</a:t>
            </a:r>
            <a:endParaRPr lang="en-US" sz="1340" dirty="0"/>
          </a:p>
        </p:txBody>
      </p:sp>
      <p:sp>
        <p:nvSpPr>
          <p:cNvPr id="41" name="Shape 39"/>
          <p:cNvSpPr/>
          <p:nvPr/>
        </p:nvSpPr>
        <p:spPr>
          <a:xfrm>
            <a:off x="1143000" y="315468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62456" y="30815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blueprint memory for reuse</a:t>
            </a:r>
            <a:endParaRPr lang="en-US" sz="1340" dirty="0"/>
          </a:p>
        </p:txBody>
      </p:sp>
      <p:sp>
        <p:nvSpPr>
          <p:cNvPr id="43" name="Shape 41"/>
          <p:cNvSpPr/>
          <p:nvPr/>
        </p:nvSpPr>
        <p:spPr>
          <a:xfrm>
            <a:off x="1143000" y="363016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62456" y="355701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authenticated project workspaces</a:t>
            </a:r>
            <a:endParaRPr lang="en-US" sz="1340" dirty="0"/>
          </a:p>
        </p:txBody>
      </p:sp>
      <p:sp>
        <p:nvSpPr>
          <p:cNvPr id="45" name="Shape 43"/>
          <p:cNvSpPr/>
          <p:nvPr/>
        </p:nvSpPr>
        <p:spPr>
          <a:xfrm>
            <a:off x="1143000" y="410565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62456" y="403250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a deployable SaaS-style prototype</a:t>
            </a:r>
            <a:endParaRPr lang="en-US" sz="1340" dirty="0"/>
          </a:p>
        </p:txBody>
      </p:sp>
      <p:sp>
        <p:nvSpPr>
          <p:cNvPr id="47" name="Shape 45"/>
          <p:cNvSpPr/>
          <p:nvPr/>
        </p:nvSpPr>
        <p:spPr>
          <a:xfrm>
            <a:off x="6327648" y="1874520"/>
            <a:ext cx="0" cy="3108960"/>
          </a:xfrm>
          <a:prstGeom prst="line">
            <a:avLst/>
          </a:prstGeom>
          <a:noFill/>
          <a:ln w="12700">
            <a:solidFill>
              <a:srgbClr val="D7E3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03720" y="196596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55180" y="2048256"/>
            <a:ext cx="0" cy="33832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86016" y="2217420"/>
            <a:ext cx="338328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31736" y="2093976"/>
            <a:ext cx="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78624" y="2093976"/>
            <a:ext cx="-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71232" y="20939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Structured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710928" y="2221992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903720" y="2935224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49567" y="3030779"/>
            <a:ext cx="211226" cy="276606"/>
          </a:xfrm>
          <a:prstGeom prst="roundRect">
            <a:avLst>
              <a:gd name="adj" fmla="val 8658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84771" y="3121304"/>
            <a:ext cx="125730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84771" y="3186684"/>
            <a:ext cx="110642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71232" y="3063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Authenticated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710928" y="3191256"/>
            <a:ext cx="9144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903720" y="3904488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59625" y="4060393"/>
            <a:ext cx="191110" cy="19111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81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71232" y="4032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Deployable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9710928" y="416052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Existing System &amp; Limitations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planning approaches are fragmented across documents, notes, and generic AI chats.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77824" y="1764792"/>
            <a:ext cx="4846320" cy="3429000"/>
          </a:xfrm>
          <a:prstGeom prst="roundRect">
            <a:avLst>
              <a:gd name="adj" fmla="val 1333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1691640"/>
            <a:ext cx="4846320" cy="3429000"/>
          </a:xfrm>
          <a:prstGeom prst="roundRect">
            <a:avLst>
              <a:gd name="adj" fmla="val 2133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143000" y="220370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62456" y="213055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templates take time</a:t>
            </a:r>
            <a:endParaRPr lang="en-US" sz="1340" dirty="0"/>
          </a:p>
        </p:txBody>
      </p:sp>
      <p:sp>
        <p:nvSpPr>
          <p:cNvPr id="39" name="Shape 37"/>
          <p:cNvSpPr/>
          <p:nvPr/>
        </p:nvSpPr>
        <p:spPr>
          <a:xfrm>
            <a:off x="1143000" y="267919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62456" y="260604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chatbots lack project memory</a:t>
            </a:r>
            <a:endParaRPr lang="en-US" sz="1340" dirty="0"/>
          </a:p>
        </p:txBody>
      </p:sp>
      <p:sp>
        <p:nvSpPr>
          <p:cNvPr id="41" name="Shape 39"/>
          <p:cNvSpPr/>
          <p:nvPr/>
        </p:nvSpPr>
        <p:spPr>
          <a:xfrm>
            <a:off x="1143000" y="315468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62456" y="308152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trackers do not create specifications</a:t>
            </a:r>
            <a:endParaRPr lang="en-US" sz="1340" dirty="0"/>
          </a:p>
        </p:txBody>
      </p:sp>
      <p:sp>
        <p:nvSpPr>
          <p:cNvPr id="43" name="Shape 41"/>
          <p:cNvSpPr/>
          <p:nvPr/>
        </p:nvSpPr>
        <p:spPr>
          <a:xfrm>
            <a:off x="1143000" y="363016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62456" y="355701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and implementation prompts are separated</a:t>
            </a:r>
            <a:endParaRPr lang="en-US" sz="1340" dirty="0"/>
          </a:p>
        </p:txBody>
      </p:sp>
      <p:sp>
        <p:nvSpPr>
          <p:cNvPr id="45" name="Shape 43"/>
          <p:cNvSpPr/>
          <p:nvPr/>
        </p:nvSpPr>
        <p:spPr>
          <a:xfrm>
            <a:off x="1143000" y="410565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62456" y="403250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continuity is weak</a:t>
            </a:r>
            <a:endParaRPr lang="en-US" sz="1340" dirty="0"/>
          </a:p>
        </p:txBody>
      </p:sp>
      <p:sp>
        <p:nvSpPr>
          <p:cNvPr id="47" name="Shape 45"/>
          <p:cNvSpPr/>
          <p:nvPr/>
        </p:nvSpPr>
        <p:spPr>
          <a:xfrm>
            <a:off x="6327648" y="1874520"/>
            <a:ext cx="0" cy="3108960"/>
          </a:xfrm>
          <a:prstGeom prst="line">
            <a:avLst/>
          </a:prstGeom>
          <a:noFill/>
          <a:ln w="12700">
            <a:solidFill>
              <a:srgbClr val="D7E3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03720" y="196596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55180" y="2048256"/>
            <a:ext cx="0" cy="33832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86016" y="2217420"/>
            <a:ext cx="338328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31736" y="2093976"/>
            <a:ext cx="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78624" y="2093976"/>
            <a:ext cx="-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71232" y="20939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Docs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710928" y="2221992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903720" y="2935224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49567" y="3030779"/>
            <a:ext cx="211226" cy="276606"/>
          </a:xfrm>
          <a:prstGeom prst="roundRect">
            <a:avLst>
              <a:gd name="adj" fmla="val 8658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84771" y="3121304"/>
            <a:ext cx="125730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84771" y="3186684"/>
            <a:ext cx="110642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71232" y="3063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Chat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710928" y="3191256"/>
            <a:ext cx="9144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903720" y="3904488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59625" y="4060393"/>
            <a:ext cx="191110" cy="19111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8100000">
            <a:off x="7109917" y="4155948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71232" y="4032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Tasks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9710928" y="416052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-1097280" y="-1097280"/>
            <a:ext cx="5303520" cy="5303520"/>
          </a:xfrm>
          <a:prstGeom prst="arc">
            <a:avLst/>
          </a:prstGeom>
          <a:solidFill>
            <a:srgbClr val="2563EB">
              <a:alpha val="5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7863840" y="3383280"/>
            <a:ext cx="5669280" cy="5669280"/>
          </a:xfrm>
          <a:prstGeom prst="arc">
            <a:avLst/>
          </a:prstGeom>
          <a:solidFill>
            <a:srgbClr val="06B6D4">
              <a:alpha val="3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Proposed Solution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 converts raw project ideas into reusable blueprints and implementation-ready outputs.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462272" y="2011680"/>
            <a:ext cx="3383280" cy="1353312"/>
          </a:xfrm>
          <a:prstGeom prst="roundRect">
            <a:avLst>
              <a:gd name="adj" fmla="val 3378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07408" y="1938528"/>
            <a:ext cx="3383280" cy="1353312"/>
          </a:xfrm>
          <a:prstGeom prst="roundRect">
            <a:avLst>
              <a:gd name="adj" fmla="val 54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8DD7FF">
                <a:alpha val="5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36592" y="23225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BuildFlow AI Engine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736592" y="274320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+ generation + memory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60704" y="1993392"/>
            <a:ext cx="2011680" cy="749808"/>
          </a:xfrm>
          <a:prstGeom prst="roundRect">
            <a:avLst>
              <a:gd name="adj" fmla="val 6098"/>
            </a:avLst>
          </a:prstGeom>
          <a:solidFill>
            <a:srgbClr val="2563EB">
              <a:alpha val="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5840" y="192024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170432" y="2066544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67028" y="2148840"/>
            <a:ext cx="0" cy="22860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52728" y="2263140"/>
            <a:ext cx="228600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98448" y="2194560"/>
            <a:ext cx="137160" cy="13716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35608" y="2194560"/>
            <a:ext cx="-137160" cy="13716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64208" y="216712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Input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3054096" y="2295144"/>
            <a:ext cx="1252728" cy="0"/>
          </a:xfrm>
          <a:prstGeom prst="line">
            <a:avLst/>
          </a:prstGeom>
          <a:noFill/>
          <a:ln w="20320">
            <a:solidFill>
              <a:srgbClr val="63E3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289304" y="4050792"/>
            <a:ext cx="2011680" cy="749808"/>
          </a:xfrm>
          <a:prstGeom prst="roundRect">
            <a:avLst>
              <a:gd name="adj" fmla="val 6098"/>
            </a:avLst>
          </a:prstGeom>
          <a:solidFill>
            <a:srgbClr val="2563EB">
              <a:alpha val="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34440" y="397764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399032" y="4123944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20922" y="4245834"/>
            <a:ext cx="149413" cy="149413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560241" y="4320540"/>
            <a:ext cx="70775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2700000">
            <a:off x="1560241" y="4320540"/>
            <a:ext cx="70775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5400000">
            <a:off x="1560241" y="4320540"/>
            <a:ext cx="70775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8100000">
            <a:off x="1560241" y="4320540"/>
            <a:ext cx="70775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92808" y="422452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Planning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3282696" y="4352544"/>
            <a:ext cx="1024128" cy="0"/>
          </a:xfrm>
          <a:prstGeom prst="line">
            <a:avLst/>
          </a:prstGeom>
          <a:noFill/>
          <a:ln w="20320">
            <a:solidFill>
              <a:srgbClr val="63E3FF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9107424" y="1993392"/>
            <a:ext cx="2011680" cy="749808"/>
          </a:xfrm>
          <a:prstGeom prst="roundRect">
            <a:avLst>
              <a:gd name="adj" fmla="val 6098"/>
            </a:avLst>
          </a:prstGeom>
          <a:solidFill>
            <a:srgbClr val="2563EB">
              <a:alpha val="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52560" y="192024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217152" y="2066544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311518" y="2145182"/>
            <a:ext cx="204460" cy="228051"/>
          </a:xfrm>
          <a:prstGeom prst="can">
            <a:avLst/>
          </a:prstGeom>
          <a:solidFill>
            <a:srgbClr val="FFFFFF">
              <a:alpha val="90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10928" y="216712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 Memory</a:t>
            </a:r>
            <a:endParaRPr lang="en-US" sz="920" dirty="0"/>
          </a:p>
        </p:txBody>
      </p:sp>
      <p:sp>
        <p:nvSpPr>
          <p:cNvPr id="64" name="Shape 62"/>
          <p:cNvSpPr/>
          <p:nvPr/>
        </p:nvSpPr>
        <p:spPr>
          <a:xfrm>
            <a:off x="7790688" y="2295144"/>
            <a:ext cx="1207008" cy="0"/>
          </a:xfrm>
          <a:prstGeom prst="line">
            <a:avLst/>
          </a:prstGeom>
          <a:noFill/>
          <a:ln w="20320">
            <a:solidFill>
              <a:srgbClr val="63E3FF">
                <a:alpha val="90000"/>
              </a:srgbClr>
            </a:solidFill>
            <a:prstDash val="solid"/>
            <a:headEnd type="triangl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8878824" y="4050792"/>
            <a:ext cx="2011680" cy="749808"/>
          </a:xfrm>
          <a:prstGeom prst="roundRect">
            <a:avLst>
              <a:gd name="adj" fmla="val 6098"/>
            </a:avLst>
          </a:prstGeom>
          <a:solidFill>
            <a:srgbClr val="2563EB">
              <a:alpha val="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23960" y="397764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8988552" y="4123944"/>
            <a:ext cx="393192" cy="3931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02578" y="4198650"/>
            <a:ext cx="165141" cy="216256"/>
          </a:xfrm>
          <a:prstGeom prst="roundRect">
            <a:avLst>
              <a:gd name="adj" fmla="val 11074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130101" y="4269425"/>
            <a:ext cx="98298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30101" y="4320540"/>
            <a:ext cx="86502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482328" y="422452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</a:t>
            </a:r>
            <a:endParaRPr lang="en-US" sz="920" dirty="0"/>
          </a:p>
        </p:txBody>
      </p:sp>
      <p:sp>
        <p:nvSpPr>
          <p:cNvPr id="72" name="Shape 70"/>
          <p:cNvSpPr/>
          <p:nvPr/>
        </p:nvSpPr>
        <p:spPr>
          <a:xfrm>
            <a:off x="7790688" y="4352544"/>
            <a:ext cx="978408" cy="0"/>
          </a:xfrm>
          <a:prstGeom prst="line">
            <a:avLst/>
          </a:prstGeom>
          <a:noFill/>
          <a:ln w="20320">
            <a:solidFill>
              <a:srgbClr val="63E3FF">
                <a:alpha val="90000"/>
              </a:srgbClr>
            </a:solidFill>
            <a:prstDash val="solid"/>
            <a:headEnd type="triangle"/>
            <a:tailEnd type="none"/>
          </a:ln>
        </p:spPr>
      </p:sp>
      <p:sp>
        <p:nvSpPr>
          <p:cNvPr id="73" name="Text 71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Key Features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feature set for planning, memory, generation, and deployment.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77824" y="1828800"/>
            <a:ext cx="3063240" cy="1234440"/>
          </a:xfrm>
          <a:prstGeom prst="roundRect">
            <a:avLst>
              <a:gd name="adj" fmla="val 3704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1755648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51560" y="201168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03020" y="2093976"/>
            <a:ext cx="0" cy="33832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33856" y="2263140"/>
            <a:ext cx="338328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79576" y="2139696"/>
            <a:ext cx="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2139696"/>
            <a:ext cx="-246888" cy="246888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91640" y="20116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AI Blueprint</a:t>
            </a:r>
            <a:endParaRPr lang="en-US" sz="1340" dirty="0"/>
          </a:p>
        </p:txBody>
      </p:sp>
      <p:sp>
        <p:nvSpPr>
          <p:cNvPr id="43" name="Text 41"/>
          <p:cNvSpPr/>
          <p:nvPr/>
        </p:nvSpPr>
        <p:spPr>
          <a:xfrm>
            <a:off x="1691640" y="2395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idea details into structured project context</a:t>
            </a:r>
            <a:endParaRPr lang="en-US" sz="890" dirty="0"/>
          </a:p>
        </p:txBody>
      </p:sp>
      <p:sp>
        <p:nvSpPr>
          <p:cNvPr id="44" name="Shape 42"/>
          <p:cNvSpPr/>
          <p:nvPr/>
        </p:nvSpPr>
        <p:spPr>
          <a:xfrm>
            <a:off x="4581144" y="1828800"/>
            <a:ext cx="3063240" cy="1234440"/>
          </a:xfrm>
          <a:prstGeom prst="roundRect">
            <a:avLst>
              <a:gd name="adj" fmla="val 3704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26280" y="1755648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201168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00727" y="2107235"/>
            <a:ext cx="211226" cy="276606"/>
          </a:xfrm>
          <a:prstGeom prst="roundRect">
            <a:avLst>
              <a:gd name="adj" fmla="val 8658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35931" y="2197760"/>
            <a:ext cx="125730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35931" y="2263140"/>
            <a:ext cx="110642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94960" y="20116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BRD and SRS</a:t>
            </a:r>
            <a:endParaRPr lang="en-US" sz="1340" dirty="0"/>
          </a:p>
        </p:txBody>
      </p:sp>
      <p:sp>
        <p:nvSpPr>
          <p:cNvPr id="51" name="Text 49"/>
          <p:cNvSpPr/>
          <p:nvPr/>
        </p:nvSpPr>
        <p:spPr>
          <a:xfrm>
            <a:off x="5394960" y="2395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Generates academic-ready planning documents</a:t>
            </a:r>
            <a:endParaRPr lang="en-US" sz="890" dirty="0"/>
          </a:p>
        </p:txBody>
      </p:sp>
      <p:sp>
        <p:nvSpPr>
          <p:cNvPr id="52" name="Shape 50"/>
          <p:cNvSpPr/>
          <p:nvPr/>
        </p:nvSpPr>
        <p:spPr>
          <a:xfrm>
            <a:off x="8284464" y="1828800"/>
            <a:ext cx="3063240" cy="1234440"/>
          </a:xfrm>
          <a:prstGeom prst="roundRect">
            <a:avLst>
              <a:gd name="adj" fmla="val 3704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29600" y="1755648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458200" y="201168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14105" y="2167585"/>
            <a:ext cx="191110" cy="19111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64397" y="2263140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2700000">
            <a:off x="8664397" y="2263140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5400000">
            <a:off x="8664397" y="2263140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8100000">
            <a:off x="8664397" y="2263140"/>
            <a:ext cx="9052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98280" y="20116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Roadmap</a:t>
            </a:r>
            <a:endParaRPr lang="en-US" sz="1340" dirty="0"/>
          </a:p>
        </p:txBody>
      </p:sp>
      <p:sp>
        <p:nvSpPr>
          <p:cNvPr id="61" name="Text 59"/>
          <p:cNvSpPr/>
          <p:nvPr/>
        </p:nvSpPr>
        <p:spPr>
          <a:xfrm>
            <a:off x="9098280" y="2395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phases, milestones, and implementation order</a:t>
            </a:r>
            <a:endParaRPr lang="en-US" sz="890" dirty="0"/>
          </a:p>
        </p:txBody>
      </p:sp>
      <p:sp>
        <p:nvSpPr>
          <p:cNvPr id="62" name="Shape 60"/>
          <p:cNvSpPr/>
          <p:nvPr/>
        </p:nvSpPr>
        <p:spPr>
          <a:xfrm>
            <a:off x="877824" y="3657600"/>
            <a:ext cx="3063240" cy="1234440"/>
          </a:xfrm>
          <a:prstGeom prst="roundRect">
            <a:avLst>
              <a:gd name="adj" fmla="val 3704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2960" y="3584448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051560" y="384048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51560" y="4006444"/>
            <a:ext cx="502920" cy="110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691640" y="38404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To-Do List</a:t>
            </a:r>
            <a:endParaRPr lang="en-US" sz="1340" dirty="0"/>
          </a:p>
        </p:txBody>
      </p:sp>
      <p:sp>
        <p:nvSpPr>
          <p:cNvPr id="67" name="Text 65"/>
          <p:cNvSpPr/>
          <p:nvPr/>
        </p:nvSpPr>
        <p:spPr>
          <a:xfrm>
            <a:off x="1691640" y="4224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Breaks work into actionable tasks</a:t>
            </a:r>
            <a:endParaRPr lang="en-US" sz="890" dirty="0"/>
          </a:p>
        </p:txBody>
      </p:sp>
      <p:sp>
        <p:nvSpPr>
          <p:cNvPr id="68" name="Shape 66"/>
          <p:cNvSpPr/>
          <p:nvPr/>
        </p:nvSpPr>
        <p:spPr>
          <a:xfrm>
            <a:off x="4581144" y="3657600"/>
            <a:ext cx="3063240" cy="1234440"/>
          </a:xfrm>
          <a:prstGeom prst="roundRect">
            <a:avLst>
              <a:gd name="adj" fmla="val 3704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26280" y="3584448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754880" y="384048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54880" y="4006444"/>
            <a:ext cx="502920" cy="110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394960" y="38404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Prompts</a:t>
            </a:r>
            <a:endParaRPr lang="en-US" sz="1340" dirty="0"/>
          </a:p>
        </p:txBody>
      </p:sp>
      <p:sp>
        <p:nvSpPr>
          <p:cNvPr id="73" name="Text 71"/>
          <p:cNvSpPr/>
          <p:nvPr/>
        </p:nvSpPr>
        <p:spPr>
          <a:xfrm>
            <a:off x="5394960" y="4224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Produces implementation prompts for coding support</a:t>
            </a:r>
            <a:endParaRPr lang="en-US" sz="890" dirty="0"/>
          </a:p>
        </p:txBody>
      </p:sp>
      <p:sp>
        <p:nvSpPr>
          <p:cNvPr id="74" name="Shape 72"/>
          <p:cNvSpPr/>
          <p:nvPr/>
        </p:nvSpPr>
        <p:spPr>
          <a:xfrm>
            <a:off x="8284464" y="3657600"/>
            <a:ext cx="3063240" cy="1234440"/>
          </a:xfrm>
          <a:prstGeom prst="roundRect">
            <a:avLst>
              <a:gd name="adj" fmla="val 3704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3584448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8458200" y="3840480"/>
            <a:ext cx="502920" cy="50292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78901" y="3941064"/>
            <a:ext cx="261518" cy="291694"/>
          </a:xfrm>
          <a:prstGeom prst="can">
            <a:avLst/>
          </a:prstGeom>
          <a:solidFill>
            <a:srgbClr val="FFFFFF">
              <a:alpha val="90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098280" y="38404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Project Memory</a:t>
            </a:r>
            <a:endParaRPr lang="en-US" sz="1340" dirty="0"/>
          </a:p>
        </p:txBody>
      </p:sp>
      <p:sp>
        <p:nvSpPr>
          <p:cNvPr id="79" name="Text 77"/>
          <p:cNvSpPr/>
          <p:nvPr/>
        </p:nvSpPr>
        <p:spPr>
          <a:xfrm>
            <a:off x="9098280" y="4224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and reuses blueprint context</a:t>
            </a:r>
            <a:endParaRPr lang="en-US" sz="890" dirty="0"/>
          </a:p>
        </p:txBody>
      </p:sp>
      <p:sp>
        <p:nvSpPr>
          <p:cNvPr id="80" name="Text 78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System Architecture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Frontend, backend, AI gateway, and Firebase services form a modular SaaS architecture.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743200" y="1664208"/>
            <a:ext cx="6629400" cy="4160520"/>
          </a:xfrm>
          <a:prstGeom prst="roundRect">
            <a:avLst>
              <a:gd name="adj" fmla="val 1758"/>
            </a:avLst>
          </a:prstGeom>
          <a:solidFill>
            <a:srgbClr val="F8FBFF">
              <a:alpha val="95000"/>
            </a:srgbClr>
          </a:solidFill>
          <a:ln w="15240">
            <a:solidFill>
              <a:srgbClr val="7FB3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07792" y="1828800"/>
            <a:ext cx="6300216" cy="3831336"/>
          </a:xfrm>
          <a:prstGeom prst="line">
            <a:avLst/>
          </a:prstGeom>
          <a:noFill/>
          <a:ln w="10160">
            <a:solidFill>
              <a:srgbClr val="A9C8F8">
                <a:alpha val="8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08008" y="1828800"/>
            <a:ext cx="-6300216" cy="3831336"/>
          </a:xfrm>
          <a:prstGeom prst="line">
            <a:avLst/>
          </a:prstGeom>
          <a:noFill/>
          <a:ln w="10160">
            <a:solidFill>
              <a:srgbClr val="A9C8F8">
                <a:alpha val="8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99232" y="3534156"/>
            <a:ext cx="6117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SYSTEM ARCHITECTURE DIAGRAM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999232" y="3854196"/>
            <a:ext cx="6117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final architecture diagram here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4672" y="1993392"/>
            <a:ext cx="1600200" cy="804672"/>
          </a:xfrm>
          <a:prstGeom prst="roundRect">
            <a:avLst>
              <a:gd name="adj" fmla="val 5682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" y="1920240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32688" y="2112264"/>
            <a:ext cx="329184" cy="329184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2688" y="2220895"/>
            <a:ext cx="329184" cy="7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371600" y="2066544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Vite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1371600" y="2304288"/>
            <a:ext cx="7863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Tailwind UI</a:t>
            </a:r>
            <a:endParaRPr lang="en-US" sz="660" dirty="0"/>
          </a:p>
        </p:txBody>
      </p:sp>
      <p:sp>
        <p:nvSpPr>
          <p:cNvPr id="46" name="Shape 44"/>
          <p:cNvSpPr/>
          <p:nvPr/>
        </p:nvSpPr>
        <p:spPr>
          <a:xfrm>
            <a:off x="804672" y="3456432"/>
            <a:ext cx="1600200" cy="804672"/>
          </a:xfrm>
          <a:prstGeom prst="roundRect">
            <a:avLst>
              <a:gd name="adj" fmla="val 5682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808" y="3383280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32688" y="3575304"/>
            <a:ext cx="329184" cy="329184"/>
          </a:xfrm>
          <a:prstGeom prst="ellipse">
            <a:avLst/>
          </a:prstGeom>
          <a:solidFill>
            <a:srgbClr val="EEF6FF"/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5400000">
            <a:off x="1018276" y="3641141"/>
            <a:ext cx="158008" cy="171176"/>
          </a:xfrm>
          <a:prstGeom prst="homePlate">
            <a:avLst/>
          </a:prstGeom>
          <a:solidFill>
            <a:srgbClr val="FFFFFF">
              <a:alpha val="0"/>
            </a:srgbClr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71600" y="3529584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Auth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1371600" y="3767328"/>
            <a:ext cx="7863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sign-in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9884664" y="1673352"/>
            <a:ext cx="1600200" cy="768096"/>
          </a:xfrm>
          <a:prstGeom prst="roundRect">
            <a:avLst>
              <a:gd name="adj" fmla="val 5952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829800" y="1600200"/>
            <a:ext cx="16002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0012680" y="1792224"/>
            <a:ext cx="310896" cy="310896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09058" y="1888602"/>
            <a:ext cx="118140" cy="11814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140147" y="1947672"/>
            <a:ext cx="55961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2700000">
            <a:off x="10140147" y="1947672"/>
            <a:ext cx="55961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5400000">
            <a:off x="10140147" y="1947672"/>
            <a:ext cx="55961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8100000">
            <a:off x="10140147" y="1947672"/>
            <a:ext cx="55961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424160" y="1746504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API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0424160" y="1965960"/>
            <a:ext cx="768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 orchestration</a:t>
            </a:r>
            <a:endParaRPr lang="en-US" sz="640" dirty="0"/>
          </a:p>
        </p:txBody>
      </p:sp>
      <p:sp>
        <p:nvSpPr>
          <p:cNvPr id="62" name="Shape 60"/>
          <p:cNvSpPr/>
          <p:nvPr/>
        </p:nvSpPr>
        <p:spPr>
          <a:xfrm>
            <a:off x="9884664" y="2916936"/>
            <a:ext cx="1600200" cy="768096"/>
          </a:xfrm>
          <a:prstGeom prst="roundRect">
            <a:avLst>
              <a:gd name="adj" fmla="val 5952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29800" y="2843784"/>
            <a:ext cx="16002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0012680" y="3035808"/>
            <a:ext cx="310896" cy="310896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087295" y="3097987"/>
            <a:ext cx="161666" cy="180320"/>
          </a:xfrm>
          <a:prstGeom prst="can">
            <a:avLst/>
          </a:prstGeom>
          <a:solidFill>
            <a:srgbClr val="FFFFFF">
              <a:alpha val="9000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424160" y="299008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Firestore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0424160" y="3209544"/>
            <a:ext cx="768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 memory</a:t>
            </a:r>
            <a:endParaRPr lang="en-US" sz="640" dirty="0"/>
          </a:p>
        </p:txBody>
      </p:sp>
      <p:sp>
        <p:nvSpPr>
          <p:cNvPr id="68" name="Shape 66"/>
          <p:cNvSpPr/>
          <p:nvPr/>
        </p:nvSpPr>
        <p:spPr>
          <a:xfrm>
            <a:off x="9884664" y="4160520"/>
            <a:ext cx="1600200" cy="768096"/>
          </a:xfrm>
          <a:prstGeom prst="roundRect">
            <a:avLst>
              <a:gd name="adj" fmla="val 5952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829800" y="4087368"/>
            <a:ext cx="16002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0012680" y="4279392"/>
            <a:ext cx="310896" cy="310896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74859" y="4366443"/>
            <a:ext cx="186538" cy="130576"/>
          </a:xfrm>
          <a:prstGeom prst="cloud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424160" y="42336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OpenRouter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10424160" y="4453128"/>
            <a:ext cx="768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responses</a:t>
            </a:r>
            <a:endParaRPr lang="en-US" sz="640" dirty="0"/>
          </a:p>
        </p:txBody>
      </p:sp>
      <p:sp>
        <p:nvSpPr>
          <p:cNvPr id="74" name="Text 72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-1097280" y="-1097280"/>
            <a:ext cx="5303520" cy="5303520"/>
          </a:xfrm>
          <a:prstGeom prst="arc">
            <a:avLst/>
          </a:prstGeom>
          <a:solidFill>
            <a:srgbClr val="2563EB">
              <a:alpha val="5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7863840" y="3383280"/>
            <a:ext cx="5669280" cy="5669280"/>
          </a:xfrm>
          <a:prstGeom prst="arc">
            <a:avLst/>
          </a:prstGeom>
          <a:solidFill>
            <a:srgbClr val="06B6D4">
              <a:alpha val="3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Workflow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motion-inspired timeline from raw idea to review-ready planning output.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14400" y="3337560"/>
            <a:ext cx="10287000" cy="0"/>
          </a:xfrm>
          <a:prstGeom prst="line">
            <a:avLst/>
          </a:prstGeom>
          <a:noFill/>
          <a:ln w="38100">
            <a:solidFill>
              <a:srgbClr val="3B82F6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59536" y="297180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D7F8FF">
                <a:alpha val="8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2563EB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59536" y="320954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Enter idea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29184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goal, domain, features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3072384" y="2971800"/>
            <a:ext cx="731520" cy="7315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D7F8FF">
                <a:alpha val="8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6B6D4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072384" y="320954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70048" y="3959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Refine context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542032" y="4270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builds blueprint memory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5285232" y="297180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D7F8FF">
                <a:alpha val="8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2563EB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285232" y="320954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82896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Generate docs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754880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BRD, SRS, roadmap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7498080" y="2971800"/>
            <a:ext cx="731520" cy="7315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D7F8FF">
                <a:alpha val="8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6B6D4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498080" y="320954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095744" y="3959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Plan tasks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967728" y="4270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To-do list with order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9710928" y="297180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D7F8FF">
                <a:alpha val="8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2563EB">
                <a:alpha val="2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9710928" y="320954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9308592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Implement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9180576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Prompts and deployment flow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4709160" y="5522976"/>
            <a:ext cx="2697480" cy="292608"/>
          </a:xfrm>
          <a:prstGeom prst="roundRect">
            <a:avLst>
              <a:gd name="adj" fmla="val 37500"/>
            </a:avLst>
          </a:prstGeom>
          <a:solidFill>
            <a:srgbClr val="0B2448"/>
          </a:solidFill>
          <a:ln w="12700">
            <a:solidFill>
              <a:srgbClr val="0B2448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9160" y="5591556"/>
            <a:ext cx="2697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A7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HORIZONTAL TIMELINE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Technology Stack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modern full-stack implementation optimized for speed, security, and deployment.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77824" y="181051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173736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481328" y="188366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81328" y="2028505"/>
            <a:ext cx="438912" cy="9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69264" y="239572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React.js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969264" y="261518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3145536" y="181051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90672" y="173736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749040" y="188366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49040" y="2028505"/>
            <a:ext cx="438912" cy="9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236976" y="239572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Vite</a:t>
            </a:r>
            <a:endParaRPr lang="en-US" sz="940" dirty="0"/>
          </a:p>
        </p:txBody>
      </p:sp>
      <p:sp>
        <p:nvSpPr>
          <p:cNvPr id="46" name="Text 44"/>
          <p:cNvSpPr/>
          <p:nvPr/>
        </p:nvSpPr>
        <p:spPr>
          <a:xfrm>
            <a:off x="3236976" y="261518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tool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5413248" y="181051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58384" y="173736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016752" y="188366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16752" y="2028505"/>
            <a:ext cx="438912" cy="9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504688" y="239572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Tailwind CSS</a:t>
            </a:r>
            <a:endParaRPr lang="en-US" sz="940" dirty="0"/>
          </a:p>
        </p:txBody>
      </p:sp>
      <p:sp>
        <p:nvSpPr>
          <p:cNvPr id="52" name="Text 50"/>
          <p:cNvSpPr/>
          <p:nvPr/>
        </p:nvSpPr>
        <p:spPr>
          <a:xfrm>
            <a:off x="5504688" y="261518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styling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7680960" y="181051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26096" y="173736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284464" y="188366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84464" y="2028505"/>
            <a:ext cx="438912" cy="9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772400" y="239572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Node.js</a:t>
            </a:r>
            <a:endParaRPr lang="en-US" sz="940" dirty="0"/>
          </a:p>
        </p:txBody>
      </p:sp>
      <p:sp>
        <p:nvSpPr>
          <p:cNvPr id="58" name="Text 56"/>
          <p:cNvSpPr/>
          <p:nvPr/>
        </p:nvSpPr>
        <p:spPr>
          <a:xfrm>
            <a:off x="7772400" y="261518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9948672" y="181051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893808" y="173736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0552176" y="188366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552176" y="2028505"/>
            <a:ext cx="438912" cy="9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0040112" y="239572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Express.js</a:t>
            </a:r>
            <a:endParaRPr lang="en-US" sz="940" dirty="0"/>
          </a:p>
        </p:txBody>
      </p:sp>
      <p:sp>
        <p:nvSpPr>
          <p:cNvPr id="64" name="Text 62"/>
          <p:cNvSpPr/>
          <p:nvPr/>
        </p:nvSpPr>
        <p:spPr>
          <a:xfrm>
            <a:off x="10040112" y="261518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layer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877824" y="345643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2960" y="33832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1481328" y="352958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5400000">
            <a:off x="1595445" y="3617366"/>
            <a:ext cx="210678" cy="228234"/>
          </a:xfrm>
          <a:prstGeom prst="homePlat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69264" y="404164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Firebase Auth</a:t>
            </a:r>
            <a:endParaRPr lang="en-US" sz="940" dirty="0"/>
          </a:p>
        </p:txBody>
      </p:sp>
      <p:sp>
        <p:nvSpPr>
          <p:cNvPr id="70" name="Text 68"/>
          <p:cNvSpPr/>
          <p:nvPr/>
        </p:nvSpPr>
        <p:spPr>
          <a:xfrm>
            <a:off x="969264" y="426110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</a:t>
            </a:r>
            <a:endParaRPr lang="en-US" sz="680" dirty="0"/>
          </a:p>
        </p:txBody>
      </p:sp>
      <p:sp>
        <p:nvSpPr>
          <p:cNvPr id="71" name="Shape 69"/>
          <p:cNvSpPr/>
          <p:nvPr/>
        </p:nvSpPr>
        <p:spPr>
          <a:xfrm>
            <a:off x="3145536" y="345643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90672" y="33832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749040" y="352958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854379" y="3617366"/>
            <a:ext cx="228234" cy="254569"/>
          </a:xfrm>
          <a:prstGeom prst="can">
            <a:avLst/>
          </a:prstGeom>
          <a:solidFill>
            <a:srgbClr val="FFFFFF">
              <a:alpha val="90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36976" y="404164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Firestore</a:t>
            </a:r>
            <a:endParaRPr lang="en-US" sz="940" dirty="0"/>
          </a:p>
        </p:txBody>
      </p:sp>
      <p:sp>
        <p:nvSpPr>
          <p:cNvPr id="76" name="Text 74"/>
          <p:cNvSpPr/>
          <p:nvPr/>
        </p:nvSpPr>
        <p:spPr>
          <a:xfrm>
            <a:off x="3236976" y="426110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5413248" y="345643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358384" y="33832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016752" y="352958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236208" y="3611880"/>
            <a:ext cx="0" cy="27432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99048" y="3749040"/>
            <a:ext cx="274320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44768" y="3657600"/>
            <a:ext cx="182880" cy="18288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27648" y="3657600"/>
            <a:ext cx="-182880" cy="18288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504688" y="404164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OpenRouter</a:t>
            </a:r>
            <a:endParaRPr lang="en-US" sz="940" dirty="0"/>
          </a:p>
        </p:txBody>
      </p:sp>
      <p:sp>
        <p:nvSpPr>
          <p:cNvPr id="85" name="Text 83"/>
          <p:cNvSpPr/>
          <p:nvPr/>
        </p:nvSpPr>
        <p:spPr>
          <a:xfrm>
            <a:off x="5504688" y="426110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gateway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7680960" y="345643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626096" y="33832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8284464" y="352958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372246" y="3652479"/>
            <a:ext cx="263347" cy="184343"/>
          </a:xfrm>
          <a:prstGeom prst="cloud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772400" y="404164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Vercel</a:t>
            </a:r>
            <a:endParaRPr lang="en-US" sz="940" dirty="0"/>
          </a:p>
        </p:txBody>
      </p:sp>
      <p:sp>
        <p:nvSpPr>
          <p:cNvPr id="91" name="Text 89"/>
          <p:cNvSpPr/>
          <p:nvPr/>
        </p:nvSpPr>
        <p:spPr>
          <a:xfrm>
            <a:off x="7772400" y="426110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deploy</a:t>
            </a:r>
            <a:endParaRPr lang="en-US" sz="680" dirty="0"/>
          </a:p>
        </p:txBody>
      </p:sp>
      <p:sp>
        <p:nvSpPr>
          <p:cNvPr id="92" name="Shape 90"/>
          <p:cNvSpPr/>
          <p:nvPr/>
        </p:nvSpPr>
        <p:spPr>
          <a:xfrm>
            <a:off x="9948672" y="3456432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893808" y="33832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10552176" y="3529584"/>
            <a:ext cx="438912" cy="43891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639958" y="3652479"/>
            <a:ext cx="263347" cy="184343"/>
          </a:xfrm>
          <a:prstGeom prst="cloud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040112" y="404164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Render</a:t>
            </a:r>
            <a:endParaRPr lang="en-US" sz="940" dirty="0"/>
          </a:p>
        </p:txBody>
      </p:sp>
      <p:sp>
        <p:nvSpPr>
          <p:cNvPr id="97" name="Text 95"/>
          <p:cNvSpPr/>
          <p:nvPr/>
        </p:nvSpPr>
        <p:spPr>
          <a:xfrm>
            <a:off x="10040112" y="4261104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deploy</a:t>
            </a:r>
            <a:endParaRPr lang="en-US" sz="680" dirty="0"/>
          </a:p>
        </p:txBody>
      </p:sp>
      <p:sp>
        <p:nvSpPr>
          <p:cNvPr id="98" name="Text 96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80" dirty="0"/>
          </a:p>
        </p:txBody>
      </p:sp>
      <p:sp>
        <p:nvSpPr>
          <p:cNvPr id="99" name="Shape 97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Modules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divided into focused modules for maintainability.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1024128" y="1572768"/>
            <a:ext cx="384048" cy="384048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5400000">
            <a:off x="1123980" y="1649578"/>
            <a:ext cx="184343" cy="199705"/>
          </a:xfrm>
          <a:prstGeom prst="homePlat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00200" y="16093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Authentication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3703320" y="1618488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sign-in and protected access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600200" y="2011680"/>
            <a:ext cx="8961120" cy="0"/>
          </a:xfrm>
          <a:prstGeom prst="line">
            <a:avLst/>
          </a:prstGeom>
          <a:noFill/>
          <a:ln w="8890">
            <a:solidFill>
              <a:srgbClr val="D8E2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4128" y="2441448"/>
            <a:ext cx="384048" cy="384048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4128" y="2568184"/>
            <a:ext cx="384048" cy="84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600200" y="24780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Project Input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3703320" y="2487168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Collects goals, domain, features, constraints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600200" y="2880360"/>
            <a:ext cx="8961120" cy="0"/>
          </a:xfrm>
          <a:prstGeom prst="line">
            <a:avLst/>
          </a:prstGeom>
          <a:noFill/>
          <a:ln w="8890">
            <a:solidFill>
              <a:srgbClr val="D8E2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24128" y="3310128"/>
            <a:ext cx="384048" cy="384048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16152" y="3392424"/>
            <a:ext cx="0" cy="219456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06424" y="3502152"/>
            <a:ext cx="21945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52144" y="3438144"/>
            <a:ext cx="128016" cy="128016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80160" y="3438144"/>
            <a:ext cx="-128016" cy="128016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00200" y="33467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AI Generation</a:t>
            </a:r>
            <a:endParaRPr lang="en-US" sz="1220" dirty="0"/>
          </a:p>
        </p:txBody>
      </p:sp>
      <p:sp>
        <p:nvSpPr>
          <p:cNvPr id="51" name="Text 49"/>
          <p:cNvSpPr/>
          <p:nvPr/>
        </p:nvSpPr>
        <p:spPr>
          <a:xfrm>
            <a:off x="3703320" y="3355848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Orchestrates model prompts and responses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600200" y="3749040"/>
            <a:ext cx="8961120" cy="0"/>
          </a:xfrm>
          <a:prstGeom prst="line">
            <a:avLst/>
          </a:prstGeom>
          <a:noFill/>
          <a:ln w="8890">
            <a:solidFill>
              <a:srgbClr val="D8E2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24128" y="4178808"/>
            <a:ext cx="384048" cy="384048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35502" y="4251777"/>
            <a:ext cx="161300" cy="211226"/>
          </a:xfrm>
          <a:prstGeom prst="roundRect">
            <a:avLst>
              <a:gd name="adj" fmla="val 11338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2385" y="4320906"/>
            <a:ext cx="96012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62385" y="4370832"/>
            <a:ext cx="84491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00200" y="42153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Document Output</a:t>
            </a:r>
            <a:endParaRPr lang="en-US" sz="1220" dirty="0"/>
          </a:p>
        </p:txBody>
      </p:sp>
      <p:sp>
        <p:nvSpPr>
          <p:cNvPr id="58" name="Text 56"/>
          <p:cNvSpPr/>
          <p:nvPr/>
        </p:nvSpPr>
        <p:spPr>
          <a:xfrm>
            <a:off x="3703320" y="4224528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Formats BRD, SRS, roadmap, tasks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600200" y="4617720"/>
            <a:ext cx="8961120" cy="0"/>
          </a:xfrm>
          <a:prstGeom prst="line">
            <a:avLst/>
          </a:prstGeom>
          <a:noFill/>
          <a:ln w="8890">
            <a:solidFill>
              <a:srgbClr val="D8E2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24128" y="5047488"/>
            <a:ext cx="384048" cy="384048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16300" y="5124298"/>
            <a:ext cx="199705" cy="222748"/>
          </a:xfrm>
          <a:prstGeom prst="can">
            <a:avLst/>
          </a:prstGeom>
          <a:solidFill>
            <a:srgbClr val="FFFFFF">
              <a:alpha val="9000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600200" y="508406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Blueprint Memory</a:t>
            </a:r>
            <a:endParaRPr lang="en-US" sz="1220" dirty="0"/>
          </a:p>
        </p:txBody>
      </p:sp>
      <p:sp>
        <p:nvSpPr>
          <p:cNvPr id="63" name="Text 61"/>
          <p:cNvSpPr/>
          <p:nvPr/>
        </p:nvSpPr>
        <p:spPr>
          <a:xfrm>
            <a:off x="3703320" y="5093208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project context in Firestore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600200" y="5486400"/>
            <a:ext cx="8961120" cy="0"/>
          </a:xfrm>
          <a:prstGeom prst="line">
            <a:avLst/>
          </a:prstGeom>
          <a:noFill/>
          <a:ln w="8890">
            <a:solidFill>
              <a:srgbClr val="D8E2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701784" y="1810512"/>
            <a:ext cx="1737360" cy="3547872"/>
          </a:xfrm>
          <a:prstGeom prst="roundRect">
            <a:avLst>
              <a:gd name="adj" fmla="val 2632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46920" y="1737360"/>
            <a:ext cx="1737360" cy="3547872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9948672" y="2139696"/>
            <a:ext cx="11155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Modular design keeps review, testing, and future upgrades simple.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-1097280" y="-1097280"/>
            <a:ext cx="5303520" cy="5303520"/>
          </a:xfrm>
          <a:prstGeom prst="arc">
            <a:avLst/>
          </a:prstGeom>
          <a:solidFill>
            <a:srgbClr val="2563EB">
              <a:alpha val="5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7863840" y="3383280"/>
            <a:ext cx="5669280" cy="5669280"/>
          </a:xfrm>
          <a:prstGeom prst="arc">
            <a:avLst/>
          </a:prstGeom>
          <a:solidFill>
            <a:srgbClr val="06B6D4">
              <a:alpha val="3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AI Planning Stages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assistant moves from understanding to artifacts through staged reasoning.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896112" y="2130552"/>
            <a:ext cx="1755648" cy="2057400"/>
          </a:xfrm>
          <a:prstGeom prst="roundRect">
            <a:avLst>
              <a:gd name="adj" fmla="val 2604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" y="2057400"/>
            <a:ext cx="1755648" cy="2057400"/>
          </a:xfrm>
          <a:prstGeom prst="roundRect">
            <a:avLst>
              <a:gd name="adj" fmla="val 41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24128" y="23042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060704" y="283464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Understand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060704" y="3246120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 idea, scope, stakeholders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3163824" y="2514600"/>
            <a:ext cx="1755648" cy="2057400"/>
          </a:xfrm>
          <a:prstGeom prst="roundRect">
            <a:avLst>
              <a:gd name="adj" fmla="val 2604"/>
            </a:avLst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08960" y="2441448"/>
            <a:ext cx="1755648" cy="2057400"/>
          </a:xfrm>
          <a:prstGeom prst="roundRect">
            <a:avLst>
              <a:gd name="adj" fmla="val 41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291840" y="26883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328416" y="321868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Structure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3328416" y="3630168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modules and deliverables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5431536" y="2130552"/>
            <a:ext cx="1755648" cy="2057400"/>
          </a:xfrm>
          <a:prstGeom prst="roundRect">
            <a:avLst>
              <a:gd name="adj" fmla="val 2604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76672" y="2057400"/>
            <a:ext cx="1755648" cy="2057400"/>
          </a:xfrm>
          <a:prstGeom prst="roundRect">
            <a:avLst>
              <a:gd name="adj" fmla="val 41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559552" y="23042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5596128" y="283464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Plan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596128" y="3246120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Roadmap, tasks, milestones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7699248" y="2514600"/>
            <a:ext cx="1755648" cy="2057400"/>
          </a:xfrm>
          <a:prstGeom prst="roundRect">
            <a:avLst>
              <a:gd name="adj" fmla="val 2604"/>
            </a:avLst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44384" y="2441448"/>
            <a:ext cx="1755648" cy="2057400"/>
          </a:xfrm>
          <a:prstGeom prst="roundRect">
            <a:avLst>
              <a:gd name="adj" fmla="val 41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827264" y="26883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7863840" y="321868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Generate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7863840" y="3630168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BRD, SRS, prompts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9966960" y="2130552"/>
            <a:ext cx="1755648" cy="2057400"/>
          </a:xfrm>
          <a:prstGeom prst="roundRect">
            <a:avLst>
              <a:gd name="adj" fmla="val 2604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912096" y="2057400"/>
            <a:ext cx="1755648" cy="2057400"/>
          </a:xfrm>
          <a:prstGeom prst="roundRect">
            <a:avLst>
              <a:gd name="adj" fmla="val 41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10094976" y="23042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10131552" y="283464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Refine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10131552" y="3246120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and reuse blueprint memory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Blueprint Memory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Stored context lets every generated output refer to the same project blueprint.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923544" y="1673352"/>
            <a:ext cx="3703320" cy="3977640"/>
          </a:xfrm>
          <a:prstGeom prst="roundRect">
            <a:avLst>
              <a:gd name="adj" fmla="val 1235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" y="1600200"/>
            <a:ext cx="3703320" cy="39776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207008" y="190195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Memory Payload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1261872" y="254203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81328" y="2468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title and domain</a:t>
            </a:r>
            <a:endParaRPr lang="en-US" sz="1240" dirty="0"/>
          </a:p>
        </p:txBody>
      </p:sp>
      <p:sp>
        <p:nvSpPr>
          <p:cNvPr id="40" name="Shape 38"/>
          <p:cNvSpPr/>
          <p:nvPr/>
        </p:nvSpPr>
        <p:spPr>
          <a:xfrm>
            <a:off x="1261872" y="301752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81328" y="29443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and objective</a:t>
            </a:r>
            <a:endParaRPr lang="en-US" sz="1240" dirty="0"/>
          </a:p>
        </p:txBody>
      </p:sp>
      <p:sp>
        <p:nvSpPr>
          <p:cNvPr id="42" name="Shape 40"/>
          <p:cNvSpPr/>
          <p:nvPr/>
        </p:nvSpPr>
        <p:spPr>
          <a:xfrm>
            <a:off x="1261872" y="349300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81328" y="34198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features</a:t>
            </a:r>
            <a:endParaRPr lang="en-US" sz="1240" dirty="0"/>
          </a:p>
        </p:txBody>
      </p:sp>
      <p:sp>
        <p:nvSpPr>
          <p:cNvPr id="44" name="Shape 42"/>
          <p:cNvSpPr/>
          <p:nvPr/>
        </p:nvSpPr>
        <p:spPr>
          <a:xfrm>
            <a:off x="1261872" y="396849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81328" y="38953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stack choices</a:t>
            </a:r>
            <a:endParaRPr lang="en-US" sz="1240" dirty="0"/>
          </a:p>
        </p:txBody>
      </p:sp>
      <p:sp>
        <p:nvSpPr>
          <p:cNvPr id="46" name="Shape 44"/>
          <p:cNvSpPr/>
          <p:nvPr/>
        </p:nvSpPr>
        <p:spPr>
          <a:xfrm>
            <a:off x="1261872" y="444398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81328" y="43708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artifact history</a:t>
            </a:r>
            <a:endParaRPr lang="en-US" sz="1240" dirty="0"/>
          </a:p>
        </p:txBody>
      </p:sp>
      <p:sp>
        <p:nvSpPr>
          <p:cNvPr id="48" name="Shape 46"/>
          <p:cNvSpPr/>
          <p:nvPr/>
        </p:nvSpPr>
        <p:spPr>
          <a:xfrm>
            <a:off x="5138928" y="2788920"/>
            <a:ext cx="1097280" cy="749808"/>
          </a:xfrm>
          <a:prstGeom prst="chevron">
            <a:avLst/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11696" y="1673352"/>
            <a:ext cx="4160520" cy="3977640"/>
          </a:xfrm>
          <a:prstGeom prst="roundRect">
            <a:avLst>
              <a:gd name="adj" fmla="val 1149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56832" y="1600200"/>
            <a:ext cx="41605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211312" y="1993392"/>
            <a:ext cx="749808" cy="749808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91266" y="2143354"/>
            <a:ext cx="389900" cy="434889"/>
          </a:xfrm>
          <a:prstGeom prst="can">
            <a:avLst/>
          </a:prstGeom>
          <a:solidFill>
            <a:srgbClr val="FFFFFF">
              <a:alpha val="90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43216" y="29260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Firestore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7178040" y="3529584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blueprint memory keeps future BRD, SRS, roadmap, and prompt outputs aligned.</a:t>
            </a:r>
            <a:endParaRPr lang="en-US" sz="1120" dirty="0"/>
          </a:p>
        </p:txBody>
      </p:sp>
      <p:sp>
        <p:nvSpPr>
          <p:cNvPr id="55" name="Text 53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Document Generation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 produces review-friendly planning artifacts from one project blueprint.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96112" y="2039112"/>
            <a:ext cx="1700784" cy="2944368"/>
          </a:xfrm>
          <a:prstGeom prst="roundRect">
            <a:avLst>
              <a:gd name="adj" fmla="val 2688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" y="1965960"/>
            <a:ext cx="1700784" cy="29443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408176" y="2322576"/>
            <a:ext cx="530352" cy="53035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61978" y="2423343"/>
            <a:ext cx="222748" cy="291694"/>
          </a:xfrm>
          <a:prstGeom prst="roundRect">
            <a:avLst>
              <a:gd name="adj" fmla="val 8210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99103" y="2518806"/>
            <a:ext cx="132588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99103" y="2587752"/>
            <a:ext cx="116677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BRD</a:t>
            </a:r>
            <a:endParaRPr lang="en-US" sz="1360" dirty="0"/>
          </a:p>
        </p:txBody>
      </p:sp>
      <p:sp>
        <p:nvSpPr>
          <p:cNvPr id="42" name="Text 40"/>
          <p:cNvSpPr/>
          <p:nvPr/>
        </p:nvSpPr>
        <p:spPr>
          <a:xfrm>
            <a:off x="1005840" y="350215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requirement framing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108960" y="2039112"/>
            <a:ext cx="1700784" cy="2944368"/>
          </a:xfrm>
          <a:prstGeom prst="roundRect">
            <a:avLst>
              <a:gd name="adj" fmla="val 2688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54096" y="1965960"/>
            <a:ext cx="1700784" cy="29443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21024" y="2322576"/>
            <a:ext cx="530352" cy="53035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74826" y="2423343"/>
            <a:ext cx="222748" cy="291694"/>
          </a:xfrm>
          <a:prstGeom prst="roundRect">
            <a:avLst>
              <a:gd name="adj" fmla="val 8210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11951" y="2518806"/>
            <a:ext cx="132588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11951" y="2587752"/>
            <a:ext cx="116677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18688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SRS</a:t>
            </a:r>
            <a:endParaRPr lang="en-US" sz="1360" dirty="0"/>
          </a:p>
        </p:txBody>
      </p:sp>
      <p:sp>
        <p:nvSpPr>
          <p:cNvPr id="50" name="Text 48"/>
          <p:cNvSpPr/>
          <p:nvPr/>
        </p:nvSpPr>
        <p:spPr>
          <a:xfrm>
            <a:off x="3218688" y="350215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and non-functional requirements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321808" y="2039112"/>
            <a:ext cx="1700784" cy="2944368"/>
          </a:xfrm>
          <a:prstGeom prst="roundRect">
            <a:avLst>
              <a:gd name="adj" fmla="val 2688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66944" y="1965960"/>
            <a:ext cx="1700784" cy="29443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833872" y="2322576"/>
            <a:ext cx="530352" cy="53035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87674" y="2423343"/>
            <a:ext cx="222748" cy="291694"/>
          </a:xfrm>
          <a:prstGeom prst="roundRect">
            <a:avLst>
              <a:gd name="adj" fmla="val 8210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24799" y="2518806"/>
            <a:ext cx="132588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24799" y="2587752"/>
            <a:ext cx="116677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31536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Roadmap</a:t>
            </a:r>
            <a:endParaRPr lang="en-US" sz="1360" dirty="0"/>
          </a:p>
        </p:txBody>
      </p:sp>
      <p:sp>
        <p:nvSpPr>
          <p:cNvPr id="58" name="Text 56"/>
          <p:cNvSpPr/>
          <p:nvPr/>
        </p:nvSpPr>
        <p:spPr>
          <a:xfrm>
            <a:off x="5431536" y="350215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Milestones and implementation phases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534656" y="2039112"/>
            <a:ext cx="1700784" cy="2944368"/>
          </a:xfrm>
          <a:prstGeom prst="roundRect">
            <a:avLst>
              <a:gd name="adj" fmla="val 2688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479792" y="1965960"/>
            <a:ext cx="1700784" cy="29443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046720" y="2322576"/>
            <a:ext cx="530352" cy="53035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00522" y="2423343"/>
            <a:ext cx="222748" cy="291694"/>
          </a:xfrm>
          <a:prstGeom prst="roundRect">
            <a:avLst>
              <a:gd name="adj" fmla="val 8210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37647" y="2518806"/>
            <a:ext cx="132588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37647" y="2587752"/>
            <a:ext cx="116677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44384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To-Do List</a:t>
            </a:r>
            <a:endParaRPr lang="en-US" sz="1360" dirty="0"/>
          </a:p>
        </p:txBody>
      </p:sp>
      <p:sp>
        <p:nvSpPr>
          <p:cNvPr id="66" name="Text 64"/>
          <p:cNvSpPr/>
          <p:nvPr/>
        </p:nvSpPr>
        <p:spPr>
          <a:xfrm>
            <a:off x="7644384" y="350215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execution checklist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747504" y="2039112"/>
            <a:ext cx="1700784" cy="2944368"/>
          </a:xfrm>
          <a:prstGeom prst="roundRect">
            <a:avLst>
              <a:gd name="adj" fmla="val 2688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692640" y="1965960"/>
            <a:ext cx="1700784" cy="29443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0259568" y="2322576"/>
            <a:ext cx="530352" cy="530352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413370" y="2423343"/>
            <a:ext cx="222748" cy="291694"/>
          </a:xfrm>
          <a:prstGeom prst="roundRect">
            <a:avLst>
              <a:gd name="adj" fmla="val 8210"/>
            </a:avLst>
          </a:prstGeom>
          <a:solidFill>
            <a:srgbClr val="FFFFFF">
              <a:alpha val="9200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450495" y="2518806"/>
            <a:ext cx="132588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450495" y="2587752"/>
            <a:ext cx="116677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857232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Prompts</a:t>
            </a:r>
            <a:endParaRPr lang="en-US" sz="1360" dirty="0"/>
          </a:p>
        </p:txBody>
      </p:sp>
      <p:sp>
        <p:nvSpPr>
          <p:cNvPr id="74" name="Text 72"/>
          <p:cNvSpPr/>
          <p:nvPr/>
        </p:nvSpPr>
        <p:spPr>
          <a:xfrm>
            <a:off x="9857232" y="350215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Coding-ready implementation guidance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-1097280" y="-1097280"/>
            <a:ext cx="5303520" cy="5303520"/>
          </a:xfrm>
          <a:prstGeom prst="arc">
            <a:avLst/>
          </a:prstGeom>
          <a:solidFill>
            <a:srgbClr val="2563EB">
              <a:alpha val="5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7863840" y="3383280"/>
            <a:ext cx="5669280" cy="5669280"/>
          </a:xfrm>
          <a:prstGeom prst="arc">
            <a:avLst/>
          </a:prstGeom>
          <a:solidFill>
            <a:srgbClr val="06B6D4">
              <a:alpha val="3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Prompt Generation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prompts convert planning decisions into developer-ready instructions.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23544" y="1700784"/>
            <a:ext cx="4681728" cy="3977640"/>
          </a:xfrm>
          <a:prstGeom prst="roundRect">
            <a:avLst>
              <a:gd name="adj" fmla="val 1149"/>
            </a:avLst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" y="1627632"/>
            <a:ext cx="4681728" cy="3977640"/>
          </a:xfrm>
          <a:prstGeom prst="roundRect">
            <a:avLst>
              <a:gd name="adj" fmla="val 183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170432" y="1938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Prompt Template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43584" y="248716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Role: Senior full-stack engineer</a:t>
            </a:r>
            <a:endParaRPr lang="en-US" sz="970" dirty="0"/>
          </a:p>
        </p:txBody>
      </p:sp>
      <p:sp>
        <p:nvSpPr>
          <p:cNvPr id="40" name="Text 38"/>
          <p:cNvSpPr/>
          <p:nvPr/>
        </p:nvSpPr>
        <p:spPr>
          <a:xfrm>
            <a:off x="1243584" y="290779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Context: BuildFlow AI blueprint</a:t>
            </a:r>
            <a:endParaRPr lang="en-US" sz="970" dirty="0"/>
          </a:p>
        </p:txBody>
      </p:sp>
      <p:sp>
        <p:nvSpPr>
          <p:cNvPr id="41" name="Text 39"/>
          <p:cNvSpPr/>
          <p:nvPr/>
        </p:nvSpPr>
        <p:spPr>
          <a:xfrm>
            <a:off x="1243584" y="332841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Task: Implement selected module</a:t>
            </a:r>
            <a:endParaRPr lang="en-US" sz="970" dirty="0"/>
          </a:p>
        </p:txBody>
      </p:sp>
      <p:sp>
        <p:nvSpPr>
          <p:cNvPr id="42" name="Text 40"/>
          <p:cNvSpPr/>
          <p:nvPr/>
        </p:nvSpPr>
        <p:spPr>
          <a:xfrm>
            <a:off x="1243584" y="374904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Constraints: React + Firebase + Express</a:t>
            </a:r>
            <a:endParaRPr lang="en-US" sz="970" dirty="0"/>
          </a:p>
        </p:txBody>
      </p:sp>
      <p:sp>
        <p:nvSpPr>
          <p:cNvPr id="43" name="Text 41"/>
          <p:cNvSpPr/>
          <p:nvPr/>
        </p:nvSpPr>
        <p:spPr>
          <a:xfrm>
            <a:off x="1243584" y="416966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Steps, files, and tests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6501384" y="1700784"/>
            <a:ext cx="4480560" cy="3977640"/>
          </a:xfrm>
          <a:prstGeom prst="roundRect">
            <a:avLst>
              <a:gd name="adj" fmla="val 1149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46520" y="1627632"/>
            <a:ext cx="4480560" cy="3977640"/>
          </a:xfrm>
          <a:prstGeom prst="roundRect">
            <a:avLst>
              <a:gd name="adj" fmla="val 183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DD7FF">
                <a:alpha val="35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903720" y="224942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23176" y="21762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implementation ambiguity</a:t>
            </a:r>
            <a:endParaRPr lang="en-US" sz="1230" dirty="0"/>
          </a:p>
        </p:txBody>
      </p:sp>
      <p:sp>
        <p:nvSpPr>
          <p:cNvPr id="48" name="Shape 46"/>
          <p:cNvSpPr/>
          <p:nvPr/>
        </p:nvSpPr>
        <p:spPr>
          <a:xfrm>
            <a:off x="6903720" y="270662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23176" y="2633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AI coding aligned to scope</a:t>
            </a:r>
            <a:endParaRPr lang="en-US" sz="1230" dirty="0"/>
          </a:p>
        </p:txBody>
      </p:sp>
      <p:sp>
        <p:nvSpPr>
          <p:cNvPr id="50" name="Shape 48"/>
          <p:cNvSpPr/>
          <p:nvPr/>
        </p:nvSpPr>
        <p:spPr>
          <a:xfrm>
            <a:off x="6903720" y="316382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23176" y="30906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module-by-module progress</a:t>
            </a:r>
            <a:endParaRPr lang="en-US" sz="1230" dirty="0"/>
          </a:p>
        </p:txBody>
      </p:sp>
      <p:sp>
        <p:nvSpPr>
          <p:cNvPr id="52" name="Shape 50"/>
          <p:cNvSpPr/>
          <p:nvPr/>
        </p:nvSpPr>
        <p:spPr>
          <a:xfrm>
            <a:off x="6903720" y="362102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23176" y="35478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reproducibility</a:t>
            </a:r>
            <a:endParaRPr lang="en-US" sz="1230" dirty="0"/>
          </a:p>
        </p:txBody>
      </p:sp>
      <p:sp>
        <p:nvSpPr>
          <p:cNvPr id="54" name="Shape 52"/>
          <p:cNvSpPr/>
          <p:nvPr/>
        </p:nvSpPr>
        <p:spPr>
          <a:xfrm>
            <a:off x="6903720" y="407822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23176" y="40050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students explain decisions</a:t>
            </a:r>
            <a:endParaRPr lang="en-US" sz="1230" dirty="0"/>
          </a:p>
        </p:txBody>
      </p:sp>
      <p:sp>
        <p:nvSpPr>
          <p:cNvPr id="56" name="Text 54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Competitive Comparison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 combines planning, memory, and academic deliverables in one workflow.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32104" y="167335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1600200"/>
            <a:ext cx="106527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CFE1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77240" y="1600200"/>
            <a:ext cx="2468880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2F0">
                <a:alpha val="8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6968" y="1773936"/>
            <a:ext cx="2249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3246120" y="1600200"/>
            <a:ext cx="1965960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2F0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55848" y="1773936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Docs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5212080" y="1600200"/>
            <a:ext cx="1965960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2F0">
                <a:alpha val="8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21808" y="1773936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Chat AI</a:t>
            </a:r>
            <a:endParaRPr lang="en-US" sz="770" dirty="0"/>
          </a:p>
        </p:txBody>
      </p:sp>
      <p:sp>
        <p:nvSpPr>
          <p:cNvPr id="43" name="Shape 41"/>
          <p:cNvSpPr/>
          <p:nvPr/>
        </p:nvSpPr>
        <p:spPr>
          <a:xfrm>
            <a:off x="7178040" y="1600200"/>
            <a:ext cx="1965960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2F0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87768" y="1773936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Trackers</a:t>
            </a:r>
            <a:endParaRPr lang="en-US" sz="770" dirty="0"/>
          </a:p>
        </p:txBody>
      </p:sp>
      <p:sp>
        <p:nvSpPr>
          <p:cNvPr id="45" name="Shape 43"/>
          <p:cNvSpPr/>
          <p:nvPr/>
        </p:nvSpPr>
        <p:spPr>
          <a:xfrm>
            <a:off x="9144000" y="1600200"/>
            <a:ext cx="22860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D8E2F0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53728" y="1773936"/>
            <a:ext cx="2066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770" dirty="0"/>
          </a:p>
        </p:txBody>
      </p:sp>
      <p:sp>
        <p:nvSpPr>
          <p:cNvPr id="47" name="Shape 45"/>
          <p:cNvSpPr/>
          <p:nvPr/>
        </p:nvSpPr>
        <p:spPr>
          <a:xfrm>
            <a:off x="777240" y="2103120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6968" y="2331720"/>
            <a:ext cx="2249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project planning</a:t>
            </a:r>
            <a:endParaRPr lang="en-US" sz="790" dirty="0"/>
          </a:p>
        </p:txBody>
      </p:sp>
      <p:sp>
        <p:nvSpPr>
          <p:cNvPr id="49" name="Shape 47"/>
          <p:cNvSpPr/>
          <p:nvPr/>
        </p:nvSpPr>
        <p:spPr>
          <a:xfrm>
            <a:off x="3246120" y="2103120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55848" y="2331720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790" dirty="0"/>
          </a:p>
        </p:txBody>
      </p:sp>
      <p:sp>
        <p:nvSpPr>
          <p:cNvPr id="51" name="Shape 49"/>
          <p:cNvSpPr/>
          <p:nvPr/>
        </p:nvSpPr>
        <p:spPr>
          <a:xfrm>
            <a:off x="5212080" y="2103120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21808" y="2331720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790" dirty="0"/>
          </a:p>
        </p:txBody>
      </p:sp>
      <p:sp>
        <p:nvSpPr>
          <p:cNvPr id="53" name="Shape 51"/>
          <p:cNvSpPr/>
          <p:nvPr/>
        </p:nvSpPr>
        <p:spPr>
          <a:xfrm>
            <a:off x="7178040" y="2103120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87768" y="2331720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790" dirty="0"/>
          </a:p>
        </p:txBody>
      </p:sp>
      <p:sp>
        <p:nvSpPr>
          <p:cNvPr id="55" name="Shape 53"/>
          <p:cNvSpPr/>
          <p:nvPr/>
        </p:nvSpPr>
        <p:spPr>
          <a:xfrm>
            <a:off x="9144000" y="2103120"/>
            <a:ext cx="22860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53728" y="2331720"/>
            <a:ext cx="2066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790" dirty="0"/>
          </a:p>
        </p:txBody>
      </p:sp>
      <p:sp>
        <p:nvSpPr>
          <p:cNvPr id="57" name="Shape 55"/>
          <p:cNvSpPr/>
          <p:nvPr/>
        </p:nvSpPr>
        <p:spPr>
          <a:xfrm>
            <a:off x="777240" y="2761488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6968" y="2990088"/>
            <a:ext cx="2249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BRD/SRS generation</a:t>
            </a:r>
            <a:endParaRPr lang="en-US" sz="790" dirty="0"/>
          </a:p>
        </p:txBody>
      </p:sp>
      <p:sp>
        <p:nvSpPr>
          <p:cNvPr id="59" name="Shape 57"/>
          <p:cNvSpPr/>
          <p:nvPr/>
        </p:nvSpPr>
        <p:spPr>
          <a:xfrm>
            <a:off x="3246120" y="2761488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55848" y="2990088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</a:t>
            </a:r>
            <a:endParaRPr lang="en-US" sz="790" dirty="0"/>
          </a:p>
        </p:txBody>
      </p:sp>
      <p:sp>
        <p:nvSpPr>
          <p:cNvPr id="61" name="Shape 59"/>
          <p:cNvSpPr/>
          <p:nvPr/>
        </p:nvSpPr>
        <p:spPr>
          <a:xfrm>
            <a:off x="5212080" y="2761488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21808" y="2990088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</a:t>
            </a:r>
            <a:endParaRPr lang="en-US" sz="790" dirty="0"/>
          </a:p>
        </p:txBody>
      </p:sp>
      <p:sp>
        <p:nvSpPr>
          <p:cNvPr id="63" name="Shape 61"/>
          <p:cNvSpPr/>
          <p:nvPr/>
        </p:nvSpPr>
        <p:spPr>
          <a:xfrm>
            <a:off x="7178040" y="2761488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87768" y="2990088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90" dirty="0"/>
          </a:p>
        </p:txBody>
      </p:sp>
      <p:sp>
        <p:nvSpPr>
          <p:cNvPr id="65" name="Shape 63"/>
          <p:cNvSpPr/>
          <p:nvPr/>
        </p:nvSpPr>
        <p:spPr>
          <a:xfrm>
            <a:off x="9144000" y="2761488"/>
            <a:ext cx="22860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253728" y="2990088"/>
            <a:ext cx="2066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</a:t>
            </a:r>
            <a:endParaRPr lang="en-US" sz="790" dirty="0"/>
          </a:p>
        </p:txBody>
      </p:sp>
      <p:sp>
        <p:nvSpPr>
          <p:cNvPr id="67" name="Shape 65"/>
          <p:cNvSpPr/>
          <p:nvPr/>
        </p:nvSpPr>
        <p:spPr>
          <a:xfrm>
            <a:off x="777240" y="3419856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86968" y="3648456"/>
            <a:ext cx="2249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blueprint memory</a:t>
            </a:r>
            <a:endParaRPr lang="en-US" sz="790" dirty="0"/>
          </a:p>
        </p:txBody>
      </p:sp>
      <p:sp>
        <p:nvSpPr>
          <p:cNvPr id="69" name="Shape 67"/>
          <p:cNvSpPr/>
          <p:nvPr/>
        </p:nvSpPr>
        <p:spPr>
          <a:xfrm>
            <a:off x="3246120" y="3419856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55848" y="3648456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90" dirty="0"/>
          </a:p>
        </p:txBody>
      </p:sp>
      <p:sp>
        <p:nvSpPr>
          <p:cNvPr id="71" name="Shape 69"/>
          <p:cNvSpPr/>
          <p:nvPr/>
        </p:nvSpPr>
        <p:spPr>
          <a:xfrm>
            <a:off x="5212080" y="3419856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21808" y="3648456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</a:t>
            </a:r>
            <a:endParaRPr lang="en-US" sz="790" dirty="0"/>
          </a:p>
        </p:txBody>
      </p:sp>
      <p:sp>
        <p:nvSpPr>
          <p:cNvPr id="73" name="Shape 71"/>
          <p:cNvSpPr/>
          <p:nvPr/>
        </p:nvSpPr>
        <p:spPr>
          <a:xfrm>
            <a:off x="7178040" y="3419856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87768" y="3648456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notes</a:t>
            </a:r>
            <a:endParaRPr lang="en-US" sz="790" dirty="0"/>
          </a:p>
        </p:txBody>
      </p:sp>
      <p:sp>
        <p:nvSpPr>
          <p:cNvPr id="75" name="Shape 73"/>
          <p:cNvSpPr/>
          <p:nvPr/>
        </p:nvSpPr>
        <p:spPr>
          <a:xfrm>
            <a:off x="9144000" y="3419856"/>
            <a:ext cx="22860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253728" y="3648456"/>
            <a:ext cx="2066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790" dirty="0"/>
          </a:p>
        </p:txBody>
      </p:sp>
      <p:sp>
        <p:nvSpPr>
          <p:cNvPr id="77" name="Shape 75"/>
          <p:cNvSpPr/>
          <p:nvPr/>
        </p:nvSpPr>
        <p:spPr>
          <a:xfrm>
            <a:off x="777240" y="4078224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86968" y="4306824"/>
            <a:ext cx="2249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prompts</a:t>
            </a:r>
            <a:endParaRPr lang="en-US" sz="790" dirty="0"/>
          </a:p>
        </p:txBody>
      </p:sp>
      <p:sp>
        <p:nvSpPr>
          <p:cNvPr id="79" name="Shape 77"/>
          <p:cNvSpPr/>
          <p:nvPr/>
        </p:nvSpPr>
        <p:spPr>
          <a:xfrm>
            <a:off x="3246120" y="4078224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355848" y="4306824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90" dirty="0"/>
          </a:p>
        </p:txBody>
      </p:sp>
      <p:sp>
        <p:nvSpPr>
          <p:cNvPr id="81" name="Shape 79"/>
          <p:cNvSpPr/>
          <p:nvPr/>
        </p:nvSpPr>
        <p:spPr>
          <a:xfrm>
            <a:off x="5212080" y="4078224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21808" y="4306824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</a:t>
            </a:r>
            <a:endParaRPr lang="en-US" sz="790" dirty="0"/>
          </a:p>
        </p:txBody>
      </p:sp>
      <p:sp>
        <p:nvSpPr>
          <p:cNvPr id="83" name="Shape 81"/>
          <p:cNvSpPr/>
          <p:nvPr/>
        </p:nvSpPr>
        <p:spPr>
          <a:xfrm>
            <a:off x="7178040" y="4078224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287768" y="4306824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790" dirty="0"/>
          </a:p>
        </p:txBody>
      </p:sp>
      <p:sp>
        <p:nvSpPr>
          <p:cNvPr id="85" name="Shape 83"/>
          <p:cNvSpPr/>
          <p:nvPr/>
        </p:nvSpPr>
        <p:spPr>
          <a:xfrm>
            <a:off x="9144000" y="4078224"/>
            <a:ext cx="22860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53728" y="4306824"/>
            <a:ext cx="2066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Contextual</a:t>
            </a:r>
            <a:endParaRPr lang="en-US" sz="790" dirty="0"/>
          </a:p>
        </p:txBody>
      </p:sp>
      <p:sp>
        <p:nvSpPr>
          <p:cNvPr id="87" name="Shape 85"/>
          <p:cNvSpPr/>
          <p:nvPr/>
        </p:nvSpPr>
        <p:spPr>
          <a:xfrm>
            <a:off x="777240" y="4736592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86968" y="4965192"/>
            <a:ext cx="2249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review fit</a:t>
            </a:r>
            <a:endParaRPr lang="en-US" sz="790" dirty="0"/>
          </a:p>
        </p:txBody>
      </p:sp>
      <p:sp>
        <p:nvSpPr>
          <p:cNvPr id="89" name="Shape 87"/>
          <p:cNvSpPr/>
          <p:nvPr/>
        </p:nvSpPr>
        <p:spPr>
          <a:xfrm>
            <a:off x="3246120" y="4736592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355848" y="4965192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</a:t>
            </a:r>
            <a:endParaRPr lang="en-US" sz="790" dirty="0"/>
          </a:p>
        </p:txBody>
      </p:sp>
      <p:sp>
        <p:nvSpPr>
          <p:cNvPr id="91" name="Shape 89"/>
          <p:cNvSpPr/>
          <p:nvPr/>
        </p:nvSpPr>
        <p:spPr>
          <a:xfrm>
            <a:off x="5212080" y="4736592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321808" y="4965192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</a:t>
            </a:r>
            <a:endParaRPr lang="en-US" sz="790" dirty="0"/>
          </a:p>
        </p:txBody>
      </p:sp>
      <p:sp>
        <p:nvSpPr>
          <p:cNvPr id="93" name="Shape 91"/>
          <p:cNvSpPr/>
          <p:nvPr/>
        </p:nvSpPr>
        <p:spPr>
          <a:xfrm>
            <a:off x="7178040" y="4736592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287768" y="4965192"/>
            <a:ext cx="1746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790" dirty="0"/>
          </a:p>
        </p:txBody>
      </p:sp>
      <p:sp>
        <p:nvSpPr>
          <p:cNvPr id="95" name="Shape 93"/>
          <p:cNvSpPr/>
          <p:nvPr/>
        </p:nvSpPr>
        <p:spPr>
          <a:xfrm>
            <a:off x="9144000" y="4736592"/>
            <a:ext cx="22860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8E2F0">
                <a:alpha val="7500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253728" y="4965192"/>
            <a:ext cx="2066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90" dirty="0"/>
          </a:p>
        </p:txBody>
      </p:sp>
      <p:sp>
        <p:nvSpPr>
          <p:cNvPr id="97" name="Text 95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80" dirty="0"/>
          </a:p>
        </p:txBody>
      </p:sp>
      <p:sp>
        <p:nvSpPr>
          <p:cNvPr id="98" name="Shape 96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Testing &amp; Validation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focuses on functionality, output quality, and deployment readiness.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1014984" y="1901952"/>
            <a:ext cx="2606040" cy="1170432"/>
          </a:xfrm>
          <a:prstGeom prst="roundRect">
            <a:avLst>
              <a:gd name="adj" fmla="val 3906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0120" y="182880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188720" y="2084832"/>
            <a:ext cx="457200" cy="45720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5400000">
            <a:off x="1307592" y="2176272"/>
            <a:ext cx="219456" cy="237744"/>
          </a:xfrm>
          <a:prstGeom prst="homePlat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83080" y="20756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783080" y="24231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Sign-in, protected routes, logout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4398264" y="1901952"/>
            <a:ext cx="2606040" cy="1170432"/>
          </a:xfrm>
          <a:prstGeom prst="roundRect">
            <a:avLst>
              <a:gd name="adj" fmla="val 3906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43400" y="182880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0" y="2084832"/>
            <a:ext cx="457200" cy="45720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13732" y="2226564"/>
            <a:ext cx="173736" cy="173736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9452" y="2313432"/>
            <a:ext cx="82296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700000">
            <a:off x="4759452" y="2313432"/>
            <a:ext cx="82296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5400000">
            <a:off x="4759452" y="2313432"/>
            <a:ext cx="82296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8100000">
            <a:off x="4759452" y="2313432"/>
            <a:ext cx="82296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20756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API Flow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166360" y="24231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validation and response handling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7781544" y="1901952"/>
            <a:ext cx="2606040" cy="1170432"/>
          </a:xfrm>
          <a:prstGeom prst="roundRect">
            <a:avLst>
              <a:gd name="adj" fmla="val 3906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26680" y="182880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955280" y="2084832"/>
            <a:ext cx="457200" cy="45720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65008" y="2176272"/>
            <a:ext cx="237744" cy="265176"/>
          </a:xfrm>
          <a:prstGeom prst="can">
            <a:avLst/>
          </a:prstGeom>
          <a:solidFill>
            <a:srgbClr val="FFFFFF">
              <a:alpha val="9000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49640" y="20756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Firestore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8549640" y="24231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Create, read, and update blueprint data</a:t>
            </a:r>
            <a:endParaRPr lang="en-US" sz="840" dirty="0"/>
          </a:p>
        </p:txBody>
      </p:sp>
      <p:sp>
        <p:nvSpPr>
          <p:cNvPr id="57" name="Shape 55"/>
          <p:cNvSpPr/>
          <p:nvPr/>
        </p:nvSpPr>
        <p:spPr>
          <a:xfrm>
            <a:off x="2706624" y="3822192"/>
            <a:ext cx="2606040" cy="1170432"/>
          </a:xfrm>
          <a:prstGeom prst="roundRect">
            <a:avLst>
              <a:gd name="adj" fmla="val 3906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51760" y="374904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880360" y="4005072"/>
            <a:ext cx="457200" cy="45720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108960" y="4087368"/>
            <a:ext cx="0" cy="292608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962656" y="4233672"/>
            <a:ext cx="292608" cy="0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08376" y="4133088"/>
            <a:ext cx="201168" cy="201168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09544" y="4133088"/>
            <a:ext cx="-201168" cy="201168"/>
          </a:xfrm>
          <a:prstGeom prst="line">
            <a:avLst/>
          </a:prstGeom>
          <a:noFill/>
          <a:ln w="15875">
            <a:solidFill>
              <a:srgbClr val="06B6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0" y="39959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AI Output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3474720" y="43434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 relevance and formatting</a:t>
            </a:r>
            <a:endParaRPr lang="en-US" sz="840" dirty="0"/>
          </a:p>
        </p:txBody>
      </p:sp>
      <p:sp>
        <p:nvSpPr>
          <p:cNvPr id="66" name="Shape 64"/>
          <p:cNvSpPr/>
          <p:nvPr/>
        </p:nvSpPr>
        <p:spPr>
          <a:xfrm>
            <a:off x="6089904" y="3822192"/>
            <a:ext cx="2606040" cy="1170432"/>
          </a:xfrm>
          <a:prstGeom prst="roundRect">
            <a:avLst>
              <a:gd name="adj" fmla="val 3906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35040" y="3749040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263640" y="4005072"/>
            <a:ext cx="457200" cy="457200"/>
          </a:xfrm>
          <a:prstGeom prst="ellipse">
            <a:avLst/>
          </a:prstGeom>
          <a:solidFill>
            <a:srgbClr val="EE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05372" y="4146804"/>
            <a:ext cx="173736" cy="173736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51092" y="4233672"/>
            <a:ext cx="8229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2700000">
            <a:off x="6451092" y="4233672"/>
            <a:ext cx="8229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5400000">
            <a:off x="6451092" y="4233672"/>
            <a:ext cx="8229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8100000">
            <a:off x="6451092" y="4233672"/>
            <a:ext cx="82296" cy="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58000" y="39959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6858000" y="43434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and backend hosted paths</a:t>
            </a:r>
            <a:endParaRPr lang="en-US" sz="840" dirty="0"/>
          </a:p>
        </p:txBody>
      </p:sp>
      <p:sp>
        <p:nvSpPr>
          <p:cNvPr id="76" name="Text 74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Product Screenshots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final screenshots into the device mockups for the demo section.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32104" y="1673352"/>
            <a:ext cx="6537960" cy="4297680"/>
          </a:xfrm>
          <a:prstGeom prst="roundRect">
            <a:avLst>
              <a:gd name="adj" fmla="val 1064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1600200"/>
            <a:ext cx="6537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143000" y="1920240"/>
            <a:ext cx="5806440" cy="3401568"/>
          </a:xfrm>
          <a:prstGeom prst="roundRect">
            <a:avLst>
              <a:gd name="adj" fmla="val 215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3312" y="2212848"/>
            <a:ext cx="5376672" cy="2798064"/>
          </a:xfrm>
          <a:prstGeom prst="roundRect">
            <a:avLst>
              <a:gd name="adj" fmla="val 2614"/>
            </a:avLst>
          </a:prstGeom>
          <a:solidFill>
            <a:srgbClr val="F8FBFF">
              <a:alpha val="95000"/>
            </a:srgbClr>
          </a:solidFill>
          <a:ln w="15240">
            <a:solidFill>
              <a:srgbClr val="7FB3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17904" y="2377440"/>
            <a:ext cx="5047488" cy="2468880"/>
          </a:xfrm>
          <a:prstGeom prst="line">
            <a:avLst/>
          </a:prstGeom>
          <a:noFill/>
          <a:ln w="10160">
            <a:solidFill>
              <a:srgbClr val="A9C8F8">
                <a:alpha val="8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65392" y="2377440"/>
            <a:ext cx="-5047488" cy="2468880"/>
          </a:xfrm>
          <a:prstGeom prst="line">
            <a:avLst/>
          </a:prstGeom>
          <a:noFill/>
          <a:ln w="10160">
            <a:solidFill>
              <a:srgbClr val="A9C8F8">
                <a:alpha val="8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09344" y="3401568"/>
            <a:ext cx="4864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APPLICATION SCREENSHOT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609344" y="3721608"/>
            <a:ext cx="48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 mockup placeholder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37560" y="5358384"/>
            <a:ext cx="1417320" cy="1645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64424" y="1938528"/>
            <a:ext cx="3154680" cy="3794760"/>
          </a:xfrm>
          <a:prstGeom prst="roundRect">
            <a:avLst>
              <a:gd name="adj" fmla="val 1449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09560" y="1865376"/>
            <a:ext cx="3154680" cy="37947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366760" y="2249424"/>
            <a:ext cx="2240280" cy="2944368"/>
          </a:xfrm>
          <a:prstGeom prst="roundRect">
            <a:avLst>
              <a:gd name="adj" fmla="val 653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22208" y="2542032"/>
            <a:ext cx="1938528" cy="2359152"/>
          </a:xfrm>
          <a:prstGeom prst="roundRect">
            <a:avLst>
              <a:gd name="adj" fmla="val 3774"/>
            </a:avLst>
          </a:prstGeom>
          <a:solidFill>
            <a:srgbClr val="F8FBFF">
              <a:alpha val="95000"/>
            </a:srgbClr>
          </a:solidFill>
          <a:ln w="15240">
            <a:solidFill>
              <a:srgbClr val="7FB3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86800" y="2706624"/>
            <a:ext cx="1609344" cy="2029968"/>
          </a:xfrm>
          <a:prstGeom prst="line">
            <a:avLst/>
          </a:prstGeom>
          <a:noFill/>
          <a:ln w="10160">
            <a:solidFill>
              <a:srgbClr val="A9C8F8">
                <a:alpha val="8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96144" y="2706624"/>
            <a:ext cx="-1609344" cy="2029968"/>
          </a:xfrm>
          <a:prstGeom prst="line">
            <a:avLst/>
          </a:prstGeom>
          <a:noFill/>
          <a:ln w="10160">
            <a:solidFill>
              <a:srgbClr val="A9C8F8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78240" y="35112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MOBILE / TABLET VIEW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778240" y="383133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placeholder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-1005840" y="-914400"/>
            <a:ext cx="4389120" cy="4389120"/>
          </a:xfrm>
          <a:prstGeom prst="arc">
            <a:avLst/>
          </a:prstGeom>
          <a:solidFill>
            <a:srgbClr val="D9E8FF">
              <a:alpha val="94000"/>
            </a:srgbClr>
          </a:solidFill>
          <a:ln w="12700">
            <a:solidFill>
              <a:srgbClr val="D9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240000">
            <a:off x="8412480" y="3840480"/>
            <a:ext cx="4937760" cy="4937760"/>
          </a:xfrm>
          <a:prstGeom prst="arc">
            <a:avLst/>
          </a:prstGeom>
          <a:solidFill>
            <a:srgbClr val="CFFAFE">
              <a:alpha val="8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CBD5E1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Results &amp; Benefits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reduces planning friction and improves review clarity.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1005840" y="187452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01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1691640" y="19476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project planning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05840" y="2907792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02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1691640" y="29809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academic artifacts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05840" y="3941064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03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1691640" y="40142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project context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952744" y="1700784"/>
            <a:ext cx="5074920" cy="4160520"/>
          </a:xfrm>
          <a:prstGeom prst="roundRect">
            <a:avLst>
              <a:gd name="adj" fmla="val 1099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97880" y="1627632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DEBFF">
                <a:alpha val="9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27648" y="228600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47104" y="22128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BRD, SRS, roadmap, to-do list, and prompts generated from one blueprint</a:t>
            </a:r>
            <a:endParaRPr lang="en-US" sz="1240" dirty="0"/>
          </a:p>
        </p:txBody>
      </p:sp>
      <p:sp>
        <p:nvSpPr>
          <p:cNvPr id="45" name="Shape 43"/>
          <p:cNvSpPr/>
          <p:nvPr/>
        </p:nvSpPr>
        <p:spPr>
          <a:xfrm>
            <a:off x="6327648" y="283464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47104" y="27614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and memory create a project workspace</a:t>
            </a:r>
            <a:endParaRPr lang="en-US" sz="1240" dirty="0"/>
          </a:p>
        </p:txBody>
      </p:sp>
      <p:sp>
        <p:nvSpPr>
          <p:cNvPr id="47" name="Shape 45"/>
          <p:cNvSpPr/>
          <p:nvPr/>
        </p:nvSpPr>
        <p:spPr>
          <a:xfrm>
            <a:off x="6327648" y="338328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47104" y="331012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Deployment-ready architecture supports live demo</a:t>
            </a:r>
            <a:endParaRPr lang="en-US" sz="1240" dirty="0"/>
          </a:p>
        </p:txBody>
      </p:sp>
      <p:sp>
        <p:nvSpPr>
          <p:cNvPr id="49" name="Shape 47"/>
          <p:cNvSpPr/>
          <p:nvPr/>
        </p:nvSpPr>
        <p:spPr>
          <a:xfrm>
            <a:off x="6327648" y="393192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47104" y="38587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can explain both planning and implementation decisions</a:t>
            </a:r>
            <a:endParaRPr lang="en-US" sz="1240" dirty="0"/>
          </a:p>
        </p:txBody>
      </p:sp>
      <p:sp>
        <p:nvSpPr>
          <p:cNvPr id="51" name="Text 49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D8E2F0"/>
            </a:solidFill>
            <a:prstDash val="solid"/>
          </a:ln>
        </p:spPr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-1097280" y="-1097280"/>
            <a:ext cx="5303520" cy="5303520"/>
          </a:xfrm>
          <a:prstGeom prst="arc">
            <a:avLst/>
          </a:prstGeom>
          <a:solidFill>
            <a:srgbClr val="2563EB">
              <a:alpha val="5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7863840" y="3383280"/>
            <a:ext cx="5669280" cy="5669280"/>
          </a:xfrm>
          <a:prstGeom prst="arc">
            <a:avLst/>
          </a:prstGeom>
          <a:solidFill>
            <a:srgbClr val="06B6D4">
              <a:alpha val="3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Future Enhancements</a:t>
            </a:r>
            <a:endParaRPr lang="en-US" sz="2500" dirty="0"/>
          </a:p>
        </p:txBody>
      </p:sp>
      <p:sp>
        <p:nvSpPr>
          <p:cNvPr id="33" name="Shape 31"/>
          <p:cNvSpPr/>
          <p:nvPr/>
        </p:nvSpPr>
        <p:spPr>
          <a:xfrm>
            <a:off x="612648" y="9966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10789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assistant can evolve from planning generator into a complete project execution companion.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058400" y="438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1014984" y="1901952"/>
            <a:ext cx="2697480" cy="1051560"/>
          </a:xfrm>
          <a:prstGeom prst="roundRect">
            <a:avLst>
              <a:gd name="adj" fmla="val 4348"/>
            </a:avLst>
          </a:prstGeom>
          <a:solidFill>
            <a:srgbClr val="2563EB">
              <a:alpha val="7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" y="18288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216152" y="20482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Export to DOCX/PDF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1216152" y="24048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Downloadable formatted deliverables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4443984" y="1901952"/>
            <a:ext cx="2697480" cy="1051560"/>
          </a:xfrm>
          <a:prstGeom prst="roundRect">
            <a:avLst>
              <a:gd name="adj" fmla="val 4348"/>
            </a:avLst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0" y="18288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645152" y="20482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Team Collaboration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4645152" y="24048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workspaces and comments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7872984" y="1901952"/>
            <a:ext cx="2697480" cy="1051560"/>
          </a:xfrm>
          <a:prstGeom prst="roundRect">
            <a:avLst>
              <a:gd name="adj" fmla="val 4348"/>
            </a:avLst>
          </a:prstGeom>
          <a:solidFill>
            <a:srgbClr val="2563EB">
              <a:alpha val="7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18120" y="18288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074152" y="20482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Version History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8074152" y="24048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blueprint changes over time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1014984" y="3529584"/>
            <a:ext cx="2697480" cy="1051560"/>
          </a:xfrm>
          <a:prstGeom prst="roundRect">
            <a:avLst>
              <a:gd name="adj" fmla="val 4348"/>
            </a:avLst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0120" y="345643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216152" y="36758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AI Diagram Builder</a:t>
            </a:r>
            <a:endParaRPr lang="en-US" sz="1120" dirty="0"/>
          </a:p>
        </p:txBody>
      </p:sp>
      <p:sp>
        <p:nvSpPr>
          <p:cNvPr id="51" name="Text 49"/>
          <p:cNvSpPr/>
          <p:nvPr/>
        </p:nvSpPr>
        <p:spPr>
          <a:xfrm>
            <a:off x="1216152" y="4032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Auto-generate architecture and workflows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4443984" y="3529584"/>
            <a:ext cx="2697480" cy="1051560"/>
          </a:xfrm>
          <a:prstGeom prst="roundRect">
            <a:avLst>
              <a:gd name="adj" fmla="val 4348"/>
            </a:avLst>
          </a:prstGeom>
          <a:solidFill>
            <a:srgbClr val="2563EB">
              <a:alpha val="7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89120" y="345643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0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645152" y="36758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Task Sync</a:t>
            </a:r>
            <a:endParaRPr lang="en-US" sz="1120" dirty="0"/>
          </a:p>
        </p:txBody>
      </p:sp>
      <p:sp>
        <p:nvSpPr>
          <p:cNvPr id="55" name="Text 53"/>
          <p:cNvSpPr/>
          <p:nvPr/>
        </p:nvSpPr>
        <p:spPr>
          <a:xfrm>
            <a:off x="4645152" y="4032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 tasks to external trackers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-1097280" y="-1097280"/>
            <a:ext cx="5303520" cy="5303520"/>
          </a:xfrm>
          <a:prstGeom prst="arc">
            <a:avLst/>
          </a:prstGeom>
          <a:solidFill>
            <a:srgbClr val="2563EB">
              <a:alpha val="5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7863840" y="3383280"/>
            <a:ext cx="5669280" cy="5669280"/>
          </a:xfrm>
          <a:prstGeom prst="arc">
            <a:avLst/>
          </a:prstGeom>
          <a:solidFill>
            <a:srgbClr val="06B6D4">
              <a:alpha val="3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1993392"/>
            <a:ext cx="10012680" cy="1060704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06B6D4">
                <a:alpha val="35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BuildFlow AI turns ideas into execution-ready project plans.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1965960" y="3401568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SaaS-style assistant for planning, documenting, remembering, and prompting final-year project work.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983480" y="1316736"/>
            <a:ext cx="2057400" cy="292608"/>
          </a:xfrm>
          <a:prstGeom prst="roundRect">
            <a:avLst>
              <a:gd name="adj" fmla="val 37500"/>
            </a:avLst>
          </a:prstGeom>
          <a:solidFill>
            <a:srgbClr val="0B2448"/>
          </a:solidFill>
          <a:ln w="12700">
            <a:solidFill>
              <a:srgbClr val="0B244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1385316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A7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11384280" y="64465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594360" y="6510528"/>
            <a:ext cx="1056132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-1097280" y="-1097280"/>
            <a:ext cx="5303520" cy="5303520"/>
          </a:xfrm>
          <a:prstGeom prst="arc">
            <a:avLst/>
          </a:prstGeom>
          <a:solidFill>
            <a:srgbClr val="2563EB">
              <a:alpha val="5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7863840" y="3383280"/>
            <a:ext cx="5669280" cy="5669280"/>
          </a:xfrm>
          <a:prstGeom prst="arc">
            <a:avLst/>
          </a:prstGeom>
          <a:solidFill>
            <a:srgbClr val="06B6D4">
              <a:alpha val="3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657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2179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0280" y="1536192"/>
            <a:ext cx="7726680" cy="694944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2700000">
              <a:srgbClr val="06B6D4">
                <a:alpha val="3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3" name="Text 31"/>
          <p:cNvSpPr/>
          <p:nvPr/>
        </p:nvSpPr>
        <p:spPr>
          <a:xfrm>
            <a:off x="4370832" y="25146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975104" y="4050792"/>
            <a:ext cx="1828800" cy="1554480"/>
          </a:xfrm>
          <a:prstGeom prst="roundRect">
            <a:avLst>
              <a:gd name="adj" fmla="val 2941"/>
            </a:avLst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0240" y="397764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5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12848" y="4224528"/>
            <a:ext cx="1243584" cy="1024128"/>
          </a:xfrm>
          <a:prstGeom prst="roundRect">
            <a:avLst>
              <a:gd name="adj" fmla="val 7143"/>
            </a:avLst>
          </a:prstGeom>
          <a:solidFill>
            <a:srgbClr val="F8FBFF">
              <a:alpha val="95000"/>
            </a:srgbClr>
          </a:solidFill>
          <a:ln w="15240">
            <a:solidFill>
              <a:srgbClr val="7FB3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77440" y="4389120"/>
            <a:ext cx="914400" cy="694944"/>
          </a:xfrm>
          <a:prstGeom prst="line">
            <a:avLst/>
          </a:prstGeom>
          <a:noFill/>
          <a:ln w="10160">
            <a:solidFill>
              <a:srgbClr val="A9C8F8">
                <a:alpha val="8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0" y="4389120"/>
            <a:ext cx="-914400" cy="694944"/>
          </a:xfrm>
          <a:prstGeom prst="line">
            <a:avLst/>
          </a:prstGeom>
          <a:noFill/>
          <a:ln w="10160">
            <a:solidFill>
              <a:srgbClr val="A9C8F8">
                <a:alpha val="8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68880" y="45262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QR CODE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2468880" y="48463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QR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72584" y="4050792"/>
            <a:ext cx="5669280" cy="1554480"/>
          </a:xfrm>
          <a:prstGeom prst="roundRect">
            <a:avLst>
              <a:gd name="adj" fmla="val 2941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17720" y="397764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DD7FF">
                <a:alpha val="45000"/>
              </a:srgbClr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1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074920" y="4343400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 URL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74920" y="48006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https://your-buildflow-ai-deployment-url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926080" y="6199632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BB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AJAY M | SHAFI AHMED F | VIDYASAAGAR M</a:t>
            </a:r>
            <a:endParaRPr lang="en-US" sz="88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6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6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 fill="hold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Rajiv Gandhi College of Engineering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BuildFlow AI - AI-Based Project Planning Assistant</dc:title>
  <dc:subject>Final-year mini project review presentation</dc:subject>
  <dc:creator>BuildFlow AI Team</dc:creator>
  <cp:lastModifiedBy>BuildFlow AI Team</cp:lastModifiedBy>
  <cp:revision>1</cp:revision>
  <dcterms:created xsi:type="dcterms:W3CDTF">2026-05-10T15:44:13Z</dcterms:created>
  <dcterms:modified xsi:type="dcterms:W3CDTF">2026-05-10T15:44:13Z</dcterms:modified>
</cp:coreProperties>
</file>