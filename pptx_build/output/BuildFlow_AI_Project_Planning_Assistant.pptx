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 vision: a planning assistant that transforms vague ideas into structured project blueprints.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problem statement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motivation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objectives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existing system &amp; limitations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solution as a connected planning system, not a one-off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features as a system: input, intelligence, artifacts, and persistent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with the final system architecture diagram during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timeline as the primary demo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stack by layers: client, server, storage, AI,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module to implementation responsibilities.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staged generation as the reason outputs are more consistent than a generic chat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continuity: the project remembers its planning state instead of starting from zero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list the generated outputs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prompts as the bridge between planning and actual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BuildFlow AI is not replacing existing tools, but connecting planning artifacts with memory and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testing as a validation plan. Replace with actual results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real screenshots: dashboard, generated BRD/SRS, and prompt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expected/achieved benefits, depending on demo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future enhancements to discuss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impact statement and transition to demo/questions.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URL and QR code once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1783080" cy="6858000"/>
          </a:xfrm>
          <a:prstGeom prst="rect">
            <a:avLst/>
          </a:prstGeom>
          <a:solidFill>
            <a:srgbClr val="285FEB"/>
          </a:solidFill>
          <a:ln w="12700">
            <a:solidFill>
              <a:srgbClr val="285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1783080" cy="6858000"/>
          </a:xfrm>
          <a:prstGeom prst="rect">
            <a:avLst/>
          </a:prstGeom>
          <a:solidFill>
            <a:srgbClr val="3159EA"/>
          </a:solidFill>
          <a:ln w="12700">
            <a:solidFill>
              <a:srgbClr val="3159E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1783080" cy="6858000"/>
          </a:xfrm>
          <a:prstGeom prst="rect">
            <a:avLst/>
          </a:prstGeom>
          <a:solidFill>
            <a:srgbClr val="3B52E8"/>
          </a:solidFill>
          <a:ln w="12700">
            <a:solidFill>
              <a:srgbClr val="3B5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1783080" cy="6858000"/>
          </a:xfrm>
          <a:prstGeom prst="rect">
            <a:avLst/>
          </a:prstGeom>
          <a:solidFill>
            <a:srgbClr val="444CE6"/>
          </a:solidFill>
          <a:ln w="12700">
            <a:solidFill>
              <a:srgbClr val="444C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1783080" cy="6858000"/>
          </a:xfrm>
          <a:prstGeom prst="rect">
            <a:avLst/>
          </a:prstGeom>
          <a:solidFill>
            <a:srgbClr val="4B48E5"/>
          </a:solidFill>
          <a:ln w="12700">
            <a:solidFill>
              <a:srgbClr val="4B48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178308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900000">
            <a:off x="-1051560" y="-1005840"/>
            <a:ext cx="4937760" cy="4937760"/>
          </a:xfrm>
          <a:prstGeom prst="arc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600000">
            <a:off x="8138160" y="3657600"/>
            <a:ext cx="5212080" cy="5212080"/>
          </a:xfrm>
          <a:prstGeom prst="arc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987552"/>
            <a:ext cx="5852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27940" dist="50800" dir="2700000">
              <a:srgbClr val="06B6D4">
                <a:alpha val="46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</a:t>
            </a:r>
            <a:endParaRPr lang="en-US" sz="5100" dirty="0"/>
          </a:p>
        </p:txBody>
      </p:sp>
      <p:sp>
        <p:nvSpPr>
          <p:cNvPr id="38" name="Text 36"/>
          <p:cNvSpPr/>
          <p:nvPr/>
        </p:nvSpPr>
        <p:spPr>
          <a:xfrm>
            <a:off x="786384" y="182880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Project Planning Assistant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804672" y="2359152"/>
            <a:ext cx="1298448" cy="0"/>
          </a:xfrm>
          <a:prstGeom prst="line">
            <a:avLst/>
          </a:prstGeom>
          <a:noFill/>
          <a:ln w="4064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2532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Final-Year Mini Project Review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50392" y="4041648"/>
            <a:ext cx="6053328" cy="1508760"/>
          </a:xfrm>
          <a:prstGeom prst="roundRect">
            <a:avLst>
              <a:gd name="adj" fmla="val 727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3968496"/>
            <a:ext cx="6053328" cy="1508760"/>
          </a:xfrm>
          <a:prstGeom prst="roundRect">
            <a:avLst>
              <a:gd name="adj" fmla="val 9697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78992" y="426110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1078992" y="459028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(23TD0003)   SHAFI AHMED F (23TD0076)   VIDYASAAGAR M (23TD0091)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1078992" y="4901184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R. G. Suresh Kumar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133088" y="490118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078992" y="519379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Rajiv Gandhi College of Engineering and Technology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424928" y="1152144"/>
            <a:ext cx="3611880" cy="3611880"/>
          </a:xfrm>
          <a:prstGeom prst="roundRect">
            <a:avLst>
              <a:gd name="adj" fmla="val 303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60920" y="1078992"/>
            <a:ext cx="3611880" cy="3611880"/>
          </a:xfrm>
          <a:prstGeom prst="roundRect">
            <a:avLst>
              <a:gd name="adj" fmla="val 4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94192" y="1901952"/>
            <a:ext cx="1517904" cy="15179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06B6D4">
                <a:alpha val="7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59952" y="2267712"/>
            <a:ext cx="786384" cy="786384"/>
          </a:xfrm>
          <a:prstGeom prst="ellipse">
            <a:avLst/>
          </a:prstGeom>
          <a:solidFill>
            <a:srgbClr val="06B6D4">
              <a:alpha val="94000"/>
            </a:srgbClr>
          </a:solidFill>
          <a:ln w="12700">
            <a:solidFill>
              <a:srgbClr val="A7F3FF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73568" y="160020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73568" y="1755648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9893808" y="157276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93808" y="172821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SRS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882128" y="331012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82128" y="346557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0012680" y="327355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12680" y="3429000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8906256" y="395020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06256" y="41056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8193024" y="1819656"/>
            <a:ext cx="566928" cy="539496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93808" y="1792224"/>
            <a:ext cx="-365760" cy="566928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01584" y="3310128"/>
            <a:ext cx="658368" cy="-438912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12680" y="3273552"/>
            <a:ext cx="-484632" cy="-420624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25712" y="3950208"/>
            <a:ext cx="64008" cy="-896112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">
            <a:off x="10442448" y="4736592"/>
            <a:ext cx="658368" cy="658368"/>
          </a:xfrm>
          <a:prstGeom prst="cube">
            <a:avLst/>
          </a:prstGeom>
          <a:solidFill>
            <a:srgbClr val="06B6D4">
              <a:alpha val="78000"/>
            </a:srgbClr>
          </a:solidFill>
          <a:ln w="12700">
            <a:solidFill>
              <a:srgbClr val="A7F3FF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960000">
            <a:off x="7845552" y="4974336"/>
            <a:ext cx="438912" cy="438912"/>
          </a:xfrm>
          <a:prstGeom prst="diamond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A7F3FF">
                <a:alpha val="5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89520" y="50840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Blueprints to execution in one AI workflow</a:t>
            </a:r>
            <a:endParaRPr lang="en-US" sz="88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Brand glow 2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1" name="Brand cyan wash 2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2" name="Brand micro chip 2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3" name="Brand chip text 2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and small teams lose time turning ideas into execution-ready plans.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ideas start vague and incomplete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BRD/SRS writing is manual and inconsistent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tools do not understand project context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struggle to convert goals into tasks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outputs often vanish after one prompt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Unclear scope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Rework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Delayed execution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Brand glow 3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1" name="Brand cyan wash 3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2" name="Brand micro chip 3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3" name="Brand chip text 3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Motivation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planning-first assistant can shorten the gap between idea and implementation.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Final-year projects need fast clarity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create structured planning artifacts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teams expect product-grade workflows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memory improves continuity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prompts help move into coding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Execute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Brand glow 4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1" name="Brand cyan wash 4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2" name="Brand micro chip 4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3" name="Brand chip text 4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web assistant that creates reliable planning artifacts from a project idea.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project intent through guided input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BRD, SRS, roadmap, to-do list, and prompts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blueprint memory for reuse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authenticated project workspaces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 deployable SaaS-style prototype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Structured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Deployable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Brand glow 5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1" name="Brand cyan wash 5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2" name="Brand micro chip 5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3" name="Brand chip text 5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Existing System &amp; Limitations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planning approaches are fragmented across documents, notes, and generic AI chats.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templates take time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chatbots lack project memory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trackers do not create specifications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and implementation prompts are separated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continuity is weak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Docs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Chat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Tasks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Brand glow 6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5" name="Brand cyan wash 6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6" name="Brand micro chip 6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7" name="Brand chip text 6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Proposed Solution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converts raw project ideas into reusable blueprints and implementation-ready outputs.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462272" y="2011680"/>
            <a:ext cx="3383280" cy="1353312"/>
          </a:xfrm>
          <a:prstGeom prst="roundRect">
            <a:avLst>
              <a:gd name="adj" fmla="val 337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7408" y="1938528"/>
            <a:ext cx="3383280" cy="1353312"/>
          </a:xfrm>
          <a:prstGeom prst="roundRect">
            <a:avLst>
              <a:gd name="adj" fmla="val 54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8DD7FF">
                <a:alpha val="5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36592" y="2322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 Engine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36592" y="27432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generation + memory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60704" y="19933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" y="19202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70432" y="20665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7028" y="2148840"/>
            <a:ext cx="0" cy="22860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2728" y="2263140"/>
            <a:ext cx="22860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98448" y="2194560"/>
            <a:ext cx="137160" cy="13716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35608" y="2194560"/>
            <a:ext cx="-137160" cy="13716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64208" y="2167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Input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3054096" y="2295144"/>
            <a:ext cx="125272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289304" y="40507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3977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99032" y="41239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20922" y="4245834"/>
            <a:ext cx="149413" cy="149413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4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81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92808" y="4224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Planning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3282696" y="4352544"/>
            <a:ext cx="102412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07424" y="19933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560" y="19202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217152" y="20665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11518" y="2145182"/>
            <a:ext cx="204460" cy="228051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10928" y="2167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Memory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7790688" y="2295144"/>
            <a:ext cx="120700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triangl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878824" y="40507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23960" y="3977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988552" y="41239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02578" y="4198650"/>
            <a:ext cx="165141" cy="216256"/>
          </a:xfrm>
          <a:prstGeom prst="roundRect">
            <a:avLst>
              <a:gd name="adj" fmla="val 11074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30101" y="4269425"/>
            <a:ext cx="9829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30101" y="4320540"/>
            <a:ext cx="8650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82328" y="4224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7790688" y="4352544"/>
            <a:ext cx="97840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triangl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Brand glow 7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82" name="Brand cyan wash 7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83" name="Brand micro chip 7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84" name="Brand chip text 7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Features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feature set for planning, memory, generation, and deployment.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03020" y="209397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" y="226314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9576" y="213969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213969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9164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Blueprint</a:t>
            </a:r>
            <a:endParaRPr lang="en-US" sz="1340" dirty="0"/>
          </a:p>
        </p:txBody>
      </p:sp>
      <p:sp>
        <p:nvSpPr>
          <p:cNvPr id="43" name="Text 41"/>
          <p:cNvSpPr/>
          <p:nvPr/>
        </p:nvSpPr>
        <p:spPr>
          <a:xfrm>
            <a:off x="169164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idea details into structured project context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58114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00727" y="2107235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5931" y="2197760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5931" y="2263140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BRD and SRS</a:t>
            </a:r>
            <a:endParaRPr lang="en-US" sz="1340" dirty="0"/>
          </a:p>
        </p:txBody>
      </p:sp>
      <p:sp>
        <p:nvSpPr>
          <p:cNvPr id="51" name="Text 49"/>
          <p:cNvSpPr/>
          <p:nvPr/>
        </p:nvSpPr>
        <p:spPr>
          <a:xfrm>
            <a:off x="539496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academic-ready planning documents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828446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45820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14105" y="2167585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81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9828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Roadmap</a:t>
            </a:r>
            <a:endParaRPr lang="en-US" sz="1340" dirty="0"/>
          </a:p>
        </p:txBody>
      </p:sp>
      <p:sp>
        <p:nvSpPr>
          <p:cNvPr id="61" name="Text 59"/>
          <p:cNvSpPr/>
          <p:nvPr/>
        </p:nvSpPr>
        <p:spPr>
          <a:xfrm>
            <a:off x="909828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phases, milestones, and implementation order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87782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5156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4006444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69164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To-Do List</a:t>
            </a:r>
            <a:endParaRPr lang="en-US" sz="1340" dirty="0"/>
          </a:p>
        </p:txBody>
      </p:sp>
      <p:sp>
        <p:nvSpPr>
          <p:cNvPr id="67" name="Text 65"/>
          <p:cNvSpPr/>
          <p:nvPr/>
        </p:nvSpPr>
        <p:spPr>
          <a:xfrm>
            <a:off x="169164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Breaks work into actionable tasks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458114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2628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5488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4006444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39496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Prompts</a:t>
            </a:r>
            <a:endParaRPr lang="en-US" sz="1340" dirty="0"/>
          </a:p>
        </p:txBody>
      </p:sp>
      <p:sp>
        <p:nvSpPr>
          <p:cNvPr id="73" name="Text 71"/>
          <p:cNvSpPr/>
          <p:nvPr/>
        </p:nvSpPr>
        <p:spPr>
          <a:xfrm>
            <a:off x="539496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implementation prompts for coding support</a:t>
            </a:r>
            <a:endParaRPr lang="en-US" sz="890" dirty="0"/>
          </a:p>
        </p:txBody>
      </p:sp>
      <p:sp>
        <p:nvSpPr>
          <p:cNvPr id="74" name="Shape 72"/>
          <p:cNvSpPr/>
          <p:nvPr/>
        </p:nvSpPr>
        <p:spPr>
          <a:xfrm>
            <a:off x="828446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78901" y="3941064"/>
            <a:ext cx="261518" cy="291694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9828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Project Memory</a:t>
            </a:r>
            <a:endParaRPr lang="en-US" sz="1340" dirty="0"/>
          </a:p>
        </p:txBody>
      </p:sp>
      <p:sp>
        <p:nvSpPr>
          <p:cNvPr id="79" name="Text 77"/>
          <p:cNvSpPr/>
          <p:nvPr/>
        </p:nvSpPr>
        <p:spPr>
          <a:xfrm>
            <a:off x="909828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and reuses blueprint context</a:t>
            </a:r>
            <a:endParaRPr lang="en-US" sz="890" dirty="0"/>
          </a:p>
        </p:txBody>
      </p:sp>
      <p:sp>
        <p:nvSpPr>
          <p:cNvPr id="80" name="Text 78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5" dur="52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Brand glow 8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6" name="Brand cyan wash 8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7" name="Brand micro chip 8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8" name="Brand chip text 8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AI gateway, and Firebase services form a modular SaaS architecture.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743200" y="1664208"/>
            <a:ext cx="6629400" cy="4160520"/>
          </a:xfrm>
          <a:prstGeom prst="roundRect">
            <a:avLst>
              <a:gd name="adj" fmla="val 1758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7792" y="1828800"/>
            <a:ext cx="6300216" cy="3831336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08008" y="1828800"/>
            <a:ext cx="-6300216" cy="3831336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3534156"/>
            <a:ext cx="6117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SYSTEM ARCHITECTURE DIAGRAM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999232" y="3854196"/>
            <a:ext cx="6117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final architecture diagram here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" y="1993392"/>
            <a:ext cx="1600200" cy="804672"/>
          </a:xfrm>
          <a:prstGeom prst="roundRect">
            <a:avLst>
              <a:gd name="adj" fmla="val 568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192024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32688" y="2112264"/>
            <a:ext cx="329184" cy="329184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2220895"/>
            <a:ext cx="329184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71600" y="206654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371600" y="230428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UI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804672" y="3456432"/>
            <a:ext cx="1600200" cy="804672"/>
          </a:xfrm>
          <a:prstGeom prst="roundRect">
            <a:avLst>
              <a:gd name="adj" fmla="val 568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338328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32688" y="3575304"/>
            <a:ext cx="329184" cy="329184"/>
          </a:xfrm>
          <a:prstGeom prst="ellipse">
            <a:avLst/>
          </a:prstGeom>
          <a:solidFill>
            <a:srgbClr val="EEF6FF"/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400000">
            <a:off x="1018276" y="3641141"/>
            <a:ext cx="158008" cy="171176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0" y="352958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1371600" y="376732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sign-in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9884664" y="1673352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0" y="1600200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012680" y="1792224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09058" y="1888602"/>
            <a:ext cx="118140" cy="1181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81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24160" y="17465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424160" y="1965960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orchestration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9884664" y="2916936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9800" y="2843784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012680" y="3035808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87295" y="3097987"/>
            <a:ext cx="161666" cy="180320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24160" y="299008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424160" y="3209544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memory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9884664" y="4160520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29800" y="408736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012680" y="4279392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4859" y="4366443"/>
            <a:ext cx="186538" cy="130576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24160" y="42336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424160" y="4453128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responses</a:t>
            </a:r>
            <a:endParaRPr lang="en-US" sz="640" dirty="0"/>
          </a:p>
        </p:txBody>
      </p:sp>
      <p:sp>
        <p:nvSpPr>
          <p:cNvPr id="74" name="Text 72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Brand glow 9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61" name="Brand cyan wash 9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62" name="Brand micro chip 9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63" name="Brand chip text 9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Workflow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motion-inspired timeline from raw idea to review-ready planning output.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3337560"/>
            <a:ext cx="10287000" cy="0"/>
          </a:xfrm>
          <a:prstGeom prst="line">
            <a:avLst/>
          </a:prstGeom>
          <a:noFill/>
          <a:ln w="38100">
            <a:solidFill>
              <a:srgbClr val="3B82F6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9536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9536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Enter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9184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goal, domain, features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072384" y="29718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6B6D4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072384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70048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Refine context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542032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builds blueprint memory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285232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285232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Generate docs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5488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roadmap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498080" y="29718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6B6D4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498080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95744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 tasks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967728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To-do list with order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710928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710928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308592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80576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and deployment flow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709160" y="5522976"/>
            <a:ext cx="2697480" cy="292608"/>
          </a:xfrm>
          <a:prstGeom prst="roundRect">
            <a:avLst>
              <a:gd name="adj" fmla="val 37500"/>
            </a:avLst>
          </a:prstGeom>
          <a:solidFill>
            <a:srgbClr val="0B2448"/>
          </a:solidFill>
          <a:ln w="12700">
            <a:solidFill>
              <a:srgbClr val="0B2448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559155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HORIZONTAL TIMELINE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Brand glow 10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100" name="Brand cyan wash 10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101" name="Brand micro chip 10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102" name="Brand chip text 10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modern full-stack implementation optimized for speed, security, and deployment.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81328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69264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React.js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969264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3145536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90672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49040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36976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Vite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3236976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tool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413248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58384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16752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04688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Tailwind CSS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5504688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styling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7680960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26096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84464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84464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772400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Node.js</a:t>
            </a:r>
            <a:endParaRPr lang="en-US" sz="940" dirty="0"/>
          </a:p>
        </p:txBody>
      </p:sp>
      <p:sp>
        <p:nvSpPr>
          <p:cNvPr id="58" name="Text 56"/>
          <p:cNvSpPr/>
          <p:nvPr/>
        </p:nvSpPr>
        <p:spPr>
          <a:xfrm>
            <a:off x="7772400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9948672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93808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552176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52176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040112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Express.js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10040112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77824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481328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1595445" y="3617366"/>
            <a:ext cx="210678" cy="228234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9264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Firebase Auth</a:t>
            </a:r>
            <a:endParaRPr lang="en-US" sz="940" dirty="0"/>
          </a:p>
        </p:txBody>
      </p:sp>
      <p:sp>
        <p:nvSpPr>
          <p:cNvPr id="70" name="Text 68"/>
          <p:cNvSpPr/>
          <p:nvPr/>
        </p:nvSpPr>
        <p:spPr>
          <a:xfrm>
            <a:off x="969264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3145536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90672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749040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54379" y="3617366"/>
            <a:ext cx="228234" cy="254569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36976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940" dirty="0"/>
          </a:p>
        </p:txBody>
      </p:sp>
      <p:sp>
        <p:nvSpPr>
          <p:cNvPr id="76" name="Text 74"/>
          <p:cNvSpPr/>
          <p:nvPr/>
        </p:nvSpPr>
        <p:spPr>
          <a:xfrm>
            <a:off x="3236976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413248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58384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016752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36208" y="3611880"/>
            <a:ext cx="0" cy="27432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99048" y="3749040"/>
            <a:ext cx="27432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44768" y="3657600"/>
            <a:ext cx="18288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27648" y="3657600"/>
            <a:ext cx="-18288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04688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OpenRouter</a:t>
            </a:r>
            <a:endParaRPr lang="en-US" sz="940" dirty="0"/>
          </a:p>
        </p:txBody>
      </p:sp>
      <p:sp>
        <p:nvSpPr>
          <p:cNvPr id="85" name="Text 83"/>
          <p:cNvSpPr/>
          <p:nvPr/>
        </p:nvSpPr>
        <p:spPr>
          <a:xfrm>
            <a:off x="5504688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7680960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26096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8284464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72246" y="3652479"/>
            <a:ext cx="263347" cy="184343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0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Vercel</a:t>
            </a:r>
            <a:endParaRPr lang="en-US" sz="940" dirty="0"/>
          </a:p>
        </p:txBody>
      </p:sp>
      <p:sp>
        <p:nvSpPr>
          <p:cNvPr id="91" name="Text 89"/>
          <p:cNvSpPr/>
          <p:nvPr/>
        </p:nvSpPr>
        <p:spPr>
          <a:xfrm>
            <a:off x="7772400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deploy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948672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93808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0552176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39958" y="3652479"/>
            <a:ext cx="263347" cy="184343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040112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Render</a:t>
            </a:r>
            <a:endParaRPr lang="en-US" sz="940" dirty="0"/>
          </a:p>
        </p:txBody>
      </p:sp>
      <p:sp>
        <p:nvSpPr>
          <p:cNvPr id="97" name="Text 95"/>
          <p:cNvSpPr/>
          <p:nvPr/>
        </p:nvSpPr>
        <p:spPr>
          <a:xfrm>
            <a:off x="10040112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deploy</a:t>
            </a:r>
            <a:endParaRPr lang="en-US" sz="680" dirty="0"/>
          </a:p>
        </p:txBody>
      </p:sp>
      <p:sp>
        <p:nvSpPr>
          <p:cNvPr id="98" name="Text 96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Brand glow 11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0" name="Brand cyan wash 11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1" name="Brand micro chip 11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2" name="Brand chip text 11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Modules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divided into focused modules for maintainability.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24128" y="157276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5400000">
            <a:off x="1123980" y="1649578"/>
            <a:ext cx="184343" cy="199705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16093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Authentication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3703320" y="161848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sign-in and protected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00200" y="201168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244144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2568184"/>
            <a:ext cx="384048" cy="84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600200" y="24780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Project Input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3703320" y="248716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goals, domain, features, constraints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00200" y="288036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" y="331012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16152" y="3392424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6424" y="3502152"/>
            <a:ext cx="21945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" y="3438144"/>
            <a:ext cx="128016" cy="1280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0160" y="3438144"/>
            <a:ext cx="-128016" cy="1280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0200" y="33467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Generation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3703320" y="335584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model prompts and responses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00200" y="374904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28" y="417880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35502" y="4251777"/>
            <a:ext cx="161300" cy="211226"/>
          </a:xfrm>
          <a:prstGeom prst="roundRect">
            <a:avLst>
              <a:gd name="adj" fmla="val 1133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2385" y="4320906"/>
            <a:ext cx="9601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2385" y="4370832"/>
            <a:ext cx="84491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00200" y="42153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 Output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3703320" y="422452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Formats BRD, SRS, roadmap, tasks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00200" y="461772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4128" y="504748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6300" y="5124298"/>
            <a:ext cx="199705" cy="222748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00200" y="50840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Blueprint Memory</a:t>
            </a:r>
            <a:endParaRPr lang="en-US" sz="1220" dirty="0"/>
          </a:p>
        </p:txBody>
      </p:sp>
      <p:sp>
        <p:nvSpPr>
          <p:cNvPr id="63" name="Text 61"/>
          <p:cNvSpPr/>
          <p:nvPr/>
        </p:nvSpPr>
        <p:spPr>
          <a:xfrm>
            <a:off x="3703320" y="509320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project context in Firestore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00200" y="548640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01784" y="1810512"/>
            <a:ext cx="1737360" cy="3547872"/>
          </a:xfrm>
          <a:prstGeom prst="roundRect">
            <a:avLst>
              <a:gd name="adj" fmla="val 263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46920" y="1737360"/>
            <a:ext cx="1737360" cy="354787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948672" y="2139696"/>
            <a:ext cx="1115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Modular design keeps review, testing, and future upgrades simple.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5" dur="5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Brand glow 12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63" name="Brand cyan wash 12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64" name="Brand micro chip 12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65" name="Brand chip text 12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Planning Stages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moves from understanding to artifacts through staged reasoning.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96112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2412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60704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60704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idea, scope, stakeholders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163824" y="2514600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0" y="2441448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0" y="26883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328416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328416" y="363016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modules and deliverables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431536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6672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559552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596128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596128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Roadmap, tasks, milestones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699248" y="2514600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44384" y="2441448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827264" y="26883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863840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Generate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863840" y="363016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prompts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9966960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12096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094976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0131552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Refine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131552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and reuse blueprint memory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Brand glow 13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57" name="Brand cyan wash 13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58" name="Brand micro chip 13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59" name="Brand chip text 13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Blueprint Memory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context lets every generated output refer to the same project blueprint.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23544" y="1673352"/>
            <a:ext cx="3703320" cy="3977640"/>
          </a:xfrm>
          <a:prstGeom prst="roundRect">
            <a:avLst>
              <a:gd name="adj" fmla="val 1235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1600200"/>
            <a:ext cx="3703320" cy="39776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07008" y="19019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Memory Payload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1261872" y="25420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81328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 and domain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1261872" y="30175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1328" y="2944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objective</a:t>
            </a:r>
            <a:endParaRPr lang="en-US" sz="1240" dirty="0"/>
          </a:p>
        </p:txBody>
      </p:sp>
      <p:sp>
        <p:nvSpPr>
          <p:cNvPr id="42" name="Shape 40"/>
          <p:cNvSpPr/>
          <p:nvPr/>
        </p:nvSpPr>
        <p:spPr>
          <a:xfrm>
            <a:off x="1261872" y="349300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81328" y="3419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1261872" y="396849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81328" y="3895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 choices</a:t>
            </a:r>
            <a:endParaRPr lang="en-US" sz="1240" dirty="0"/>
          </a:p>
        </p:txBody>
      </p:sp>
      <p:sp>
        <p:nvSpPr>
          <p:cNvPr id="46" name="Shape 44"/>
          <p:cNvSpPr/>
          <p:nvPr/>
        </p:nvSpPr>
        <p:spPr>
          <a:xfrm>
            <a:off x="1261872" y="44439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81328" y="4370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artifact history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5138928" y="2788920"/>
            <a:ext cx="1097280" cy="749808"/>
          </a:xfrm>
          <a:prstGeom prst="chevron">
            <a:avLst/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11696" y="1673352"/>
            <a:ext cx="4160520" cy="3977640"/>
          </a:xfrm>
          <a:prstGeom prst="roundRect">
            <a:avLst>
              <a:gd name="adj" fmla="val 114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160020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11312" y="1993392"/>
            <a:ext cx="749808" cy="74980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1266" y="2143354"/>
            <a:ext cx="389900" cy="434889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3216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178040" y="35295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blueprint memory keeps future BRD, SRS, roadmap, and prompt outputs aligned.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Brand glow 14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7" name="Brand cyan wash 14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8" name="Brand micro chip 14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79" name="Brand chip text 14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 Generation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produces review-friendly planning artifacts from one project blueprint.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96112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08176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61978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99103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99103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BRD</a:t>
            </a:r>
            <a:endParaRPr lang="en-US" sz="1360" dirty="0"/>
          </a:p>
        </p:txBody>
      </p:sp>
      <p:sp>
        <p:nvSpPr>
          <p:cNvPr id="42" name="Text 40"/>
          <p:cNvSpPr/>
          <p:nvPr/>
        </p:nvSpPr>
        <p:spPr>
          <a:xfrm>
            <a:off x="1005840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requirement framing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08960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54096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21024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74826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1951" y="2518806"/>
            <a:ext cx="1325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11951" y="2587752"/>
            <a:ext cx="116677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SRS</a:t>
            </a:r>
            <a:endParaRPr lang="en-US" sz="1360" dirty="0"/>
          </a:p>
        </p:txBody>
      </p:sp>
      <p:sp>
        <p:nvSpPr>
          <p:cNvPr id="50" name="Text 48"/>
          <p:cNvSpPr/>
          <p:nvPr/>
        </p:nvSpPr>
        <p:spPr>
          <a:xfrm>
            <a:off x="3218688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and non-functional requirements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21808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66944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33872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7674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24799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24799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Roadmap</a:t>
            </a:r>
            <a:endParaRPr lang="en-US" sz="1360" dirty="0"/>
          </a:p>
        </p:txBody>
      </p:sp>
      <p:sp>
        <p:nvSpPr>
          <p:cNvPr id="58" name="Text 56"/>
          <p:cNvSpPr/>
          <p:nvPr/>
        </p:nvSpPr>
        <p:spPr>
          <a:xfrm>
            <a:off x="5431536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and implementation phases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534656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79792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046720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00522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37647" y="2518806"/>
            <a:ext cx="1325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37647" y="2587752"/>
            <a:ext cx="116677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44384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To-Do List</a:t>
            </a:r>
            <a:endParaRPr lang="en-US" sz="1360" dirty="0"/>
          </a:p>
        </p:txBody>
      </p:sp>
      <p:sp>
        <p:nvSpPr>
          <p:cNvPr id="66" name="Text 64"/>
          <p:cNvSpPr/>
          <p:nvPr/>
        </p:nvSpPr>
        <p:spPr>
          <a:xfrm>
            <a:off x="7644384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execution checklist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747504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92640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259568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13370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50495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0495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57232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Prompts</a:t>
            </a:r>
            <a:endParaRPr lang="en-US" sz="1360" dirty="0"/>
          </a:p>
        </p:txBody>
      </p:sp>
      <p:sp>
        <p:nvSpPr>
          <p:cNvPr id="74" name="Text 72"/>
          <p:cNvSpPr/>
          <p:nvPr/>
        </p:nvSpPr>
        <p:spPr>
          <a:xfrm>
            <a:off x="9857232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Coding-ready implementation guidance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Brand glow 15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58" name="Brand cyan wash 15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59" name="Brand micro chip 15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60" name="Brand chip text 15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 Generation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prompts convert planning decisions into developer-ready instructions.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3544" y="1700784"/>
            <a:ext cx="4681728" cy="3977640"/>
          </a:xfrm>
          <a:prstGeom prst="roundRect">
            <a:avLst>
              <a:gd name="adj" fmla="val 1149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627632"/>
            <a:ext cx="4681728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70432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 Template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24871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Role: Senior full-stack engineer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1243584" y="29077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BuildFlow AI blueprint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1243584" y="33284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Implement selected module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12435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Constraints: React + Firebase + Express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1243584" y="4169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Steps, files, and tests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6501384" y="1700784"/>
            <a:ext cx="4480560" cy="3977640"/>
          </a:xfrm>
          <a:prstGeom prst="roundRect">
            <a:avLst>
              <a:gd name="adj" fmla="val 1149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627632"/>
            <a:ext cx="448056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3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03720" y="22494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23176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implementation ambiguity</a:t>
            </a:r>
            <a:endParaRPr lang="en-US" sz="1230" dirty="0"/>
          </a:p>
        </p:txBody>
      </p:sp>
      <p:sp>
        <p:nvSpPr>
          <p:cNvPr id="48" name="Shape 46"/>
          <p:cNvSpPr/>
          <p:nvPr/>
        </p:nvSpPr>
        <p:spPr>
          <a:xfrm>
            <a:off x="6903720" y="27066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23176" y="2633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AI coding aligned to scope</a:t>
            </a:r>
            <a:endParaRPr lang="en-US" sz="1230" dirty="0"/>
          </a:p>
        </p:txBody>
      </p:sp>
      <p:sp>
        <p:nvSpPr>
          <p:cNvPr id="50" name="Shape 48"/>
          <p:cNvSpPr/>
          <p:nvPr/>
        </p:nvSpPr>
        <p:spPr>
          <a:xfrm>
            <a:off x="6903720" y="31638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3090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module-by-module progress</a:t>
            </a:r>
            <a:endParaRPr lang="en-US" sz="1230" dirty="0"/>
          </a:p>
        </p:txBody>
      </p:sp>
      <p:sp>
        <p:nvSpPr>
          <p:cNvPr id="52" name="Shape 50"/>
          <p:cNvSpPr/>
          <p:nvPr/>
        </p:nvSpPr>
        <p:spPr>
          <a:xfrm>
            <a:off x="6903720" y="36210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23176" y="3547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reproducibility</a:t>
            </a:r>
            <a:endParaRPr lang="en-US" sz="1230" dirty="0"/>
          </a:p>
        </p:txBody>
      </p:sp>
      <p:sp>
        <p:nvSpPr>
          <p:cNvPr id="54" name="Shape 52"/>
          <p:cNvSpPr/>
          <p:nvPr/>
        </p:nvSpPr>
        <p:spPr>
          <a:xfrm>
            <a:off x="6903720" y="40782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3176" y="4005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students explain decisions</a:t>
            </a:r>
            <a:endParaRPr lang="en-US" sz="1230" dirty="0"/>
          </a:p>
        </p:txBody>
      </p:sp>
      <p:sp>
        <p:nvSpPr>
          <p:cNvPr id="56" name="Text 5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Brand glow 16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99" name="Brand cyan wash 16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100" name="Brand micro chip 16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101" name="Brand chip text 16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Competitive Comparison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combines planning, memory, and academic deliverables in one workflow.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32104" y="167335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FE1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7240" y="1600200"/>
            <a:ext cx="246888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" y="1773936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324612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Docs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521208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Chat AI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17804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8776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Trackers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9144000" y="1600200"/>
            <a:ext cx="22860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1773936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777240" y="210312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2331720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project planning</a:t>
            </a:r>
            <a:endParaRPr lang="en-US" sz="790" dirty="0"/>
          </a:p>
        </p:txBody>
      </p:sp>
      <p:sp>
        <p:nvSpPr>
          <p:cNvPr id="49" name="Shape 47"/>
          <p:cNvSpPr/>
          <p:nvPr/>
        </p:nvSpPr>
        <p:spPr>
          <a:xfrm>
            <a:off x="324612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521208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2180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717804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9144000" y="2103120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53728" y="2331720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777240" y="276148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" y="2990088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BRD/SRS generation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324612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584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790" dirty="0"/>
          </a:p>
        </p:txBody>
      </p:sp>
      <p:sp>
        <p:nvSpPr>
          <p:cNvPr id="61" name="Shape 59"/>
          <p:cNvSpPr/>
          <p:nvPr/>
        </p:nvSpPr>
        <p:spPr>
          <a:xfrm>
            <a:off x="521208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790" dirty="0"/>
          </a:p>
        </p:txBody>
      </p:sp>
      <p:sp>
        <p:nvSpPr>
          <p:cNvPr id="63" name="Shape 61"/>
          <p:cNvSpPr/>
          <p:nvPr/>
        </p:nvSpPr>
        <p:spPr>
          <a:xfrm>
            <a:off x="717804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8776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65" name="Shape 63"/>
          <p:cNvSpPr/>
          <p:nvPr/>
        </p:nvSpPr>
        <p:spPr>
          <a:xfrm>
            <a:off x="9144000" y="2761488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53728" y="2990088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</a:t>
            </a:r>
            <a:endParaRPr lang="en-US" sz="790" dirty="0"/>
          </a:p>
        </p:txBody>
      </p:sp>
      <p:sp>
        <p:nvSpPr>
          <p:cNvPr id="67" name="Shape 65"/>
          <p:cNvSpPr/>
          <p:nvPr/>
        </p:nvSpPr>
        <p:spPr>
          <a:xfrm>
            <a:off x="777240" y="3419856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" y="3648456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blueprint memory</a:t>
            </a:r>
            <a:endParaRPr lang="en-US" sz="790" dirty="0"/>
          </a:p>
        </p:txBody>
      </p:sp>
      <p:sp>
        <p:nvSpPr>
          <p:cNvPr id="69" name="Shape 67"/>
          <p:cNvSpPr/>
          <p:nvPr/>
        </p:nvSpPr>
        <p:spPr>
          <a:xfrm>
            <a:off x="324612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71" name="Shape 69"/>
          <p:cNvSpPr/>
          <p:nvPr/>
        </p:nvSpPr>
        <p:spPr>
          <a:xfrm>
            <a:off x="521208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790" dirty="0"/>
          </a:p>
        </p:txBody>
      </p:sp>
      <p:sp>
        <p:nvSpPr>
          <p:cNvPr id="73" name="Shape 71"/>
          <p:cNvSpPr/>
          <p:nvPr/>
        </p:nvSpPr>
        <p:spPr>
          <a:xfrm>
            <a:off x="717804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8776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notes</a:t>
            </a:r>
            <a:endParaRPr lang="en-US" sz="790" dirty="0"/>
          </a:p>
        </p:txBody>
      </p:sp>
      <p:sp>
        <p:nvSpPr>
          <p:cNvPr id="75" name="Shape 73"/>
          <p:cNvSpPr/>
          <p:nvPr/>
        </p:nvSpPr>
        <p:spPr>
          <a:xfrm>
            <a:off x="9144000" y="3419856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53728" y="3648456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90" dirty="0"/>
          </a:p>
        </p:txBody>
      </p:sp>
      <p:sp>
        <p:nvSpPr>
          <p:cNvPr id="77" name="Shape 75"/>
          <p:cNvSpPr/>
          <p:nvPr/>
        </p:nvSpPr>
        <p:spPr>
          <a:xfrm>
            <a:off x="777240" y="407822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6968" y="4306824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prompts</a:t>
            </a:r>
            <a:endParaRPr lang="en-US" sz="790" dirty="0"/>
          </a:p>
        </p:txBody>
      </p:sp>
      <p:sp>
        <p:nvSpPr>
          <p:cNvPr id="79" name="Shape 77"/>
          <p:cNvSpPr/>
          <p:nvPr/>
        </p:nvSpPr>
        <p:spPr>
          <a:xfrm>
            <a:off x="324612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5584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81" name="Shape 79"/>
          <p:cNvSpPr/>
          <p:nvPr/>
        </p:nvSpPr>
        <p:spPr>
          <a:xfrm>
            <a:off x="521208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2180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</a:t>
            </a:r>
            <a:endParaRPr lang="en-US" sz="790" dirty="0"/>
          </a:p>
        </p:txBody>
      </p:sp>
      <p:sp>
        <p:nvSpPr>
          <p:cNvPr id="83" name="Shape 81"/>
          <p:cNvSpPr/>
          <p:nvPr/>
        </p:nvSpPr>
        <p:spPr>
          <a:xfrm>
            <a:off x="717804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8776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85" name="Shape 83"/>
          <p:cNvSpPr/>
          <p:nvPr/>
        </p:nvSpPr>
        <p:spPr>
          <a:xfrm>
            <a:off x="9144000" y="4078224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53728" y="4306824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</a:t>
            </a:r>
            <a:endParaRPr lang="en-US" sz="790" dirty="0"/>
          </a:p>
        </p:txBody>
      </p:sp>
      <p:sp>
        <p:nvSpPr>
          <p:cNvPr id="87" name="Shape 85"/>
          <p:cNvSpPr/>
          <p:nvPr/>
        </p:nvSpPr>
        <p:spPr>
          <a:xfrm>
            <a:off x="777240" y="473659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6968" y="4965192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review fit</a:t>
            </a:r>
            <a:endParaRPr lang="en-US" sz="790" dirty="0"/>
          </a:p>
        </p:txBody>
      </p:sp>
      <p:sp>
        <p:nvSpPr>
          <p:cNvPr id="89" name="Shape 87"/>
          <p:cNvSpPr/>
          <p:nvPr/>
        </p:nvSpPr>
        <p:spPr>
          <a:xfrm>
            <a:off x="324612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5584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790" dirty="0"/>
          </a:p>
        </p:txBody>
      </p:sp>
      <p:sp>
        <p:nvSpPr>
          <p:cNvPr id="91" name="Shape 89"/>
          <p:cNvSpPr/>
          <p:nvPr/>
        </p:nvSpPr>
        <p:spPr>
          <a:xfrm>
            <a:off x="521208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2180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790" dirty="0"/>
          </a:p>
        </p:txBody>
      </p:sp>
      <p:sp>
        <p:nvSpPr>
          <p:cNvPr id="93" name="Shape 91"/>
          <p:cNvSpPr/>
          <p:nvPr/>
        </p:nvSpPr>
        <p:spPr>
          <a:xfrm>
            <a:off x="717804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8776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95" name="Shape 93"/>
          <p:cNvSpPr/>
          <p:nvPr/>
        </p:nvSpPr>
        <p:spPr>
          <a:xfrm>
            <a:off x="9144000" y="4736592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253728" y="4965192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90" dirty="0"/>
          </a:p>
        </p:txBody>
      </p:sp>
      <p:sp>
        <p:nvSpPr>
          <p:cNvPr id="97" name="Text 95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Brand glow 17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78" name="Brand cyan wash 17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79" name="Brand micro chip 17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80" name="Brand chip text 17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Testing &amp; Validation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focuses on functionality, output quality, and deployment readiness.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1498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8872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1307592" y="2176272"/>
            <a:ext cx="219456" cy="237744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78308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Sign-in, protected routes, logout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39826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3732" y="2226564"/>
            <a:ext cx="173736" cy="17373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81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API Flow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16636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validation and response handling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778154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2668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95528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65008" y="2176272"/>
            <a:ext cx="237744" cy="265176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964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54964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read, and update blueprint data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2706624" y="382219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0" y="37490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880360" y="400507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08960" y="4087368"/>
            <a:ext cx="0" cy="29260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62656" y="4233672"/>
            <a:ext cx="29260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08376" y="4133088"/>
            <a:ext cx="201168" cy="20116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9544" y="4133088"/>
            <a:ext cx="-201168" cy="20116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0" y="3995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Output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474720" y="4343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relevance and formatting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6089904" y="382219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37490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263640" y="400507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5372" y="4146804"/>
            <a:ext cx="173736" cy="17373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54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81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0" y="3995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858000" y="4343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and backend hosted paths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Brand glow 18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54" name="Brand cyan wash 18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55" name="Brand micro chip 18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56" name="Brand chip text 18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Product Screenshots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final screenshots into the device mockups for the demo section.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32104" y="1673352"/>
            <a:ext cx="6537960" cy="4297680"/>
          </a:xfrm>
          <a:prstGeom prst="roundRect">
            <a:avLst>
              <a:gd name="adj" fmla="val 106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1600200"/>
            <a:ext cx="6537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1920240"/>
            <a:ext cx="5806440" cy="3401568"/>
          </a:xfrm>
          <a:prstGeom prst="roundRect">
            <a:avLst>
              <a:gd name="adj" fmla="val 21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3312" y="2212848"/>
            <a:ext cx="5376672" cy="2798064"/>
          </a:xfrm>
          <a:prstGeom prst="roundRect">
            <a:avLst>
              <a:gd name="adj" fmla="val 2614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2377440"/>
            <a:ext cx="5047488" cy="2468880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2377440"/>
            <a:ext cx="-5047488" cy="2468880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9344" y="3401568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APPLICATION SCREENSHOT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09344" y="3721608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mockup placeholder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5358384"/>
            <a:ext cx="14173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4424" y="1938528"/>
            <a:ext cx="3154680" cy="3794760"/>
          </a:xfrm>
          <a:prstGeom prst="roundRect">
            <a:avLst>
              <a:gd name="adj" fmla="val 144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1865376"/>
            <a:ext cx="3154680" cy="37947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66760" y="2249424"/>
            <a:ext cx="2240280" cy="2944368"/>
          </a:xfrm>
          <a:prstGeom prst="roundRect">
            <a:avLst>
              <a:gd name="adj" fmla="val 653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22208" y="2542032"/>
            <a:ext cx="1938528" cy="2359152"/>
          </a:xfrm>
          <a:prstGeom prst="roundRect">
            <a:avLst>
              <a:gd name="adj" fmla="val 3774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0" y="2706624"/>
            <a:ext cx="1609344" cy="2029968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96144" y="2706624"/>
            <a:ext cx="-1609344" cy="2029968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35112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MOBILE / TABLET VIEW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778240" y="38313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placeholder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Brand glow 19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53" name="Brand cyan wash 19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54" name="Brand micro chip 19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55" name="Brand chip text 19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Results &amp; Benefits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reduces planning friction and improves review clarity.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005840" y="1874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691640" y="1947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project planning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5840" y="290779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691640" y="29809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academic artifacts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94106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691640" y="4014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project context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52744" y="1700784"/>
            <a:ext cx="5074920" cy="4160520"/>
          </a:xfrm>
          <a:prstGeom prst="roundRect">
            <a:avLst>
              <a:gd name="adj" fmla="val 109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1627632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27648" y="228600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7104" y="22128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roadmap, to-do list, and prompts generated from one blueprint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6327648" y="28346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7104" y="2761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memory create a project workspace</a:t>
            </a:r>
            <a:endParaRPr lang="en-US" sz="1240" dirty="0"/>
          </a:p>
        </p:txBody>
      </p:sp>
      <p:sp>
        <p:nvSpPr>
          <p:cNvPr id="47" name="Shape 45"/>
          <p:cNvSpPr/>
          <p:nvPr/>
        </p:nvSpPr>
        <p:spPr>
          <a:xfrm>
            <a:off x="6327648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33101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Deployment-ready architecture supports live demo</a:t>
            </a:r>
            <a:endParaRPr lang="en-US" sz="1240" dirty="0"/>
          </a:p>
        </p:txBody>
      </p:sp>
      <p:sp>
        <p:nvSpPr>
          <p:cNvPr id="49" name="Shape 47"/>
          <p:cNvSpPr/>
          <p:nvPr/>
        </p:nvSpPr>
        <p:spPr>
          <a:xfrm>
            <a:off x="6327648" y="39319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8587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can explain both planning and implementation decisions</a:t>
            </a:r>
            <a:endParaRPr lang="en-US" sz="1240" dirty="0"/>
          </a:p>
        </p:txBody>
      </p:sp>
      <p:sp>
        <p:nvSpPr>
          <p:cNvPr id="51" name="Text 49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5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Brand glow 20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58" name="Brand cyan wash 20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59" name="Brand micro chip 20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60" name="Brand chip text 20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Future Enhancements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can evolve from planning generator into a complete project execution companion.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14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16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Export to DOCX/PDF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1216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formatted deliverables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443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45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Team Collaboration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645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workspaces and comments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7872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74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Version History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074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blueprint changes over time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1014984" y="3529584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34564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216152" y="36758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Diagram Builder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121615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Auto-generate architecture and workflows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4443984" y="3529584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34564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645152" y="36758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Task Sync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464515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tasks to external trackers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2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Brand glow 21"/>
          <p:cNvSpPr/>
          <p:nvPr/>
        </p:nvSpPr>
        <p:spPr>
          <a:xfrm rot="720000">
            <a:off x="-640080" y="-566928"/>
            <a:ext cx="3200400" cy="3200400"/>
          </a:xfrm>
          <a:prstGeom prst="arc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0"/>
              </a:srgbClr>
            </a:solidFill>
          </a:ln>
        </p:spPr>
      </p:sp>
      <p:sp>
        <p:nvSpPr>
          <p:cNvPr id="1038" name="Brand cyan wash 21"/>
          <p:cNvSpPr/>
          <p:nvPr/>
        </p:nvSpPr>
        <p:spPr>
          <a:xfrm rot="12480000">
            <a:off x="9326880" y="4645152"/>
            <a:ext cx="2606040" cy="2606040"/>
          </a:xfrm>
          <a:prstGeom prst="arc">
            <a:avLst/>
          </a:prstGeom>
          <a:solidFill>
            <a:srgbClr val="06B6D4">
              <a:alpha val="20000"/>
            </a:srgbClr>
          </a:solidFill>
          <a:ln w="6350">
            <a:solidFill>
              <a:srgbClr val="06B6D4">
                <a:alpha val="0"/>
              </a:srgbClr>
            </a:solidFill>
          </a:ln>
        </p:spPr>
      </p:sp>
      <p:sp>
        <p:nvSpPr>
          <p:cNvPr id="1039" name="Brand micro chip 21"/>
          <p:cNvSpPr/>
          <p:nvPr/>
        </p:nvSpPr>
        <p:spPr>
          <a:xfrm>
            <a:off x="10287000" y="329184"/>
            <a:ext cx="1042416" cy="237744"/>
          </a:xfrm>
          <a:prstGeom prst="roundRect">
            <a:avLst/>
          </a:prstGeom>
          <a:solidFill>
            <a:srgbClr val="FFFFFF">
              <a:alpha val="13000"/>
            </a:srgbClr>
          </a:solidFill>
          <a:ln w="6350">
            <a:solidFill>
              <a:srgbClr val="FFFFFF">
                <a:alpha val="0"/>
              </a:srgbClr>
            </a:solidFill>
          </a:ln>
        </p:spPr>
      </p:sp>
      <p:sp>
        <p:nvSpPr>
          <p:cNvPr id="1040" name="Brand chip text 21"/>
          <p:cNvSpPr txBox="1"/>
          <p:nvPr/>
        </p:nvSpPr>
        <p:spPr>
          <a:xfrm>
            <a:off x="10287000" y="384048"/>
            <a:ext cx="1042416" cy="731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560" b="1">
                <a:solidFill>
                  <a:srgbClr val="D7F8FF"/>
                </a:solidFill>
                <a:latin typeface="Aptos"/>
              </a:rPr>
              <a:t>BuildFlow AI</a:t>
            </a:r>
            <a:endParaRPr lang="en-US" sz="56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1993392"/>
            <a:ext cx="10012680" cy="1060704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06B6D4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 turns ideas into execution-ready project plans.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965960" y="340156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SaaS-style assistant for planning, documenting, remembering, and prompting final-year project work.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83480" y="1316736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0B2448"/>
          </a:solidFill>
          <a:ln w="12700">
            <a:solidFill>
              <a:srgbClr val="0B244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38531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2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7" dur="52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2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1783080" cy="6858000"/>
          </a:xfrm>
          <a:prstGeom prst="rect">
            <a:avLst/>
          </a:prstGeom>
          <a:solidFill>
            <a:srgbClr val="285FEB"/>
          </a:solidFill>
          <a:ln w="12700">
            <a:solidFill>
              <a:srgbClr val="285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1783080" cy="6858000"/>
          </a:xfrm>
          <a:prstGeom prst="rect">
            <a:avLst/>
          </a:prstGeom>
          <a:solidFill>
            <a:srgbClr val="3159EA"/>
          </a:solidFill>
          <a:ln w="12700">
            <a:solidFill>
              <a:srgbClr val="3159E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1783080" cy="6858000"/>
          </a:xfrm>
          <a:prstGeom prst="rect">
            <a:avLst/>
          </a:prstGeom>
          <a:solidFill>
            <a:srgbClr val="3B52E8"/>
          </a:solidFill>
          <a:ln w="12700">
            <a:solidFill>
              <a:srgbClr val="3B5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1783080" cy="6858000"/>
          </a:xfrm>
          <a:prstGeom prst="rect">
            <a:avLst/>
          </a:prstGeom>
          <a:solidFill>
            <a:srgbClr val="444CE6"/>
          </a:solidFill>
          <a:ln w="12700">
            <a:solidFill>
              <a:srgbClr val="444C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1783080" cy="6858000"/>
          </a:xfrm>
          <a:prstGeom prst="rect">
            <a:avLst/>
          </a:prstGeom>
          <a:solidFill>
            <a:srgbClr val="4B48E5"/>
          </a:solidFill>
          <a:ln w="12700">
            <a:solidFill>
              <a:srgbClr val="4B48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178308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900000">
            <a:off x="-1051560" y="-1005840"/>
            <a:ext cx="4937760" cy="4937760"/>
          </a:xfrm>
          <a:prstGeom prst="arc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600000">
            <a:off x="8138160" y="3657600"/>
            <a:ext cx="5212080" cy="5212080"/>
          </a:xfrm>
          <a:prstGeom prst="arc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1280160"/>
            <a:ext cx="8503920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27940" dist="50800" dir="2700000">
              <a:srgbClr val="06B6D4">
                <a:alpha val="42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4434840" y="217627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002536" y="3895344"/>
            <a:ext cx="1883664" cy="1572768"/>
          </a:xfrm>
          <a:prstGeom prst="roundRect">
            <a:avLst>
              <a:gd name="adj" fmla="val 697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38528" y="3822192"/>
            <a:ext cx="1883664" cy="1572768"/>
          </a:xfrm>
          <a:prstGeom prst="roundRect">
            <a:avLst>
              <a:gd name="adj" fmla="val 930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67712" y="4096512"/>
            <a:ext cx="1225296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A9C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67712" y="452628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QR CODE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67712" y="4764024"/>
            <a:ext cx="1225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QR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681728" y="3895344"/>
            <a:ext cx="5669280" cy="1572768"/>
          </a:xfrm>
          <a:prstGeom prst="roundRect">
            <a:avLst>
              <a:gd name="adj" fmla="val 697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822192"/>
            <a:ext cx="5669280" cy="1572768"/>
          </a:xfrm>
          <a:prstGeom prst="roundRect">
            <a:avLst>
              <a:gd name="adj" fmla="val 930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102352" y="4242816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URL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102352" y="4700016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https://your-buildflow-ai-deployment-url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2743200" y="6144768"/>
            <a:ext cx="6720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| SHAFI AHMED F | VIDYASAAGAR M</a:t>
            </a:r>
            <a:endParaRPr lang="en-US" sz="86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zoom">
                                <p:cBhvr>
                                  <p:cTn id="23" dur="520" fill="hold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180"/>
                      </p:stCondLst>
                      <p:childTnLst>
                        <p:par>
                          <p:cTn id="25" presetID="1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20" fill="hold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2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20" fill="hold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60"/>
                      </p:stCondLst>
                      <p:childTnLst>
                        <p:par>
                          <p:cTn id="33" presetID="13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5" dur="520" fill="hold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Rajiv Gandhi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- AI-Based Project Planning Assistant</dc:title>
  <dc:subject>Final-year mini project review presentation</dc:subject>
  <dc:creator>BuildFlow AI Team</dc:creator>
  <cp:lastModifiedBy>BuildFlow AI Team</cp:lastModifiedBy>
  <cp:revision>1</cp:revision>
  <dcterms:created xsi:type="dcterms:W3CDTF">2026-05-10T15:44:13Z</dcterms:created>
  <dcterms:modified xsi:type="dcterms:W3CDTF">2026-05-10T15:44:13Z</dcterms:modified>
</cp:coreProperties>
</file>