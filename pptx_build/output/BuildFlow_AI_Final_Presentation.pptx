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0" y="0"/>
            <a:ext cx="4526280" cy="6858000"/>
          </a:xfrm>
          <a:prstGeom prst="rect">
            <a:avLst/>
          </a:prstGeom>
          <a:solidFill>
            <a:srgbClr val="EEF4FF"/>
          </a:solidFill>
          <a:ln w="12700">
            <a:solidFill>
              <a:srgbClr val="EEF4FF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 rot="480000">
            <a:off x="7909560" y="384048"/>
            <a:ext cx="3474720" cy="3474720"/>
          </a:xfrm>
          <a:prstGeom prst="arc">
            <a:avLst/>
          </a:prstGeom>
          <a:solidFill>
            <a:srgbClr val="DBEAFE">
              <a:alpha val="9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 rot="12600000">
            <a:off x="8366760" y="3639312"/>
            <a:ext cx="3931920" cy="3931920"/>
          </a:xfrm>
          <a:prstGeom prst="arc">
            <a:avLst/>
          </a:prstGeom>
          <a:solidFill>
            <a:srgbClr val="CFFAFE">
              <a:alpha val="90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68096" y="932688"/>
            <a:ext cx="5120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5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BuildFlow AI</a:t>
            </a:r>
            <a:endParaRPr lang="en-US" sz="3500" dirty="0"/>
          </a:p>
        </p:txBody>
      </p:sp>
      <p:sp>
        <p:nvSpPr>
          <p:cNvPr id="34" name="Text 32"/>
          <p:cNvSpPr/>
          <p:nvPr/>
        </p:nvSpPr>
        <p:spPr>
          <a:xfrm>
            <a:off x="804672" y="1719072"/>
            <a:ext cx="4526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AI-Based Project Planning Assistant</a:t>
            </a:r>
            <a:endParaRPr lang="en-US" sz="1800" dirty="0"/>
          </a:p>
        </p:txBody>
      </p:sp>
      <p:sp>
        <p:nvSpPr>
          <p:cNvPr id="35" name="Shape 33"/>
          <p:cNvSpPr/>
          <p:nvPr/>
        </p:nvSpPr>
        <p:spPr>
          <a:xfrm>
            <a:off x="822960" y="2221992"/>
            <a:ext cx="1207008" cy="0"/>
          </a:xfrm>
          <a:prstGeom prst="line">
            <a:avLst/>
          </a:prstGeom>
          <a:noFill/>
          <a:ln w="381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2432304"/>
            <a:ext cx="2331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3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Final-Year Mini Project Review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850392" y="4224528"/>
            <a:ext cx="5989320" cy="1444752"/>
          </a:xfrm>
          <a:prstGeom prst="roundRect">
            <a:avLst>
              <a:gd name="adj" fmla="val 7595"/>
            </a:avLst>
          </a:prstGeom>
          <a:solidFill>
            <a:srgbClr val="0F172A">
              <a:alpha val="7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04672" y="4160520"/>
            <a:ext cx="5989320" cy="1444752"/>
          </a:xfrm>
          <a:prstGeom prst="roundRect">
            <a:avLst>
              <a:gd name="adj" fmla="val 7595"/>
            </a:avLst>
          </a:prstGeom>
          <a:solidFill>
            <a:srgbClr val="FFFFFF">
              <a:alpha val="84000"/>
            </a:srgbClr>
          </a:solidFill>
          <a:ln w="12700">
            <a:solidFill>
              <a:srgbClr val="BFDBFE">
                <a:alpha val="82000"/>
              </a:srgbClr>
            </a:solidFill>
            <a:prstDash val="solid"/>
          </a:ln>
          <a:effectLst>
            <a:outerShdw sx="100000" sy="100000" kx="0" ky="0" algn="bl" rotWithShape="0" blurRad="29210" dist="50800" dir="2700000">
              <a:srgbClr val="1E293B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1060704" y="4443984"/>
            <a:ext cx="10972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Members</a:t>
            </a:r>
            <a:endParaRPr lang="en-US" sz="920" dirty="0"/>
          </a:p>
        </p:txBody>
      </p:sp>
      <p:sp>
        <p:nvSpPr>
          <p:cNvPr id="40" name="Text 38"/>
          <p:cNvSpPr/>
          <p:nvPr/>
        </p:nvSpPr>
        <p:spPr>
          <a:xfrm>
            <a:off x="1060704" y="4745736"/>
            <a:ext cx="543153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4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 (23TD0003)   SHAFI AHMED F (23TD0076)   VIDYASAAGAR M (23TD0091)</a:t>
            </a:r>
            <a:endParaRPr lang="en-US" sz="840" dirty="0"/>
          </a:p>
        </p:txBody>
      </p:sp>
      <p:sp>
        <p:nvSpPr>
          <p:cNvPr id="41" name="Text 39"/>
          <p:cNvSpPr/>
          <p:nvPr/>
        </p:nvSpPr>
        <p:spPr>
          <a:xfrm>
            <a:off x="1060704" y="5047488"/>
            <a:ext cx="27432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Guide: Dr. R. G. Suresh Kumar</a:t>
            </a:r>
            <a:endParaRPr lang="en-US" sz="820" dirty="0"/>
          </a:p>
        </p:txBody>
      </p:sp>
      <p:sp>
        <p:nvSpPr>
          <p:cNvPr id="42" name="Text 40"/>
          <p:cNvSpPr/>
          <p:nvPr/>
        </p:nvSpPr>
        <p:spPr>
          <a:xfrm>
            <a:off x="4133088" y="5047488"/>
            <a:ext cx="206654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Computer Science and Engineering</a:t>
            </a:r>
            <a:endParaRPr lang="en-US" sz="820" dirty="0"/>
          </a:p>
        </p:txBody>
      </p:sp>
      <p:sp>
        <p:nvSpPr>
          <p:cNvPr id="43" name="Text 41"/>
          <p:cNvSpPr/>
          <p:nvPr/>
        </p:nvSpPr>
        <p:spPr>
          <a:xfrm>
            <a:off x="1060704" y="5321808"/>
            <a:ext cx="513892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Rajiv Gandhi College of Engineering and Technology</a:t>
            </a:r>
            <a:endParaRPr lang="en-US" sz="820" dirty="0"/>
          </a:p>
        </p:txBody>
      </p:sp>
      <p:sp>
        <p:nvSpPr>
          <p:cNvPr id="44" name="Shape 42"/>
          <p:cNvSpPr/>
          <p:nvPr/>
        </p:nvSpPr>
        <p:spPr>
          <a:xfrm>
            <a:off x="8001000" y="1115568"/>
            <a:ext cx="3337560" cy="3794760"/>
          </a:xfrm>
          <a:prstGeom prst="roundRect">
            <a:avLst>
              <a:gd name="adj" fmla="val 3288"/>
            </a:avLst>
          </a:prstGeom>
          <a:solidFill>
            <a:srgbClr val="0F172A">
              <a:alpha val="7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955280" y="1051560"/>
            <a:ext cx="3337560" cy="3794760"/>
          </a:xfrm>
          <a:prstGeom prst="roundRect">
            <a:avLst>
              <a:gd name="adj" fmla="val 3288"/>
            </a:avLst>
          </a:prstGeom>
          <a:solidFill>
            <a:srgbClr val="FFFFFF">
              <a:alpha val="84000"/>
            </a:srgbClr>
          </a:solidFill>
          <a:ln w="12700">
            <a:solidFill>
              <a:srgbClr val="BFDBFE">
                <a:alpha val="82000"/>
              </a:srgbClr>
            </a:solidFill>
            <a:prstDash val="solid"/>
          </a:ln>
          <a:effectLst>
            <a:outerShdw sx="100000" sy="100000" kx="0" ky="0" algn="bl" rotWithShape="0" blurRad="29210" dist="50800" dir="2700000">
              <a:srgbClr val="1E293B">
                <a:alpha val="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906256" y="1965960"/>
            <a:ext cx="1444752" cy="1444752"/>
          </a:xfrm>
          <a:prstGeom prst="ellipse">
            <a:avLst/>
          </a:prstGeom>
          <a:solidFill>
            <a:srgbClr val="FFFFFF">
              <a:alpha val="80000"/>
            </a:srgbClr>
          </a:solidFill>
          <a:ln w="17780">
            <a:solidFill>
              <a:srgbClr val="06B6D4">
                <a:alpha val="9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308592" y="2368296"/>
            <a:ext cx="640080" cy="640080"/>
          </a:xfrm>
          <a:prstGeom prst="ellipse">
            <a:avLst/>
          </a:prstGeom>
          <a:solidFill>
            <a:srgbClr val="06B6D4">
              <a:alpha val="96000"/>
            </a:srgbClr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94192" y="1591056"/>
            <a:ext cx="493776" cy="49377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72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394192" y="1773936"/>
            <a:ext cx="4937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</a:t>
            </a:r>
            <a:endParaRPr lang="en-US" sz="560" dirty="0"/>
          </a:p>
        </p:txBody>
      </p:sp>
      <p:sp>
        <p:nvSpPr>
          <p:cNvPr id="50" name="Shape 48"/>
          <p:cNvSpPr/>
          <p:nvPr/>
        </p:nvSpPr>
        <p:spPr>
          <a:xfrm>
            <a:off x="10168128" y="1572768"/>
            <a:ext cx="493776" cy="493776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4F46E5">
                <a:alpha val="7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168128" y="1755648"/>
            <a:ext cx="4937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560" dirty="0"/>
          </a:p>
        </p:txBody>
      </p:sp>
      <p:sp>
        <p:nvSpPr>
          <p:cNvPr id="52" name="Shape 50"/>
          <p:cNvSpPr/>
          <p:nvPr/>
        </p:nvSpPr>
        <p:spPr>
          <a:xfrm>
            <a:off x="8211312" y="3474720"/>
            <a:ext cx="493776" cy="493776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4F46E5">
                <a:alpha val="72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11312" y="3657600"/>
            <a:ext cx="4937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</a:t>
            </a:r>
            <a:endParaRPr lang="en-US" sz="560" dirty="0"/>
          </a:p>
        </p:txBody>
      </p:sp>
      <p:sp>
        <p:nvSpPr>
          <p:cNvPr id="54" name="Shape 52"/>
          <p:cNvSpPr/>
          <p:nvPr/>
        </p:nvSpPr>
        <p:spPr>
          <a:xfrm>
            <a:off x="10332720" y="3438144"/>
            <a:ext cx="493776" cy="493776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72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32720" y="3621024"/>
            <a:ext cx="4937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560" dirty="0"/>
          </a:p>
        </p:txBody>
      </p:sp>
      <p:sp>
        <p:nvSpPr>
          <p:cNvPr id="56" name="Shape 54"/>
          <p:cNvSpPr/>
          <p:nvPr/>
        </p:nvSpPr>
        <p:spPr>
          <a:xfrm>
            <a:off x="9308592" y="4005072"/>
            <a:ext cx="493776" cy="493776"/>
          </a:xfrm>
          <a:prstGeom prst="ellipse">
            <a:avLst/>
          </a:prstGeom>
          <a:solidFill>
            <a:srgbClr val="FFFFFF">
              <a:alpha val="82000"/>
            </a:srgbClr>
          </a:solidFill>
          <a:ln w="12700">
            <a:solidFill>
              <a:srgbClr val="4F46E5">
                <a:alpha val="72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308592" y="4187952"/>
            <a:ext cx="493776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</a:t>
            </a:r>
            <a:endParaRPr lang="en-US" sz="560" dirty="0"/>
          </a:p>
        </p:txBody>
      </p:sp>
      <p:sp>
        <p:nvSpPr>
          <p:cNvPr id="58" name="Shape 56"/>
          <p:cNvSpPr/>
          <p:nvPr/>
        </p:nvSpPr>
        <p:spPr>
          <a:xfrm>
            <a:off x="8622792" y="1810512"/>
            <a:ext cx="704088" cy="585216"/>
          </a:xfrm>
          <a:prstGeom prst="line">
            <a:avLst/>
          </a:prstGeom>
          <a:noFill/>
          <a:ln w="13970">
            <a:solidFill>
              <a:srgbClr val="4F46E5">
                <a:alpha val="7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168128" y="1792224"/>
            <a:ext cx="-256032" cy="603504"/>
          </a:xfrm>
          <a:prstGeom prst="line">
            <a:avLst/>
          </a:prstGeom>
          <a:noFill/>
          <a:ln w="13970">
            <a:solidFill>
              <a:srgbClr val="4F46E5">
                <a:alpha val="7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439912" y="3675888"/>
            <a:ext cx="850392" cy="-603504"/>
          </a:xfrm>
          <a:prstGeom prst="line">
            <a:avLst/>
          </a:prstGeom>
          <a:noFill/>
          <a:ln w="13970">
            <a:solidFill>
              <a:srgbClr val="4F46E5">
                <a:alpha val="7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332720" y="3639312"/>
            <a:ext cx="-402336" cy="-640080"/>
          </a:xfrm>
          <a:prstGeom prst="line">
            <a:avLst/>
          </a:prstGeom>
          <a:noFill/>
          <a:ln w="13970">
            <a:solidFill>
              <a:srgbClr val="4F46E5">
                <a:alpha val="7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537192" y="4014216"/>
            <a:ext cx="64008" cy="-877824"/>
          </a:xfrm>
          <a:prstGeom prst="line">
            <a:avLst/>
          </a:prstGeom>
          <a:noFill/>
          <a:ln w="13970">
            <a:solidFill>
              <a:srgbClr val="4F46E5">
                <a:alpha val="70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11312" y="5074920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vague idea to structured plan, documents, and coding prompts.</a:t>
            </a:r>
            <a:endParaRPr lang="en-US" sz="940" dirty="0"/>
          </a:p>
        </p:txBody>
      </p:sp>
      <p:sp>
        <p:nvSpPr>
          <p:cNvPr id="64" name="Text 62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3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3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9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9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Abstract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 guides project teams through planning, documentation, and implementation preparation.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86968" y="1892808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" y="1828800"/>
            <a:ext cx="553212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188720" y="2395728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89888" y="2304288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project requirements through a guided chatbot workflow.</a:t>
            </a:r>
            <a:endParaRPr lang="en-US" sz="1310" dirty="0"/>
          </a:p>
        </p:txBody>
      </p:sp>
      <p:sp>
        <p:nvSpPr>
          <p:cNvPr id="40" name="Shape 38"/>
          <p:cNvSpPr/>
          <p:nvPr/>
        </p:nvSpPr>
        <p:spPr>
          <a:xfrm>
            <a:off x="1188720" y="2962656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89888" y="2871216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stage-wise summaries as a reusable blueprint memory.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188720" y="3529584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89888" y="3438144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BRD, SRS, roadmap, and task outputs automatically.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188720" y="409651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89888" y="4005072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implementation prompts for frontend, backend, and testing.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1188720" y="4663440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89888" y="4572000"/>
            <a:ext cx="4754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as a web platform using React, Node.js, Firebase, and OpenRouter.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7360920" y="1938528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0F172A">
              <a:alpha val="7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15200" y="1874520"/>
            <a:ext cx="3611880" cy="3840480"/>
          </a:xfrm>
          <a:prstGeom prst="roundRect">
            <a:avLst>
              <a:gd name="adj" fmla="val 3038"/>
            </a:avLst>
          </a:prstGeom>
          <a:solidFill>
            <a:srgbClr val="FFFFFF">
              <a:alpha val="84000"/>
            </a:srgbClr>
          </a:solidFill>
          <a:ln w="12700">
            <a:solidFill>
              <a:srgbClr val="BFDBFE">
                <a:alpha val="82000"/>
              </a:srgbClr>
            </a:solidFill>
            <a:prstDash val="solid"/>
          </a:ln>
          <a:effectLst>
            <a:outerShdw sx="100000" sy="100000" kx="0" ky="0" algn="bl" rotWithShape="0" blurRad="29210" dist="50800" dir="2700000">
              <a:srgbClr val="1E293B">
                <a:alpha val="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818120" y="2788920"/>
            <a:ext cx="2633472" cy="1188720"/>
          </a:xfrm>
          <a:prstGeom prst="roundRect">
            <a:avLst>
              <a:gd name="adj" fmla="val 12308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02752" y="3172968"/>
            <a:ext cx="16824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4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 Planning Core</a:t>
            </a:r>
            <a:endParaRPr lang="en-US" sz="1340" dirty="0"/>
          </a:p>
        </p:txBody>
      </p:sp>
      <p:sp>
        <p:nvSpPr>
          <p:cNvPr id="52" name="Shape 50"/>
          <p:cNvSpPr/>
          <p:nvPr/>
        </p:nvSpPr>
        <p:spPr>
          <a:xfrm>
            <a:off x="7680960" y="214884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635240" y="2084832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754112" y="2221992"/>
            <a:ext cx="329184" cy="3291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826532" y="2294412"/>
            <a:ext cx="184343" cy="131674"/>
          </a:xfrm>
          <a:prstGeom prst="roundRect">
            <a:avLst>
              <a:gd name="adj" fmla="val 27778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3500000">
            <a:off x="7872618" y="2393168"/>
            <a:ext cx="39502" cy="26335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129016" y="232257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780" dirty="0"/>
          </a:p>
        </p:txBody>
      </p:sp>
      <p:sp>
        <p:nvSpPr>
          <p:cNvPr id="58" name="Shape 56"/>
          <p:cNvSpPr/>
          <p:nvPr/>
        </p:nvSpPr>
        <p:spPr>
          <a:xfrm>
            <a:off x="8622792" y="2404872"/>
            <a:ext cx="566928" cy="685800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85832" y="2075688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0040112" y="20116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158984" y="2148840"/>
            <a:ext cx="329184" cy="3291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0254447" y="2208093"/>
            <a:ext cx="138257" cy="184343"/>
          </a:xfrm>
          <a:prstGeom prst="roundRect">
            <a:avLst>
              <a:gd name="adj" fmla="val 13228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277490" y="2267346"/>
            <a:ext cx="79004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277490" y="2310140"/>
            <a:ext cx="62545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0533888" y="2249424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780" dirty="0"/>
          </a:p>
        </p:txBody>
      </p:sp>
      <p:sp>
        <p:nvSpPr>
          <p:cNvPr id="66" name="Shape 64"/>
          <p:cNvSpPr/>
          <p:nvPr/>
        </p:nvSpPr>
        <p:spPr>
          <a:xfrm>
            <a:off x="9125712" y="2331720"/>
            <a:ext cx="640080" cy="685800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7589520" y="4562856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543800" y="4498848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7662672" y="4636008"/>
            <a:ext cx="329184" cy="3291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728509" y="4800600"/>
            <a:ext cx="75712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827264" y="4800600"/>
            <a:ext cx="59253" cy="-52669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7827264" y="4800600"/>
            <a:ext cx="59253" cy="52669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7860182" y="4685386"/>
            <a:ext cx="0" cy="59253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7860182" y="4807184"/>
            <a:ext cx="0" cy="46086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37576" y="4736592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780" dirty="0"/>
          </a:p>
        </p:txBody>
      </p:sp>
      <p:sp>
        <p:nvSpPr>
          <p:cNvPr id="76" name="Shape 74"/>
          <p:cNvSpPr/>
          <p:nvPr/>
        </p:nvSpPr>
        <p:spPr>
          <a:xfrm>
            <a:off x="8531352" y="4818888"/>
            <a:ext cx="566928" cy="-713232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0131552" y="4526280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0085832" y="4462272"/>
            <a:ext cx="100584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79" name="Shape 77"/>
          <p:cNvSpPr/>
          <p:nvPr/>
        </p:nvSpPr>
        <p:spPr>
          <a:xfrm>
            <a:off x="10204704" y="4599432"/>
            <a:ext cx="329184" cy="329184"/>
          </a:xfrm>
          <a:prstGeom prst="ellipse">
            <a:avLst/>
          </a:prstGeom>
          <a:solidFill>
            <a:srgbClr val="F8FAFC"/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0283708" y="4665269"/>
            <a:ext cx="171176" cy="190927"/>
          </a:xfrm>
          <a:prstGeom prst="can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0579608" y="4700016"/>
            <a:ext cx="3840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</a:t>
            </a:r>
            <a:endParaRPr lang="en-US" sz="780" dirty="0"/>
          </a:p>
        </p:txBody>
      </p:sp>
      <p:sp>
        <p:nvSpPr>
          <p:cNvPr id="82" name="Shape 80"/>
          <p:cNvSpPr/>
          <p:nvPr/>
        </p:nvSpPr>
        <p:spPr>
          <a:xfrm>
            <a:off x="9125712" y="4782312"/>
            <a:ext cx="685800" cy="-713232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202168" y="5266944"/>
            <a:ext cx="18745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+ planning illustration</a:t>
            </a:r>
            <a:endParaRPr lang="en-US" sz="840" dirty="0"/>
          </a:p>
        </p:txBody>
      </p:sp>
      <p:sp>
        <p:nvSpPr>
          <p:cNvPr id="84" name="Shape 82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often have the idea for a project, but not a clean path from idea to execution.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1892808"/>
            <a:ext cx="5303520" cy="3977640"/>
          </a:xfrm>
          <a:prstGeom prst="roundRect">
            <a:avLst>
              <a:gd name="adj" fmla="val 183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1828800"/>
            <a:ext cx="5303520" cy="3977640"/>
          </a:xfrm>
          <a:prstGeom prst="roundRect">
            <a:avLst>
              <a:gd name="adj" fmla="val 183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170432" y="2414016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71600" y="2322576"/>
            <a:ext cx="4526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are usually scattered across chats, notes, and rough documents.</a:t>
            </a:r>
            <a:endParaRPr lang="en-US" sz="1310" dirty="0"/>
          </a:p>
        </p:txBody>
      </p:sp>
      <p:sp>
        <p:nvSpPr>
          <p:cNvPr id="40" name="Shape 38"/>
          <p:cNvSpPr/>
          <p:nvPr/>
        </p:nvSpPr>
        <p:spPr>
          <a:xfrm>
            <a:off x="1170432" y="2980944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371600" y="2889504"/>
            <a:ext cx="4526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struggle to define scope, users, features, and tech choices early.</a:t>
            </a:r>
            <a:endParaRPr lang="en-US" sz="1310" dirty="0"/>
          </a:p>
        </p:txBody>
      </p:sp>
      <p:sp>
        <p:nvSpPr>
          <p:cNvPr id="42" name="Shape 40"/>
          <p:cNvSpPr/>
          <p:nvPr/>
        </p:nvSpPr>
        <p:spPr>
          <a:xfrm>
            <a:off x="1170432" y="35478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371600" y="3456432"/>
            <a:ext cx="4526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deliverables like BRD and SRS take extra manual effort.</a:t>
            </a:r>
            <a:endParaRPr lang="en-US" sz="1310" dirty="0"/>
          </a:p>
        </p:txBody>
      </p:sp>
      <p:sp>
        <p:nvSpPr>
          <p:cNvPr id="44" name="Shape 42"/>
          <p:cNvSpPr/>
          <p:nvPr/>
        </p:nvSpPr>
        <p:spPr>
          <a:xfrm>
            <a:off x="1170432" y="4114800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371600" y="4023360"/>
            <a:ext cx="4526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 AI answers rarely preserve continuity across planning stages.</a:t>
            </a:r>
            <a:endParaRPr lang="en-US" sz="1310" dirty="0"/>
          </a:p>
        </p:txBody>
      </p:sp>
      <p:sp>
        <p:nvSpPr>
          <p:cNvPr id="46" name="Shape 44"/>
          <p:cNvSpPr/>
          <p:nvPr/>
        </p:nvSpPr>
        <p:spPr>
          <a:xfrm>
            <a:off x="1170432" y="4681728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371600" y="4590288"/>
            <a:ext cx="45262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1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planning leads to rework, delays, and weak final presentations.</a:t>
            </a:r>
            <a:endParaRPr lang="en-US" sz="1310" dirty="0"/>
          </a:p>
        </p:txBody>
      </p:sp>
      <p:sp>
        <p:nvSpPr>
          <p:cNvPr id="48" name="Shape 46"/>
          <p:cNvSpPr/>
          <p:nvPr/>
        </p:nvSpPr>
        <p:spPr>
          <a:xfrm>
            <a:off x="6766560" y="1965960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720840" y="1901952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720840" y="1901952"/>
            <a:ext cx="109728" cy="93268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976872" y="2121408"/>
            <a:ext cx="3785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Fragmented Inputs</a:t>
            </a:r>
            <a:endParaRPr lang="en-US" sz="1160" dirty="0"/>
          </a:p>
        </p:txBody>
      </p:sp>
      <p:sp>
        <p:nvSpPr>
          <p:cNvPr id="52" name="Text 50"/>
          <p:cNvSpPr/>
          <p:nvPr/>
        </p:nvSpPr>
        <p:spPr>
          <a:xfrm>
            <a:off x="6976872" y="2414016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 notes, requirements, and feature decisions stay disconnected.</a:t>
            </a:r>
            <a:endParaRPr lang="en-US" sz="890" dirty="0"/>
          </a:p>
        </p:txBody>
      </p:sp>
      <p:sp>
        <p:nvSpPr>
          <p:cNvPr id="53" name="Shape 51"/>
          <p:cNvSpPr/>
          <p:nvPr/>
        </p:nvSpPr>
        <p:spPr>
          <a:xfrm>
            <a:off x="6766560" y="3118104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720840" y="3054096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720840" y="3054096"/>
            <a:ext cx="109728" cy="93268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976872" y="3273552"/>
            <a:ext cx="3785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Weak Documentation Flow</a:t>
            </a:r>
            <a:endParaRPr lang="en-US" sz="1160" dirty="0"/>
          </a:p>
        </p:txBody>
      </p:sp>
      <p:sp>
        <p:nvSpPr>
          <p:cNvPr id="57" name="Text 55"/>
          <p:cNvSpPr/>
          <p:nvPr/>
        </p:nvSpPr>
        <p:spPr>
          <a:xfrm>
            <a:off x="6976872" y="3566160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 are prepared late and often miss consistency.</a:t>
            </a:r>
            <a:endParaRPr lang="en-US" sz="890" dirty="0"/>
          </a:p>
        </p:txBody>
      </p:sp>
      <p:sp>
        <p:nvSpPr>
          <p:cNvPr id="58" name="Shape 56"/>
          <p:cNvSpPr/>
          <p:nvPr/>
        </p:nvSpPr>
        <p:spPr>
          <a:xfrm>
            <a:off x="6766560" y="4270248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720840" y="4206240"/>
            <a:ext cx="420624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6720840" y="4206240"/>
            <a:ext cx="109728" cy="93268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976872" y="4425696"/>
            <a:ext cx="37856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Execution Gap</a:t>
            </a:r>
            <a:endParaRPr lang="en-US" sz="1160" dirty="0"/>
          </a:p>
        </p:txBody>
      </p:sp>
      <p:sp>
        <p:nvSpPr>
          <p:cNvPr id="62" name="Text 60"/>
          <p:cNvSpPr/>
          <p:nvPr/>
        </p:nvSpPr>
        <p:spPr>
          <a:xfrm>
            <a:off x="6976872" y="4718304"/>
            <a:ext cx="37856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know what they want, but not how to begin building it.</a:t>
            </a:r>
            <a:endParaRPr lang="en-US" sz="890" dirty="0"/>
          </a:p>
        </p:txBody>
      </p:sp>
      <p:sp>
        <p:nvSpPr>
          <p:cNvPr id="63" name="Shape 61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Motivation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 was created to make project planning faster, clearer, and more presentation-ready.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896112" y="1993392"/>
            <a:ext cx="12344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idea:</a:t>
            </a:r>
            <a:endParaRPr lang="en-US" sz="1040" dirty="0"/>
          </a:p>
        </p:txBody>
      </p:sp>
      <p:sp>
        <p:nvSpPr>
          <p:cNvPr id="37" name="Text 35"/>
          <p:cNvSpPr/>
          <p:nvPr/>
        </p:nvSpPr>
        <p:spPr>
          <a:xfrm>
            <a:off x="896112" y="2286000"/>
            <a:ext cx="38404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planning should feel like a guided product experience, not a pile of disconnected files.</a:t>
            </a:r>
            <a:endParaRPr lang="en-US" sz="2400" dirty="0"/>
          </a:p>
        </p:txBody>
      </p:sp>
      <p:sp>
        <p:nvSpPr>
          <p:cNvPr id="38" name="Shape 36"/>
          <p:cNvSpPr/>
          <p:nvPr/>
        </p:nvSpPr>
        <p:spPr>
          <a:xfrm>
            <a:off x="969264" y="4133088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70432" y="4041648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need a reliable starting structure for final-year mini projects.</a:t>
            </a:r>
            <a:endParaRPr lang="en-US" sz="1270" dirty="0"/>
          </a:p>
        </p:txBody>
      </p:sp>
      <p:sp>
        <p:nvSpPr>
          <p:cNvPr id="40" name="Shape 38"/>
          <p:cNvSpPr/>
          <p:nvPr/>
        </p:nvSpPr>
        <p:spPr>
          <a:xfrm>
            <a:off x="969264" y="464515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70432" y="4553712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expect clarity in both planning logic and generated artifacts.</a:t>
            </a:r>
            <a:endParaRPr lang="en-US" sz="1270" dirty="0"/>
          </a:p>
        </p:txBody>
      </p:sp>
      <p:sp>
        <p:nvSpPr>
          <p:cNvPr id="42" name="Shape 40"/>
          <p:cNvSpPr/>
          <p:nvPr/>
        </p:nvSpPr>
        <p:spPr>
          <a:xfrm>
            <a:off x="969264" y="5157216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70432" y="5065776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five-stage workflow makes AI guidance easier to trust and explain.</a:t>
            </a:r>
            <a:endParaRPr lang="en-US" sz="1270" dirty="0"/>
          </a:p>
        </p:txBody>
      </p:sp>
      <p:sp>
        <p:nvSpPr>
          <p:cNvPr id="44" name="Shape 42"/>
          <p:cNvSpPr/>
          <p:nvPr/>
        </p:nvSpPr>
        <p:spPr>
          <a:xfrm>
            <a:off x="969264" y="5669280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170432" y="5577840"/>
            <a:ext cx="4023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7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blueprint memory improves consistency across every output.</a:t>
            </a:r>
            <a:endParaRPr lang="en-US" sz="1270" dirty="0"/>
          </a:p>
        </p:txBody>
      </p:sp>
      <p:sp>
        <p:nvSpPr>
          <p:cNvPr id="46" name="Shape 44"/>
          <p:cNvSpPr/>
          <p:nvPr/>
        </p:nvSpPr>
        <p:spPr>
          <a:xfrm>
            <a:off x="5715000" y="20574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669280" y="1993392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5870448" y="222199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958230" y="2441448"/>
            <a:ext cx="10095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89904" y="2441448"/>
            <a:ext cx="79004" cy="-7022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089904" y="2441448"/>
            <a:ext cx="79004" cy="70226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33795" y="2287829"/>
            <a:ext cx="0" cy="79004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133795" y="2450226"/>
            <a:ext cx="0" cy="61448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37376" y="222199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Guided</a:t>
            </a:r>
            <a:endParaRPr lang="en-US" sz="1180" dirty="0"/>
          </a:p>
        </p:txBody>
      </p:sp>
      <p:sp>
        <p:nvSpPr>
          <p:cNvPr id="55" name="Text 53"/>
          <p:cNvSpPr/>
          <p:nvPr/>
        </p:nvSpPr>
        <p:spPr>
          <a:xfrm>
            <a:off x="5870448" y="2651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idea capture to output generation in a fixed flow.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8503920" y="205740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458200" y="1993392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8659368" y="222199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764707" y="2309774"/>
            <a:ext cx="228234" cy="254569"/>
          </a:xfrm>
          <a:prstGeom prst="can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9226296" y="222199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Consistent</a:t>
            </a:r>
            <a:endParaRPr lang="en-US" sz="1180" dirty="0"/>
          </a:p>
        </p:txBody>
      </p:sp>
      <p:sp>
        <p:nvSpPr>
          <p:cNvPr id="61" name="Text 59"/>
          <p:cNvSpPr/>
          <p:nvPr/>
        </p:nvSpPr>
        <p:spPr>
          <a:xfrm>
            <a:off x="8659368" y="265176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Reuses stored summaries instead of restarting every prompt.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5715000" y="3749040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669280" y="3685032"/>
            <a:ext cx="2423160" cy="1325880"/>
          </a:xfrm>
          <a:prstGeom prst="roundRect">
            <a:avLst>
              <a:gd name="adj" fmla="val 5517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5870448" y="3913632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5997732" y="3992636"/>
            <a:ext cx="184343" cy="245791"/>
          </a:xfrm>
          <a:prstGeom prst="roundRect">
            <a:avLst>
              <a:gd name="adj" fmla="val 9921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028456" y="4071640"/>
            <a:ext cx="105339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6028456" y="4128699"/>
            <a:ext cx="83393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37376" y="3913632"/>
            <a:ext cx="12801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Review-Ready</a:t>
            </a:r>
            <a:endParaRPr lang="en-US" sz="1180" dirty="0"/>
          </a:p>
        </p:txBody>
      </p:sp>
      <p:sp>
        <p:nvSpPr>
          <p:cNvPr id="69" name="Text 67"/>
          <p:cNvSpPr/>
          <p:nvPr/>
        </p:nvSpPr>
        <p:spPr>
          <a:xfrm>
            <a:off x="5870448" y="4343400"/>
            <a:ext cx="1874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materials that support academic demo and viva.</a:t>
            </a:r>
            <a:endParaRPr lang="en-US" sz="870" dirty="0"/>
          </a:p>
        </p:txBody>
      </p:sp>
      <p:sp>
        <p:nvSpPr>
          <p:cNvPr id="70" name="Shape 68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Project Objectives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is designed to reduce planning effort while improving structure and output quality.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23544" y="2057400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1993392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97280" y="22128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232257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1664208" y="22677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project intent through guided conversation.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4626864" y="2057400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81144" y="1993392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800600" y="22128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00600" y="232257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60" dirty="0"/>
          </a:p>
        </p:txBody>
      </p:sp>
      <p:sp>
        <p:nvSpPr>
          <p:cNvPr id="45" name="Text 43"/>
          <p:cNvSpPr/>
          <p:nvPr/>
        </p:nvSpPr>
        <p:spPr>
          <a:xfrm>
            <a:off x="5367528" y="22677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inputs into a reusable blueprint memory.</a:t>
            </a:r>
            <a:endParaRPr lang="en-US" sz="1020" dirty="0"/>
          </a:p>
        </p:txBody>
      </p:sp>
      <p:sp>
        <p:nvSpPr>
          <p:cNvPr id="46" name="Shape 44"/>
          <p:cNvSpPr/>
          <p:nvPr/>
        </p:nvSpPr>
        <p:spPr>
          <a:xfrm>
            <a:off x="8330184" y="2057400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84464" y="1993392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503920" y="2212848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503920" y="232257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60" dirty="0"/>
          </a:p>
        </p:txBody>
      </p:sp>
      <p:sp>
        <p:nvSpPr>
          <p:cNvPr id="50" name="Text 48"/>
          <p:cNvSpPr/>
          <p:nvPr/>
        </p:nvSpPr>
        <p:spPr>
          <a:xfrm>
            <a:off x="9070848" y="2267712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BRD, SRS, roadmap, and task outputs.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2788920" y="3813048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2743200" y="3749040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2962656" y="39684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2962656" y="4078224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60" dirty="0"/>
          </a:p>
        </p:txBody>
      </p:sp>
      <p:sp>
        <p:nvSpPr>
          <p:cNvPr id="55" name="Text 53"/>
          <p:cNvSpPr/>
          <p:nvPr/>
        </p:nvSpPr>
        <p:spPr>
          <a:xfrm>
            <a:off x="3529584" y="4023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 implementation prompts for development support.</a:t>
            </a:r>
            <a:endParaRPr lang="en-US" sz="1020" dirty="0"/>
          </a:p>
        </p:txBody>
      </p:sp>
      <p:sp>
        <p:nvSpPr>
          <p:cNvPr id="56" name="Shape 54"/>
          <p:cNvSpPr/>
          <p:nvPr/>
        </p:nvSpPr>
        <p:spPr>
          <a:xfrm>
            <a:off x="6492240" y="3813048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6446520" y="3749040"/>
            <a:ext cx="3054096" cy="118872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6665976" y="39684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65976" y="4078224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60" dirty="0"/>
          </a:p>
        </p:txBody>
      </p:sp>
      <p:sp>
        <p:nvSpPr>
          <p:cNvPr id="60" name="Text 58"/>
          <p:cNvSpPr/>
          <p:nvPr/>
        </p:nvSpPr>
        <p:spPr>
          <a:xfrm>
            <a:off x="7232904" y="4023360"/>
            <a:ext cx="1965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 deployable full-stack prototype for review.</a:t>
            </a:r>
            <a:endParaRPr lang="en-US" sz="1020" dirty="0"/>
          </a:p>
        </p:txBody>
      </p:sp>
      <p:sp>
        <p:nvSpPr>
          <p:cNvPr id="61" name="Shape 59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Existing System and Limitations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options solve pieces of the problem, but they do not connect planning, memory, and academic outputs.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68680" y="1947672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22960" y="1883664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42416" y="212140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69700" y="2200412"/>
            <a:ext cx="184343" cy="245791"/>
          </a:xfrm>
          <a:prstGeom prst="roundRect">
            <a:avLst>
              <a:gd name="adj" fmla="val 9921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200424" y="2279416"/>
            <a:ext cx="105339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200424" y="2336475"/>
            <a:ext cx="83393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609344" y="21579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Manual Planning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1078992" y="2880360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80160" y="278892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Depends on static templates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1078992" y="3557016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280160" y="346557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Time-consuming BRD/SRS writing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1078992" y="4233672"/>
            <a:ext cx="100584" cy="10058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80160" y="414223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consistency across team members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4617720" y="1947672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4572000" y="1883664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1" name="Shape 49"/>
          <p:cNvSpPr/>
          <p:nvPr/>
        </p:nvSpPr>
        <p:spPr>
          <a:xfrm>
            <a:off x="4791456" y="212140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010912" y="2203704"/>
            <a:ext cx="0" cy="27432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873752" y="2340864"/>
            <a:ext cx="27432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4919472" y="2249424"/>
            <a:ext cx="182880" cy="18288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102352" y="2249424"/>
            <a:ext cx="-182880" cy="18288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358384" y="21579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Generic AI Tools</a:t>
            </a:r>
            <a:endParaRPr lang="en-US" sz="1180" dirty="0"/>
          </a:p>
        </p:txBody>
      </p:sp>
      <p:sp>
        <p:nvSpPr>
          <p:cNvPr id="57" name="Shape 55"/>
          <p:cNvSpPr/>
          <p:nvPr/>
        </p:nvSpPr>
        <p:spPr>
          <a:xfrm>
            <a:off x="4828032" y="2880360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0" y="278892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at ideation, weak at continuity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4828032" y="3557016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029200" y="346557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built-in project memory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4828032" y="4233672"/>
            <a:ext cx="100584" cy="100584"/>
          </a:xfrm>
          <a:prstGeom prst="ellipse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029200" y="414223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need heavy manual cleanup</a:t>
            </a:r>
            <a:endParaRPr lang="en-US" sz="1150" dirty="0"/>
          </a:p>
        </p:txBody>
      </p:sp>
      <p:sp>
        <p:nvSpPr>
          <p:cNvPr id="63" name="Shape 61"/>
          <p:cNvSpPr/>
          <p:nvPr/>
        </p:nvSpPr>
        <p:spPr>
          <a:xfrm>
            <a:off x="8366760" y="1947672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8321040" y="1883664"/>
            <a:ext cx="3154680" cy="397764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8540496" y="2121408"/>
            <a:ext cx="438912" cy="43891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628278" y="2340864"/>
            <a:ext cx="100950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8759952" y="2340864"/>
            <a:ext cx="79004" cy="-70226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8759952" y="2340864"/>
            <a:ext cx="79004" cy="70226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8803843" y="2187245"/>
            <a:ext cx="0" cy="79004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8803843" y="2349642"/>
            <a:ext cx="0" cy="61448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9107424" y="2157984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Task Management Tools</a:t>
            </a:r>
            <a:endParaRPr lang="en-US" sz="1180" dirty="0"/>
          </a:p>
        </p:txBody>
      </p:sp>
      <p:sp>
        <p:nvSpPr>
          <p:cNvPr id="72" name="Shape 70"/>
          <p:cNvSpPr/>
          <p:nvPr/>
        </p:nvSpPr>
        <p:spPr>
          <a:xfrm>
            <a:off x="8577072" y="2880360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78240" y="2788920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tasks but not requirements</a:t>
            </a:r>
            <a:endParaRPr lang="en-US" sz="1150" dirty="0"/>
          </a:p>
        </p:txBody>
      </p:sp>
      <p:sp>
        <p:nvSpPr>
          <p:cNvPr id="74" name="Shape 72"/>
          <p:cNvSpPr/>
          <p:nvPr/>
        </p:nvSpPr>
        <p:spPr>
          <a:xfrm>
            <a:off x="8577072" y="3557016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778240" y="3465576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generate documentation</a:t>
            </a:r>
            <a:endParaRPr lang="en-US" sz="1150" dirty="0"/>
          </a:p>
        </p:txBody>
      </p:sp>
      <p:sp>
        <p:nvSpPr>
          <p:cNvPr id="76" name="Shape 74"/>
          <p:cNvSpPr/>
          <p:nvPr/>
        </p:nvSpPr>
        <p:spPr>
          <a:xfrm>
            <a:off x="8577072" y="423367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8778240" y="4142232"/>
            <a:ext cx="24688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Little support for academic review flow</a:t>
            </a:r>
            <a:endParaRPr lang="en-US" sz="1150" dirty="0"/>
          </a:p>
        </p:txBody>
      </p:sp>
      <p:sp>
        <p:nvSpPr>
          <p:cNvPr id="78" name="Shape 76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 introduces a guided planning workflow that connects context capture, memory, and output generation.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4297680" y="2167128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51960" y="2103120"/>
            <a:ext cx="3657600" cy="1463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4754880" y="2487168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BuildFlow AI Engine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4663440" y="2852928"/>
            <a:ext cx="28346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guided workflow + blueprint memory + generation services</a:t>
            </a:r>
            <a:endParaRPr lang="en-US" sz="920" dirty="0"/>
          </a:p>
        </p:txBody>
      </p:sp>
      <p:sp>
        <p:nvSpPr>
          <p:cNvPr id="40" name="Shape 38"/>
          <p:cNvSpPr/>
          <p:nvPr/>
        </p:nvSpPr>
        <p:spPr>
          <a:xfrm>
            <a:off x="1033272" y="2039112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987552" y="1975104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1133856" y="2176272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210300" y="2252716"/>
            <a:ext cx="194584" cy="138989"/>
          </a:xfrm>
          <a:prstGeom prst="roundRect">
            <a:avLst>
              <a:gd name="adj" fmla="val 26316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 rot="13500000">
            <a:off x="1258946" y="2356957"/>
            <a:ext cx="41697" cy="2779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572768" y="22768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Input</a:t>
            </a:r>
            <a:endParaRPr lang="en-US" sz="930" dirty="0"/>
          </a:p>
        </p:txBody>
      </p:sp>
      <p:sp>
        <p:nvSpPr>
          <p:cNvPr id="46" name="Shape 44"/>
          <p:cNvSpPr/>
          <p:nvPr/>
        </p:nvSpPr>
        <p:spPr>
          <a:xfrm>
            <a:off x="1188720" y="40690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143000" y="4005072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1289304" y="420624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463040" y="4288536"/>
            <a:ext cx="0" cy="18288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1371600" y="4379976"/>
            <a:ext cx="182880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417320" y="4334256"/>
            <a:ext cx="91440" cy="9144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508760" y="4334256"/>
            <a:ext cx="-91440" cy="9144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728216" y="4306824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930" dirty="0"/>
          </a:p>
        </p:txBody>
      </p:sp>
      <p:sp>
        <p:nvSpPr>
          <p:cNvPr id="54" name="Shape 52"/>
          <p:cNvSpPr/>
          <p:nvPr/>
        </p:nvSpPr>
        <p:spPr>
          <a:xfrm>
            <a:off x="8961120" y="2039112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915400" y="1975104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9061704" y="2176272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145097" y="2245766"/>
            <a:ext cx="180685" cy="201534"/>
          </a:xfrm>
          <a:prstGeom prst="can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500616" y="2276856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930" dirty="0"/>
          </a:p>
        </p:txBody>
      </p:sp>
      <p:sp>
        <p:nvSpPr>
          <p:cNvPr id="59" name="Shape 57"/>
          <p:cNvSpPr/>
          <p:nvPr/>
        </p:nvSpPr>
        <p:spPr>
          <a:xfrm>
            <a:off x="9098280" y="4069080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9052560" y="4005072"/>
            <a:ext cx="1965960" cy="841248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9198864" y="420624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9299631" y="4268785"/>
            <a:ext cx="145938" cy="194584"/>
          </a:xfrm>
          <a:prstGeom prst="roundRect">
            <a:avLst>
              <a:gd name="adj" fmla="val 12531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9323954" y="4331330"/>
            <a:ext cx="83393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9323954" y="4376501"/>
            <a:ext cx="6602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637776" y="4306824"/>
            <a:ext cx="107899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930" dirty="0"/>
          </a:p>
        </p:txBody>
      </p:sp>
      <p:sp>
        <p:nvSpPr>
          <p:cNvPr id="66" name="Shape 64"/>
          <p:cNvSpPr/>
          <p:nvPr/>
        </p:nvSpPr>
        <p:spPr>
          <a:xfrm>
            <a:off x="2962656" y="2395728"/>
            <a:ext cx="1234440" cy="438912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7" name="Shape 65"/>
          <p:cNvSpPr/>
          <p:nvPr/>
        </p:nvSpPr>
        <p:spPr>
          <a:xfrm>
            <a:off x="3127248" y="4407408"/>
            <a:ext cx="1078992" cy="-822960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7891272" y="2395728"/>
            <a:ext cx="950976" cy="438912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7891272" y="3218688"/>
            <a:ext cx="1097280" cy="859536"/>
          </a:xfrm>
          <a:prstGeom prst="line">
            <a:avLst/>
          </a:prstGeom>
          <a:noFill/>
          <a:ln w="2032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70" name="Shape 68"/>
          <p:cNvSpPr/>
          <p:nvPr/>
        </p:nvSpPr>
        <p:spPr>
          <a:xfrm>
            <a:off x="4114800" y="4498848"/>
            <a:ext cx="3913632" cy="274320"/>
          </a:xfrm>
          <a:prstGeom prst="roundRect">
            <a:avLst>
              <a:gd name="adj" fmla="val 33333"/>
            </a:avLst>
          </a:prstGeom>
          <a:solidFill>
            <a:srgbClr val="ECFEFF"/>
          </a:solidFill>
          <a:ln w="12700">
            <a:solidFill>
              <a:srgbClr val="ECFEFF">
                <a:alpha val="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114800" y="4572000"/>
            <a:ext cx="39136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project memory feeds every output</a:t>
            </a:r>
            <a:endParaRPr lang="en-US" sz="720" dirty="0"/>
          </a:p>
        </p:txBody>
      </p:sp>
      <p:sp>
        <p:nvSpPr>
          <p:cNvPr id="72" name="Shape 70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76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Key Features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focuses on the exact features needed for planning-heavy academic projects.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1938528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1874520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69848" y="2112264"/>
            <a:ext cx="475488" cy="47548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174455" y="2216871"/>
            <a:ext cx="266273" cy="190195"/>
          </a:xfrm>
          <a:prstGeom prst="roundRect">
            <a:avLst>
              <a:gd name="adj" fmla="val 19231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 rot="13500000">
            <a:off x="1241024" y="2359518"/>
            <a:ext cx="57059" cy="38039"/>
          </a:xfrm>
          <a:prstGeom prst="chevron">
            <a:avLst/>
          </a:prstGeom>
          <a:solidFill>
            <a:srgbClr val="FFFFFF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709928" y="21305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Guided Chat</a:t>
            </a:r>
            <a:endParaRPr lang="en-US" sz="1210" dirty="0"/>
          </a:p>
        </p:txBody>
      </p:sp>
      <p:sp>
        <p:nvSpPr>
          <p:cNvPr id="42" name="Text 40"/>
          <p:cNvSpPr/>
          <p:nvPr/>
        </p:nvSpPr>
        <p:spPr>
          <a:xfrm>
            <a:off x="1709928" y="25328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structured planning inputs.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4590288" y="1938528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544568" y="1874520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45736" y="2112264"/>
            <a:ext cx="475488" cy="47548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40834" y="2350008"/>
            <a:ext cx="109362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983480" y="2350008"/>
            <a:ext cx="85588" cy="-76078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983480" y="2350008"/>
            <a:ext cx="85588" cy="76078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031029" y="2183587"/>
            <a:ext cx="0" cy="85588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031029" y="2359518"/>
            <a:ext cx="0" cy="66568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385816" y="21305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Five-Stage Flow</a:t>
            </a:r>
            <a:endParaRPr lang="en-US" sz="1210" dirty="0"/>
          </a:p>
        </p:txBody>
      </p:sp>
      <p:sp>
        <p:nvSpPr>
          <p:cNvPr id="52" name="Text 50"/>
          <p:cNvSpPr/>
          <p:nvPr/>
        </p:nvSpPr>
        <p:spPr>
          <a:xfrm>
            <a:off x="5385816" y="25328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Moves from idea to stack decisions.</a:t>
            </a:r>
            <a:endParaRPr lang="en-US" sz="880" dirty="0"/>
          </a:p>
        </p:txBody>
      </p:sp>
      <p:sp>
        <p:nvSpPr>
          <p:cNvPr id="53" name="Shape 51"/>
          <p:cNvSpPr/>
          <p:nvPr/>
        </p:nvSpPr>
        <p:spPr>
          <a:xfrm>
            <a:off x="8266176" y="1938528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8220456" y="1874520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8421624" y="2112264"/>
            <a:ext cx="475488" cy="47548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8535741" y="2207362"/>
            <a:ext cx="247254" cy="275783"/>
          </a:xfrm>
          <a:prstGeom prst="can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9061704" y="213055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Blueprint Memory</a:t>
            </a:r>
            <a:endParaRPr lang="en-US" sz="1210" dirty="0"/>
          </a:p>
        </p:txBody>
      </p:sp>
      <p:sp>
        <p:nvSpPr>
          <p:cNvPr id="58" name="Text 56"/>
          <p:cNvSpPr/>
          <p:nvPr/>
        </p:nvSpPr>
        <p:spPr>
          <a:xfrm>
            <a:off x="9061704" y="253288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summaries for reuse.</a:t>
            </a:r>
            <a:endParaRPr lang="en-US" sz="880" dirty="0"/>
          </a:p>
        </p:txBody>
      </p:sp>
      <p:sp>
        <p:nvSpPr>
          <p:cNvPr id="59" name="Shape 57"/>
          <p:cNvSpPr/>
          <p:nvPr/>
        </p:nvSpPr>
        <p:spPr>
          <a:xfrm>
            <a:off x="914400" y="3721608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" y="3657600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69848" y="3895344"/>
            <a:ext cx="475488" cy="47548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07740" y="3980932"/>
            <a:ext cx="199705" cy="266273"/>
          </a:xfrm>
          <a:prstGeom prst="roundRect">
            <a:avLst>
              <a:gd name="adj" fmla="val 9158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241024" y="4066520"/>
            <a:ext cx="114117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241024" y="4128333"/>
            <a:ext cx="90343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1709928" y="39136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Document Builder</a:t>
            </a:r>
            <a:endParaRPr lang="en-US" sz="1210" dirty="0"/>
          </a:p>
        </p:txBody>
      </p:sp>
      <p:sp>
        <p:nvSpPr>
          <p:cNvPr id="66" name="Text 64"/>
          <p:cNvSpPr/>
          <p:nvPr/>
        </p:nvSpPr>
        <p:spPr>
          <a:xfrm>
            <a:off x="1709928" y="4315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BRD, SRS, roadmap, tasks.</a:t>
            </a:r>
            <a:endParaRPr lang="en-US" sz="880" dirty="0"/>
          </a:p>
        </p:txBody>
      </p:sp>
      <p:sp>
        <p:nvSpPr>
          <p:cNvPr id="67" name="Shape 65"/>
          <p:cNvSpPr/>
          <p:nvPr/>
        </p:nvSpPr>
        <p:spPr>
          <a:xfrm>
            <a:off x="4590288" y="3721608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544568" y="3657600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9" name="Shape 67"/>
          <p:cNvSpPr/>
          <p:nvPr/>
        </p:nvSpPr>
        <p:spPr>
          <a:xfrm>
            <a:off x="4745736" y="3895344"/>
            <a:ext cx="475488" cy="47548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983480" y="3977640"/>
            <a:ext cx="0" cy="310896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4828032" y="4133088"/>
            <a:ext cx="310896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4873752" y="4023360"/>
            <a:ext cx="219456" cy="219456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5093208" y="4023360"/>
            <a:ext cx="-219456" cy="219456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385816" y="39136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Prompt Generator</a:t>
            </a:r>
            <a:endParaRPr lang="en-US" sz="1210" dirty="0"/>
          </a:p>
        </p:txBody>
      </p:sp>
      <p:sp>
        <p:nvSpPr>
          <p:cNvPr id="75" name="Text 73"/>
          <p:cNvSpPr/>
          <p:nvPr/>
        </p:nvSpPr>
        <p:spPr>
          <a:xfrm>
            <a:off x="5385816" y="4315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implementation planning.</a:t>
            </a:r>
            <a:endParaRPr lang="en-US" sz="880" dirty="0"/>
          </a:p>
        </p:txBody>
      </p:sp>
      <p:sp>
        <p:nvSpPr>
          <p:cNvPr id="76" name="Shape 74"/>
          <p:cNvSpPr/>
          <p:nvPr/>
        </p:nvSpPr>
        <p:spPr>
          <a:xfrm>
            <a:off x="8266176" y="3721608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8220456" y="3657600"/>
            <a:ext cx="3035808" cy="1243584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78" name="Shape 76"/>
          <p:cNvSpPr/>
          <p:nvPr/>
        </p:nvSpPr>
        <p:spPr>
          <a:xfrm>
            <a:off x="8421624" y="3895344"/>
            <a:ext cx="475488" cy="475488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43F5E">
                <a:alpha val="3000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 rot="5400000">
            <a:off x="8545251" y="3990442"/>
            <a:ext cx="228234" cy="247254"/>
          </a:xfrm>
          <a:prstGeom prst="homePlate">
            <a:avLst/>
          </a:prstGeom>
          <a:solidFill>
            <a:srgbClr val="FFFFFF">
              <a:alpha val="0"/>
            </a:srgbClr>
          </a:solidFill>
          <a:ln w="15240">
            <a:solidFill>
              <a:srgbClr val="F43F5E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9061704" y="3913632"/>
            <a:ext cx="1783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1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Secure Workspace</a:t>
            </a:r>
            <a:endParaRPr lang="en-US" sz="1210" dirty="0"/>
          </a:p>
        </p:txBody>
      </p:sp>
      <p:sp>
        <p:nvSpPr>
          <p:cNvPr id="81" name="Text 79"/>
          <p:cNvSpPr/>
          <p:nvPr/>
        </p:nvSpPr>
        <p:spPr>
          <a:xfrm>
            <a:off x="9061704" y="4315968"/>
            <a:ext cx="1783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Firebase authentication and storage.</a:t>
            </a:r>
            <a:endParaRPr lang="en-US" sz="880" dirty="0"/>
          </a:p>
        </p:txBody>
      </p:sp>
      <p:sp>
        <p:nvSpPr>
          <p:cNvPr id="82" name="Shape 80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 Architecture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application is organized as a modular web stack with clear roles for frontend, backend, storage, and AI services.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2350008" y="1874520"/>
            <a:ext cx="7571232" cy="4389120"/>
          </a:xfrm>
          <a:prstGeom prst="roundRect">
            <a:avLst>
              <a:gd name="adj" fmla="val 166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2304288" y="1810512"/>
            <a:ext cx="7571232" cy="4389120"/>
          </a:xfrm>
          <a:prstGeom prst="roundRect">
            <a:avLst>
              <a:gd name="adj" fmla="val 1667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578608" y="2066544"/>
            <a:ext cx="7040880" cy="3822192"/>
          </a:xfrm>
          <a:prstGeom prst="roundRect">
            <a:avLst>
              <a:gd name="adj" fmla="val 1914"/>
            </a:avLst>
          </a:prstGeom>
          <a:solidFill>
            <a:srgbClr val="F8FB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761488" y="2249424"/>
            <a:ext cx="6675120" cy="3456432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9436608" y="2249424"/>
            <a:ext cx="-6675120" cy="3456432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2761488" y="3721608"/>
            <a:ext cx="6675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SYSTEM ARCHITECTURE DIAGRAM</a:t>
            </a:r>
            <a:endParaRPr lang="en-US" sz="1350" dirty="0"/>
          </a:p>
        </p:txBody>
      </p:sp>
      <p:sp>
        <p:nvSpPr>
          <p:cNvPr id="42" name="Text 40"/>
          <p:cNvSpPr/>
          <p:nvPr/>
        </p:nvSpPr>
        <p:spPr>
          <a:xfrm>
            <a:off x="2761488" y="4050792"/>
            <a:ext cx="66751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final architecture diagram</a:t>
            </a:r>
            <a:endParaRPr lang="en-US" sz="880" dirty="0"/>
          </a:p>
        </p:txBody>
      </p:sp>
      <p:sp>
        <p:nvSpPr>
          <p:cNvPr id="43" name="Shape 41"/>
          <p:cNvSpPr/>
          <p:nvPr/>
        </p:nvSpPr>
        <p:spPr>
          <a:xfrm>
            <a:off x="886968" y="2093976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41248" y="202996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841248" y="2029968"/>
            <a:ext cx="109728" cy="96012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97280" y="2249424"/>
            <a:ext cx="813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Client</a:t>
            </a:r>
            <a:endParaRPr lang="en-US" sz="1160" dirty="0"/>
          </a:p>
        </p:txBody>
      </p:sp>
      <p:sp>
        <p:nvSpPr>
          <p:cNvPr id="47" name="Text 45"/>
          <p:cNvSpPr/>
          <p:nvPr/>
        </p:nvSpPr>
        <p:spPr>
          <a:xfrm>
            <a:off x="1097280" y="254203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 UI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886968" y="3300984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1248" y="3236976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41248" y="3236976"/>
            <a:ext cx="109728" cy="96012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097280" y="3456432"/>
            <a:ext cx="813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Auth</a:t>
            </a:r>
            <a:endParaRPr lang="en-US" sz="1160" dirty="0"/>
          </a:p>
        </p:txBody>
      </p:sp>
      <p:sp>
        <p:nvSpPr>
          <p:cNvPr id="52" name="Text 50"/>
          <p:cNvSpPr/>
          <p:nvPr/>
        </p:nvSpPr>
        <p:spPr>
          <a:xfrm>
            <a:off x="1097280" y="374904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sign-in</a:t>
            </a:r>
            <a:endParaRPr lang="en-US" sz="890" dirty="0"/>
          </a:p>
        </p:txBody>
      </p:sp>
      <p:sp>
        <p:nvSpPr>
          <p:cNvPr id="53" name="Shape 51"/>
          <p:cNvSpPr/>
          <p:nvPr/>
        </p:nvSpPr>
        <p:spPr>
          <a:xfrm>
            <a:off x="10104120" y="189280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0058400" y="1828800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10058400" y="1828800"/>
            <a:ext cx="109728" cy="9601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0314432" y="2048256"/>
            <a:ext cx="813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API</a:t>
            </a:r>
            <a:endParaRPr lang="en-US" sz="1160" dirty="0"/>
          </a:p>
        </p:txBody>
      </p:sp>
      <p:sp>
        <p:nvSpPr>
          <p:cNvPr id="57" name="Text 55"/>
          <p:cNvSpPr/>
          <p:nvPr/>
        </p:nvSpPr>
        <p:spPr>
          <a:xfrm>
            <a:off x="10314432" y="2340864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+ Express</a:t>
            </a:r>
            <a:endParaRPr lang="en-US" sz="890" dirty="0"/>
          </a:p>
        </p:txBody>
      </p:sp>
      <p:sp>
        <p:nvSpPr>
          <p:cNvPr id="58" name="Shape 56"/>
          <p:cNvSpPr/>
          <p:nvPr/>
        </p:nvSpPr>
        <p:spPr>
          <a:xfrm>
            <a:off x="10104120" y="3099816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0058400" y="3035808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0058400" y="3035808"/>
            <a:ext cx="109728" cy="960120"/>
          </a:xfrm>
          <a:prstGeom prst="rect">
            <a:avLst/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314432" y="3255264"/>
            <a:ext cx="813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Store</a:t>
            </a:r>
            <a:endParaRPr lang="en-US" sz="1160" dirty="0"/>
          </a:p>
        </p:txBody>
      </p:sp>
      <p:sp>
        <p:nvSpPr>
          <p:cNvPr id="62" name="Text 60"/>
          <p:cNvSpPr/>
          <p:nvPr/>
        </p:nvSpPr>
        <p:spPr>
          <a:xfrm>
            <a:off x="10314432" y="3547872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Firestore memory</a:t>
            </a:r>
            <a:endParaRPr lang="en-US" sz="890" dirty="0"/>
          </a:p>
        </p:txBody>
      </p:sp>
      <p:sp>
        <p:nvSpPr>
          <p:cNvPr id="63" name="Shape 61"/>
          <p:cNvSpPr/>
          <p:nvPr/>
        </p:nvSpPr>
        <p:spPr>
          <a:xfrm>
            <a:off x="10104120" y="4306824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058400" y="4242816"/>
            <a:ext cx="123444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10058400" y="4242816"/>
            <a:ext cx="109728" cy="9601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0314432" y="4462272"/>
            <a:ext cx="81381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</a:t>
            </a:r>
            <a:endParaRPr lang="en-US" sz="1160" dirty="0"/>
          </a:p>
        </p:txBody>
      </p:sp>
      <p:sp>
        <p:nvSpPr>
          <p:cNvPr id="67" name="Text 65"/>
          <p:cNvSpPr/>
          <p:nvPr/>
        </p:nvSpPr>
        <p:spPr>
          <a:xfrm>
            <a:off x="10314432" y="4754880"/>
            <a:ext cx="8138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gateway</a:t>
            </a:r>
            <a:endParaRPr lang="en-US" sz="890" dirty="0"/>
          </a:p>
        </p:txBody>
      </p:sp>
      <p:sp>
        <p:nvSpPr>
          <p:cNvPr id="68" name="Shape 66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Workflow Overview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journey is designed as a clean timeline from sign-up to export.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32688" y="3730752"/>
            <a:ext cx="10149840" cy="0"/>
          </a:xfrm>
          <a:prstGeom prst="line">
            <a:avLst/>
          </a:prstGeom>
          <a:noFill/>
          <a:ln w="2794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896112" y="3529584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6112" y="367588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10" dirty="0"/>
          </a:p>
        </p:txBody>
      </p:sp>
      <p:sp>
        <p:nvSpPr>
          <p:cNvPr id="39" name="Shape 37"/>
          <p:cNvSpPr/>
          <p:nvPr/>
        </p:nvSpPr>
        <p:spPr>
          <a:xfrm>
            <a:off x="777240" y="2276856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1520" y="2212848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822960" y="2487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2514600" y="3529584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514600" y="367588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10" dirty="0"/>
          </a:p>
        </p:txBody>
      </p:sp>
      <p:sp>
        <p:nvSpPr>
          <p:cNvPr id="44" name="Shape 42"/>
          <p:cNvSpPr/>
          <p:nvPr/>
        </p:nvSpPr>
        <p:spPr>
          <a:xfrm>
            <a:off x="2395728" y="2276856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350008" y="2212848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2441448" y="2487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Project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4133088" y="3529584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133088" y="367588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10" dirty="0"/>
          </a:p>
        </p:txBody>
      </p:sp>
      <p:sp>
        <p:nvSpPr>
          <p:cNvPr id="49" name="Shape 47"/>
          <p:cNvSpPr/>
          <p:nvPr/>
        </p:nvSpPr>
        <p:spPr>
          <a:xfrm>
            <a:off x="4014216" y="2276856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968496" y="2212848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4059936" y="2487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Chat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5751576" y="3529584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751576" y="367588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10" dirty="0"/>
          </a:p>
        </p:txBody>
      </p:sp>
      <p:sp>
        <p:nvSpPr>
          <p:cNvPr id="54" name="Shape 52"/>
          <p:cNvSpPr/>
          <p:nvPr/>
        </p:nvSpPr>
        <p:spPr>
          <a:xfrm>
            <a:off x="5632704" y="2276856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5586984" y="2212848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6" name="Text 54"/>
          <p:cNvSpPr/>
          <p:nvPr/>
        </p:nvSpPr>
        <p:spPr>
          <a:xfrm>
            <a:off x="5678424" y="2487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</a:t>
            </a:r>
            <a:endParaRPr lang="en-US" sz="870" dirty="0"/>
          </a:p>
        </p:txBody>
      </p:sp>
      <p:sp>
        <p:nvSpPr>
          <p:cNvPr id="57" name="Shape 55"/>
          <p:cNvSpPr/>
          <p:nvPr/>
        </p:nvSpPr>
        <p:spPr>
          <a:xfrm>
            <a:off x="7370064" y="3529584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370064" y="367588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10" dirty="0"/>
          </a:p>
        </p:txBody>
      </p:sp>
      <p:sp>
        <p:nvSpPr>
          <p:cNvPr id="59" name="Shape 57"/>
          <p:cNvSpPr/>
          <p:nvPr/>
        </p:nvSpPr>
        <p:spPr>
          <a:xfrm>
            <a:off x="7251192" y="2276856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205472" y="2212848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1" name="Text 59"/>
          <p:cNvSpPr/>
          <p:nvPr/>
        </p:nvSpPr>
        <p:spPr>
          <a:xfrm>
            <a:off x="7296912" y="2487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Docs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8988552" y="3529584"/>
            <a:ext cx="420624" cy="42062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88552" y="367588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710" dirty="0"/>
          </a:p>
        </p:txBody>
      </p:sp>
      <p:sp>
        <p:nvSpPr>
          <p:cNvPr id="64" name="Shape 62"/>
          <p:cNvSpPr/>
          <p:nvPr/>
        </p:nvSpPr>
        <p:spPr>
          <a:xfrm>
            <a:off x="8869680" y="2276856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823960" y="2212848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915400" y="2487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Prompts</a:t>
            </a:r>
            <a:endParaRPr lang="en-US" sz="870" dirty="0"/>
          </a:p>
        </p:txBody>
      </p:sp>
      <p:sp>
        <p:nvSpPr>
          <p:cNvPr id="67" name="Shape 65"/>
          <p:cNvSpPr/>
          <p:nvPr/>
        </p:nvSpPr>
        <p:spPr>
          <a:xfrm>
            <a:off x="10607040" y="3529584"/>
            <a:ext cx="420624" cy="42062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10607040" y="3675888"/>
            <a:ext cx="42062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1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710" dirty="0"/>
          </a:p>
        </p:txBody>
      </p:sp>
      <p:sp>
        <p:nvSpPr>
          <p:cNvPr id="69" name="Shape 67"/>
          <p:cNvSpPr/>
          <p:nvPr/>
        </p:nvSpPr>
        <p:spPr>
          <a:xfrm>
            <a:off x="10488168" y="2276856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0442448" y="2212848"/>
            <a:ext cx="1115568" cy="768096"/>
          </a:xfrm>
          <a:prstGeom prst="roundRect">
            <a:avLst>
              <a:gd name="adj" fmla="val 9524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10533888" y="2487168"/>
            <a:ext cx="914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870" dirty="0"/>
          </a:p>
        </p:txBody>
      </p:sp>
      <p:sp>
        <p:nvSpPr>
          <p:cNvPr id="72" name="Shape 70"/>
          <p:cNvSpPr/>
          <p:nvPr/>
        </p:nvSpPr>
        <p:spPr>
          <a:xfrm>
            <a:off x="960120" y="4800600"/>
            <a:ext cx="10012680" cy="27432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960120" y="4873752"/>
            <a:ext cx="1001268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Timeline: Signup -&gt; Create Project -&gt; AI Chat -&gt; Blueprint -&gt; Generate Docs -&gt; Generate Prompts -&gt; Export</a:t>
            </a:r>
            <a:endParaRPr lang="en-US" sz="720" dirty="0"/>
          </a:p>
        </p:txBody>
      </p:sp>
      <p:sp>
        <p:nvSpPr>
          <p:cNvPr id="74" name="Shape 72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 uses a modern web stack chosen for speed, deployment flexibility, and AI integration.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1984248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192024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88136" y="2139696"/>
            <a:ext cx="1024128" cy="274320"/>
          </a:xfrm>
          <a:prstGeom prst="roundRect">
            <a:avLst>
              <a:gd name="adj" fmla="val 33333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8136" y="221284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20" dirty="0"/>
          </a:p>
        </p:txBody>
      </p:sp>
      <p:sp>
        <p:nvSpPr>
          <p:cNvPr id="40" name="Shape 38"/>
          <p:cNvSpPr/>
          <p:nvPr/>
        </p:nvSpPr>
        <p:spPr>
          <a:xfrm>
            <a:off x="1088136" y="263347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2563EB">
                <a:alpha val="42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161288" y="271576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</a:t>
            </a:r>
            <a:endParaRPr lang="en-US" sz="730" dirty="0"/>
          </a:p>
        </p:txBody>
      </p:sp>
      <p:sp>
        <p:nvSpPr>
          <p:cNvPr id="42" name="Shape 40"/>
          <p:cNvSpPr/>
          <p:nvPr/>
        </p:nvSpPr>
        <p:spPr>
          <a:xfrm>
            <a:off x="2551176" y="263347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2563EB">
                <a:alpha val="42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624328" y="271576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Vite</a:t>
            </a:r>
            <a:endParaRPr lang="en-US" sz="730" dirty="0"/>
          </a:p>
        </p:txBody>
      </p:sp>
      <p:sp>
        <p:nvSpPr>
          <p:cNvPr id="44" name="Shape 42"/>
          <p:cNvSpPr/>
          <p:nvPr/>
        </p:nvSpPr>
        <p:spPr>
          <a:xfrm>
            <a:off x="4014216" y="263347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2563EB">
                <a:alpha val="42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087368" y="271576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CSS</a:t>
            </a:r>
            <a:endParaRPr lang="en-US" sz="730" dirty="0"/>
          </a:p>
        </p:txBody>
      </p:sp>
      <p:sp>
        <p:nvSpPr>
          <p:cNvPr id="46" name="Shape 44"/>
          <p:cNvSpPr/>
          <p:nvPr/>
        </p:nvSpPr>
        <p:spPr>
          <a:xfrm>
            <a:off x="6492240" y="1984248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446520" y="192024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665976" y="2139696"/>
            <a:ext cx="1024128" cy="274320"/>
          </a:xfrm>
          <a:prstGeom prst="roundRect">
            <a:avLst>
              <a:gd name="adj" fmla="val 33333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65976" y="221284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4F46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20" dirty="0"/>
          </a:p>
        </p:txBody>
      </p:sp>
      <p:sp>
        <p:nvSpPr>
          <p:cNvPr id="50" name="Shape 48"/>
          <p:cNvSpPr/>
          <p:nvPr/>
        </p:nvSpPr>
        <p:spPr>
          <a:xfrm>
            <a:off x="6665976" y="263347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4F46E5">
                <a:alpha val="42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739128" y="271576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</a:t>
            </a:r>
            <a:endParaRPr lang="en-US" sz="730" dirty="0"/>
          </a:p>
        </p:txBody>
      </p:sp>
      <p:sp>
        <p:nvSpPr>
          <p:cNvPr id="52" name="Shape 50"/>
          <p:cNvSpPr/>
          <p:nvPr/>
        </p:nvSpPr>
        <p:spPr>
          <a:xfrm>
            <a:off x="8129016" y="263347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4F46E5">
                <a:alpha val="42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202168" y="271576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</a:t>
            </a:r>
            <a:endParaRPr lang="en-US" sz="730" dirty="0"/>
          </a:p>
        </p:txBody>
      </p:sp>
      <p:sp>
        <p:nvSpPr>
          <p:cNvPr id="54" name="Shape 52"/>
          <p:cNvSpPr/>
          <p:nvPr/>
        </p:nvSpPr>
        <p:spPr>
          <a:xfrm>
            <a:off x="914400" y="3995928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68680" y="393192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1088136" y="4151376"/>
            <a:ext cx="1024128" cy="274320"/>
          </a:xfrm>
          <a:prstGeom prst="roundRect">
            <a:avLst>
              <a:gd name="adj" fmla="val 33333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88136" y="422452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720" dirty="0"/>
          </a:p>
        </p:txBody>
      </p:sp>
      <p:sp>
        <p:nvSpPr>
          <p:cNvPr id="58" name="Shape 56"/>
          <p:cNvSpPr/>
          <p:nvPr/>
        </p:nvSpPr>
        <p:spPr>
          <a:xfrm>
            <a:off x="1088136" y="464515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06B6D4">
                <a:alpha val="42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61288" y="472744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730" dirty="0"/>
          </a:p>
        </p:txBody>
      </p:sp>
      <p:sp>
        <p:nvSpPr>
          <p:cNvPr id="60" name="Shape 58"/>
          <p:cNvSpPr/>
          <p:nvPr/>
        </p:nvSpPr>
        <p:spPr>
          <a:xfrm>
            <a:off x="2551176" y="464515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06B6D4">
                <a:alpha val="42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624328" y="472744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Firestore</a:t>
            </a:r>
            <a:endParaRPr lang="en-US" sz="730" dirty="0"/>
          </a:p>
        </p:txBody>
      </p:sp>
      <p:sp>
        <p:nvSpPr>
          <p:cNvPr id="62" name="Shape 60"/>
          <p:cNvSpPr/>
          <p:nvPr/>
        </p:nvSpPr>
        <p:spPr>
          <a:xfrm>
            <a:off x="4014216" y="464515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06B6D4">
                <a:alpha val="42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4087368" y="472744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OpenRouter API</a:t>
            </a:r>
            <a:endParaRPr lang="en-US" sz="730" dirty="0"/>
          </a:p>
        </p:txBody>
      </p:sp>
      <p:sp>
        <p:nvSpPr>
          <p:cNvPr id="64" name="Shape 62"/>
          <p:cNvSpPr/>
          <p:nvPr/>
        </p:nvSpPr>
        <p:spPr>
          <a:xfrm>
            <a:off x="6492240" y="3995928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6446520" y="3931920"/>
            <a:ext cx="4846320" cy="1463040"/>
          </a:xfrm>
          <a:prstGeom prst="roundRect">
            <a:avLst>
              <a:gd name="adj" fmla="val 5000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6" name="Shape 64"/>
          <p:cNvSpPr/>
          <p:nvPr/>
        </p:nvSpPr>
        <p:spPr>
          <a:xfrm>
            <a:off x="6665976" y="4151376"/>
            <a:ext cx="1024128" cy="274320"/>
          </a:xfrm>
          <a:prstGeom prst="roundRect">
            <a:avLst>
              <a:gd name="adj" fmla="val 33333"/>
            </a:avLst>
          </a:prstGeom>
          <a:solidFill>
            <a:srgbClr val="EAF2FF"/>
          </a:solidFill>
          <a:ln w="12700">
            <a:solidFill>
              <a:srgbClr val="EAF2FF">
                <a:alpha val="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665976" y="4224528"/>
            <a:ext cx="10241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720" dirty="0"/>
          </a:p>
        </p:txBody>
      </p:sp>
      <p:sp>
        <p:nvSpPr>
          <p:cNvPr id="68" name="Shape 66"/>
          <p:cNvSpPr/>
          <p:nvPr/>
        </p:nvSpPr>
        <p:spPr>
          <a:xfrm>
            <a:off x="6665976" y="464515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14B8A6">
                <a:alpha val="42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739128" y="472744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Vercel</a:t>
            </a:r>
            <a:endParaRPr lang="en-US" sz="730" dirty="0"/>
          </a:p>
        </p:txBody>
      </p:sp>
      <p:sp>
        <p:nvSpPr>
          <p:cNvPr id="70" name="Shape 68"/>
          <p:cNvSpPr/>
          <p:nvPr/>
        </p:nvSpPr>
        <p:spPr>
          <a:xfrm>
            <a:off x="8129016" y="4645152"/>
            <a:ext cx="129844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14B8A6">
                <a:alpha val="42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02168" y="4727448"/>
            <a:ext cx="115214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</a:t>
            </a:r>
            <a:endParaRPr lang="en-US" sz="730" dirty="0"/>
          </a:p>
        </p:txBody>
      </p:sp>
      <p:sp>
        <p:nvSpPr>
          <p:cNvPr id="72" name="Shape 70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Module Description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supports one part of the planning workflow and keeps the system easier to maintain.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1892808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182880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33272" y="201168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 rot="5400000">
            <a:off x="1123615" y="2081174"/>
            <a:ext cx="166787" cy="180685"/>
          </a:xfrm>
          <a:prstGeom prst="homePlate">
            <a:avLst/>
          </a:prstGeom>
          <a:solidFill>
            <a:srgbClr val="FFFFFF">
              <a:alpha val="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527048" y="1993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Authentication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2971800" y="201168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Handles login, session control, and route protection.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914400" y="2852928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68680" y="278892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1033272" y="297180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1102766" y="3145536"/>
            <a:ext cx="79919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1207008" y="3145536"/>
            <a:ext cx="62545" cy="-55596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207008" y="3145536"/>
            <a:ext cx="62545" cy="55596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241755" y="3023921"/>
            <a:ext cx="0" cy="62545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241755" y="3152485"/>
            <a:ext cx="0" cy="48646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527048" y="29535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Dashboard</a:t>
            </a:r>
            <a:endParaRPr lang="en-US" sz="1060" dirty="0"/>
          </a:p>
        </p:txBody>
      </p:sp>
      <p:sp>
        <p:nvSpPr>
          <p:cNvPr id="51" name="Text 49"/>
          <p:cNvSpPr/>
          <p:nvPr/>
        </p:nvSpPr>
        <p:spPr>
          <a:xfrm>
            <a:off x="2971800" y="297180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projects and quick actions for planning work.</a:t>
            </a:r>
            <a:endParaRPr lang="en-US" sz="820" dirty="0"/>
          </a:p>
        </p:txBody>
      </p:sp>
      <p:sp>
        <p:nvSpPr>
          <p:cNvPr id="52" name="Shape 50"/>
          <p:cNvSpPr/>
          <p:nvPr/>
        </p:nvSpPr>
        <p:spPr>
          <a:xfrm>
            <a:off x="914400" y="3813048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868680" y="37490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1033272" y="393192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09716" y="4008364"/>
            <a:ext cx="194584" cy="138989"/>
          </a:xfrm>
          <a:prstGeom prst="roundRect">
            <a:avLst>
              <a:gd name="adj" fmla="val 26316"/>
            </a:avLst>
          </a:prstGeom>
          <a:solidFill>
            <a:srgbClr val="FFFFFF">
              <a:alpha val="90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 rot="13500000">
            <a:off x="1158362" y="4112605"/>
            <a:ext cx="41697" cy="27798"/>
          </a:xfrm>
          <a:prstGeom prst="chevron">
            <a:avLst/>
          </a:prstGeom>
          <a:solidFill>
            <a:srgbClr val="FFFFFF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527048" y="391363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Workspace</a:t>
            </a:r>
            <a:endParaRPr lang="en-US" sz="1060" dirty="0"/>
          </a:p>
        </p:txBody>
      </p:sp>
      <p:sp>
        <p:nvSpPr>
          <p:cNvPr id="58" name="Text 56"/>
          <p:cNvSpPr/>
          <p:nvPr/>
        </p:nvSpPr>
        <p:spPr>
          <a:xfrm>
            <a:off x="2971800" y="393192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Brings AI chat and project context into one screen.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914400" y="4773168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868680" y="470916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1" name="Shape 59"/>
          <p:cNvSpPr/>
          <p:nvPr/>
        </p:nvSpPr>
        <p:spPr>
          <a:xfrm>
            <a:off x="1033272" y="489204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207008" y="4974336"/>
            <a:ext cx="0" cy="18288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15568" y="5065776"/>
            <a:ext cx="182880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61288" y="5020056"/>
            <a:ext cx="91440" cy="9144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252728" y="5020056"/>
            <a:ext cx="-91440" cy="9144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527048" y="48737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 Chat</a:t>
            </a:r>
            <a:endParaRPr lang="en-US" sz="1060" dirty="0"/>
          </a:p>
        </p:txBody>
      </p:sp>
      <p:sp>
        <p:nvSpPr>
          <p:cNvPr id="67" name="Text 65"/>
          <p:cNvSpPr/>
          <p:nvPr/>
        </p:nvSpPr>
        <p:spPr>
          <a:xfrm>
            <a:off x="2971800" y="489204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Collects stage-wise answers and generates summaries.</a:t>
            </a:r>
            <a:endParaRPr lang="en-US" sz="820" dirty="0"/>
          </a:p>
        </p:txBody>
      </p:sp>
      <p:sp>
        <p:nvSpPr>
          <p:cNvPr id="68" name="Shape 66"/>
          <p:cNvSpPr/>
          <p:nvPr/>
        </p:nvSpPr>
        <p:spPr>
          <a:xfrm>
            <a:off x="6172200" y="1892808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126480" y="182880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70" name="Shape 68"/>
          <p:cNvSpPr/>
          <p:nvPr/>
        </p:nvSpPr>
        <p:spPr>
          <a:xfrm>
            <a:off x="6291072" y="201168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6374465" y="2081174"/>
            <a:ext cx="180685" cy="201534"/>
          </a:xfrm>
          <a:prstGeom prst="can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F59E0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784848" y="199339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Blueprint</a:t>
            </a:r>
            <a:endParaRPr lang="en-US" sz="1060" dirty="0"/>
          </a:p>
        </p:txBody>
      </p:sp>
      <p:sp>
        <p:nvSpPr>
          <p:cNvPr id="73" name="Text 71"/>
          <p:cNvSpPr/>
          <p:nvPr/>
        </p:nvSpPr>
        <p:spPr>
          <a:xfrm>
            <a:off x="8229600" y="201168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Stores reusable project memory across stages.</a:t>
            </a:r>
            <a:endParaRPr lang="en-US" sz="820" dirty="0"/>
          </a:p>
        </p:txBody>
      </p:sp>
      <p:sp>
        <p:nvSpPr>
          <p:cNvPr id="74" name="Shape 72"/>
          <p:cNvSpPr/>
          <p:nvPr/>
        </p:nvSpPr>
        <p:spPr>
          <a:xfrm>
            <a:off x="6172200" y="2852928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126480" y="278892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291072" y="297180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391839" y="3034345"/>
            <a:ext cx="145938" cy="194584"/>
          </a:xfrm>
          <a:prstGeom prst="roundRect">
            <a:avLst>
              <a:gd name="adj" fmla="val 12531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416162" y="3096890"/>
            <a:ext cx="83393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6416162" y="3142061"/>
            <a:ext cx="66020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6784848" y="295351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Outputs</a:t>
            </a:r>
            <a:endParaRPr lang="en-US" sz="1060" dirty="0"/>
          </a:p>
        </p:txBody>
      </p:sp>
      <p:sp>
        <p:nvSpPr>
          <p:cNvPr id="81" name="Text 79"/>
          <p:cNvSpPr/>
          <p:nvPr/>
        </p:nvSpPr>
        <p:spPr>
          <a:xfrm>
            <a:off x="8229600" y="297180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Displays BRD, SRS, roadmap, and to-do content.</a:t>
            </a:r>
            <a:endParaRPr lang="en-US" sz="820" dirty="0"/>
          </a:p>
        </p:txBody>
      </p:sp>
      <p:sp>
        <p:nvSpPr>
          <p:cNvPr id="82" name="Shape 80"/>
          <p:cNvSpPr/>
          <p:nvPr/>
        </p:nvSpPr>
        <p:spPr>
          <a:xfrm>
            <a:off x="6172200" y="3813048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6126480" y="374904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84" name="Shape 82"/>
          <p:cNvSpPr/>
          <p:nvPr/>
        </p:nvSpPr>
        <p:spPr>
          <a:xfrm>
            <a:off x="6291072" y="393192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398788" y="4039636"/>
            <a:ext cx="132039" cy="132039"/>
          </a:xfrm>
          <a:prstGeom prst="ellipse">
            <a:avLst/>
          </a:prstGeom>
          <a:solidFill>
            <a:srgbClr val="FFFFFF">
              <a:alpha val="0"/>
            </a:srgbClr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433536" y="4105656"/>
            <a:ext cx="62545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 rot="2700000">
            <a:off x="6433536" y="4105656"/>
            <a:ext cx="62545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 rot="5400000">
            <a:off x="6433536" y="4105656"/>
            <a:ext cx="62545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 rot="8100000">
            <a:off x="6433536" y="4105656"/>
            <a:ext cx="62545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6784848" y="391363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Prompts</a:t>
            </a:r>
            <a:endParaRPr lang="en-US" sz="1060" dirty="0"/>
          </a:p>
        </p:txBody>
      </p:sp>
      <p:sp>
        <p:nvSpPr>
          <p:cNvPr id="91" name="Text 89"/>
          <p:cNvSpPr/>
          <p:nvPr/>
        </p:nvSpPr>
        <p:spPr>
          <a:xfrm>
            <a:off x="8229600" y="393192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coding prompts from stored planning data.</a:t>
            </a:r>
            <a:endParaRPr lang="en-US" sz="820" dirty="0"/>
          </a:p>
        </p:txBody>
      </p:sp>
      <p:sp>
        <p:nvSpPr>
          <p:cNvPr id="92" name="Shape 90"/>
          <p:cNvSpPr/>
          <p:nvPr/>
        </p:nvSpPr>
        <p:spPr>
          <a:xfrm>
            <a:off x="6172200" y="4773168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26480" y="4709160"/>
            <a:ext cx="516636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94" name="Shape 92"/>
          <p:cNvSpPr/>
          <p:nvPr/>
        </p:nvSpPr>
        <p:spPr>
          <a:xfrm>
            <a:off x="6291072" y="4892040"/>
            <a:ext cx="347472" cy="347472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6360566" y="5065776"/>
            <a:ext cx="79919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6464808" y="5065776"/>
            <a:ext cx="62545" cy="-55596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6464808" y="5065776"/>
            <a:ext cx="62545" cy="55596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6499555" y="4944161"/>
            <a:ext cx="0" cy="62545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6499555" y="5072725"/>
            <a:ext cx="0" cy="48646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6784848" y="4873752"/>
            <a:ext cx="1645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Settings</a:t>
            </a:r>
            <a:endParaRPr lang="en-US" sz="1060" dirty="0"/>
          </a:p>
        </p:txBody>
      </p:sp>
      <p:sp>
        <p:nvSpPr>
          <p:cNvPr id="101" name="Text 99"/>
          <p:cNvSpPr/>
          <p:nvPr/>
        </p:nvSpPr>
        <p:spPr>
          <a:xfrm>
            <a:off x="8229600" y="4892040"/>
            <a:ext cx="25603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profile, preferences, and project-level options.</a:t>
            </a:r>
            <a:endParaRPr lang="en-US" sz="820" dirty="0"/>
          </a:p>
        </p:txBody>
      </p:sp>
      <p:sp>
        <p:nvSpPr>
          <p:cNvPr id="102" name="Shape 100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 Planning Stages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five-stage workflow turns an idea into a project-ready blueprint step by step.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86968" y="2331720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" y="2267712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42416" y="24688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42416" y="257860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1042416" y="298094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Idea &amp; Goal</a:t>
            </a:r>
            <a:endParaRPr lang="en-US" sz="1220" dirty="0"/>
          </a:p>
        </p:txBody>
      </p:sp>
      <p:sp>
        <p:nvSpPr>
          <p:cNvPr id="41" name="Shape 39"/>
          <p:cNvSpPr/>
          <p:nvPr/>
        </p:nvSpPr>
        <p:spPr>
          <a:xfrm>
            <a:off x="2697480" y="3145536"/>
            <a:ext cx="384048" cy="27432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3154680" y="2660904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108960" y="2596896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3310128" y="27980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310128" y="29077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3310128" y="331012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Target Users &amp; Use Cases</a:t>
            </a:r>
            <a:endParaRPr lang="en-US" sz="1220" dirty="0"/>
          </a:p>
        </p:txBody>
      </p:sp>
      <p:sp>
        <p:nvSpPr>
          <p:cNvPr id="47" name="Shape 45"/>
          <p:cNvSpPr/>
          <p:nvPr/>
        </p:nvSpPr>
        <p:spPr>
          <a:xfrm>
            <a:off x="4965192" y="3474720"/>
            <a:ext cx="384048" cy="-27432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48" name="Shape 46"/>
          <p:cNvSpPr/>
          <p:nvPr/>
        </p:nvSpPr>
        <p:spPr>
          <a:xfrm>
            <a:off x="5422392" y="2331720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5376672" y="2267712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5577840" y="24688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577840" y="257860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5577840" y="298094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Core Features</a:t>
            </a:r>
            <a:endParaRPr lang="en-US" sz="1220" dirty="0"/>
          </a:p>
        </p:txBody>
      </p:sp>
      <p:sp>
        <p:nvSpPr>
          <p:cNvPr id="53" name="Shape 51"/>
          <p:cNvSpPr/>
          <p:nvPr/>
        </p:nvSpPr>
        <p:spPr>
          <a:xfrm>
            <a:off x="7232904" y="3145536"/>
            <a:ext cx="384048" cy="27432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54" name="Shape 52"/>
          <p:cNvSpPr/>
          <p:nvPr/>
        </p:nvSpPr>
        <p:spPr>
          <a:xfrm>
            <a:off x="7690104" y="2660904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644384" y="2596896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7845552" y="2798064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845552" y="29077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60" dirty="0"/>
          </a:p>
        </p:txBody>
      </p:sp>
      <p:sp>
        <p:nvSpPr>
          <p:cNvPr id="58" name="Text 56"/>
          <p:cNvSpPr/>
          <p:nvPr/>
        </p:nvSpPr>
        <p:spPr>
          <a:xfrm>
            <a:off x="7845552" y="3310128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UI/UX Preferences</a:t>
            </a:r>
            <a:endParaRPr lang="en-US" sz="1220" dirty="0"/>
          </a:p>
        </p:txBody>
      </p:sp>
      <p:sp>
        <p:nvSpPr>
          <p:cNvPr id="59" name="Shape 57"/>
          <p:cNvSpPr/>
          <p:nvPr/>
        </p:nvSpPr>
        <p:spPr>
          <a:xfrm>
            <a:off x="9500616" y="3474720"/>
            <a:ext cx="384048" cy="-274320"/>
          </a:xfrm>
          <a:prstGeom prst="line">
            <a:avLst/>
          </a:prstGeom>
          <a:noFill/>
          <a:ln w="17780">
            <a:solidFill>
              <a:srgbClr val="2563E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9957816" y="2331720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912096" y="2267712"/>
            <a:ext cx="1847088" cy="1783080"/>
          </a:xfrm>
          <a:prstGeom prst="roundRect">
            <a:avLst>
              <a:gd name="adj" fmla="val 4103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0113264" y="2468880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0113264" y="257860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760" dirty="0"/>
          </a:p>
        </p:txBody>
      </p:sp>
      <p:sp>
        <p:nvSpPr>
          <p:cNvPr id="64" name="Text 62"/>
          <p:cNvSpPr/>
          <p:nvPr/>
        </p:nvSpPr>
        <p:spPr>
          <a:xfrm>
            <a:off x="10113264" y="2980944"/>
            <a:ext cx="144475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Tech Stack &amp; Integrations</a:t>
            </a:r>
            <a:endParaRPr lang="en-US" sz="1220" dirty="0"/>
          </a:p>
        </p:txBody>
      </p:sp>
      <p:sp>
        <p:nvSpPr>
          <p:cNvPr id="65" name="Shape 63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76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Blueprint Memory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summaries are stored as structured memory so every future output stays aligned to the same plan.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41832" y="1892808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96112" y="1828800"/>
            <a:ext cx="3566160" cy="411480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207008" y="2121408"/>
            <a:ext cx="16276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Stored summaries</a:t>
            </a:r>
            <a:endParaRPr lang="en-US" sz="1380" dirty="0"/>
          </a:p>
        </p:txBody>
      </p:sp>
      <p:sp>
        <p:nvSpPr>
          <p:cNvPr id="39" name="Shape 37"/>
          <p:cNvSpPr/>
          <p:nvPr/>
        </p:nvSpPr>
        <p:spPr>
          <a:xfrm>
            <a:off x="1225296" y="2706624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26464" y="2615184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and project goal</a:t>
            </a:r>
            <a:endParaRPr lang="en-US" sz="1180" dirty="0"/>
          </a:p>
        </p:txBody>
      </p:sp>
      <p:sp>
        <p:nvSpPr>
          <p:cNvPr id="41" name="Shape 39"/>
          <p:cNvSpPr/>
          <p:nvPr/>
        </p:nvSpPr>
        <p:spPr>
          <a:xfrm>
            <a:off x="1225296" y="3310128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26464" y="3218688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and use cases</a:t>
            </a:r>
            <a:endParaRPr lang="en-US" sz="1180" dirty="0"/>
          </a:p>
        </p:txBody>
      </p:sp>
      <p:sp>
        <p:nvSpPr>
          <p:cNvPr id="43" name="Shape 41"/>
          <p:cNvSpPr/>
          <p:nvPr/>
        </p:nvSpPr>
        <p:spPr>
          <a:xfrm>
            <a:off x="1225296" y="39136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26464" y="3822192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priorities and constraints</a:t>
            </a:r>
            <a:endParaRPr lang="en-US" sz="1180" dirty="0"/>
          </a:p>
        </p:txBody>
      </p:sp>
      <p:sp>
        <p:nvSpPr>
          <p:cNvPr id="45" name="Shape 43"/>
          <p:cNvSpPr/>
          <p:nvPr/>
        </p:nvSpPr>
        <p:spPr>
          <a:xfrm>
            <a:off x="1225296" y="4517136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26464" y="4425696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preferences</a:t>
            </a:r>
            <a:endParaRPr lang="en-US" sz="1180" dirty="0"/>
          </a:p>
        </p:txBody>
      </p:sp>
      <p:sp>
        <p:nvSpPr>
          <p:cNvPr id="47" name="Shape 45"/>
          <p:cNvSpPr/>
          <p:nvPr/>
        </p:nvSpPr>
        <p:spPr>
          <a:xfrm>
            <a:off x="1225296" y="5120640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26464" y="5029200"/>
            <a:ext cx="2606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stack and integrations</a:t>
            </a:r>
            <a:endParaRPr lang="en-US" sz="1180" dirty="0"/>
          </a:p>
        </p:txBody>
      </p:sp>
      <p:sp>
        <p:nvSpPr>
          <p:cNvPr id="49" name="Shape 47"/>
          <p:cNvSpPr/>
          <p:nvPr/>
        </p:nvSpPr>
        <p:spPr>
          <a:xfrm>
            <a:off x="4846320" y="3291840"/>
            <a:ext cx="914400" cy="566928"/>
          </a:xfrm>
          <a:prstGeom prst="chevron">
            <a:avLst/>
          </a:prstGeom>
          <a:solidFill>
            <a:srgbClr val="2563EB">
              <a:alpha val="92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217920" y="2002536"/>
            <a:ext cx="1920240" cy="3611880"/>
          </a:xfrm>
          <a:prstGeom prst="roundRect">
            <a:avLst>
              <a:gd name="adj" fmla="val 3810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172200" y="1938528"/>
            <a:ext cx="1920240" cy="361188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858000" y="2450592"/>
            <a:ext cx="566928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994063" y="2563978"/>
            <a:ext cx="294803" cy="328818"/>
          </a:xfrm>
          <a:prstGeom prst="can">
            <a:avLst/>
          </a:prstGeom>
          <a:solidFill>
            <a:srgbClr val="FFFFFF">
              <a:alpha val="92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55664" y="324612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Firestore</a:t>
            </a:r>
            <a:endParaRPr lang="en-US" sz="1480" dirty="0"/>
          </a:p>
        </p:txBody>
      </p:sp>
      <p:sp>
        <p:nvSpPr>
          <p:cNvPr id="55" name="Text 53"/>
          <p:cNvSpPr/>
          <p:nvPr/>
        </p:nvSpPr>
        <p:spPr>
          <a:xfrm>
            <a:off x="6400800" y="3675888"/>
            <a:ext cx="14813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blueprint memory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8732520" y="2148840"/>
            <a:ext cx="1261872" cy="694944"/>
          </a:xfrm>
          <a:prstGeom prst="roundRect">
            <a:avLst>
              <a:gd name="adj" fmla="val 1052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8686800" y="2084832"/>
            <a:ext cx="1261872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8" name="Text 56"/>
          <p:cNvSpPr/>
          <p:nvPr/>
        </p:nvSpPr>
        <p:spPr>
          <a:xfrm>
            <a:off x="8686800" y="2340864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</a:t>
            </a:r>
            <a:endParaRPr lang="en-US" sz="820" dirty="0"/>
          </a:p>
        </p:txBody>
      </p:sp>
      <p:sp>
        <p:nvSpPr>
          <p:cNvPr id="59" name="Shape 57"/>
          <p:cNvSpPr/>
          <p:nvPr/>
        </p:nvSpPr>
        <p:spPr>
          <a:xfrm>
            <a:off x="8074152" y="3675888"/>
            <a:ext cx="493776" cy="-1243584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10058400" y="2715768"/>
            <a:ext cx="1261872" cy="694944"/>
          </a:xfrm>
          <a:prstGeom prst="roundRect">
            <a:avLst>
              <a:gd name="adj" fmla="val 1052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0012680" y="2651760"/>
            <a:ext cx="1261872" cy="694944"/>
          </a:xfrm>
          <a:prstGeom prst="roundRect">
            <a:avLst>
              <a:gd name="adj" fmla="val 10526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2" name="Text 60"/>
          <p:cNvSpPr/>
          <p:nvPr/>
        </p:nvSpPr>
        <p:spPr>
          <a:xfrm>
            <a:off x="10012680" y="2907792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SRS</a:t>
            </a:r>
            <a:endParaRPr lang="en-US" sz="820" dirty="0"/>
          </a:p>
        </p:txBody>
      </p:sp>
      <p:sp>
        <p:nvSpPr>
          <p:cNvPr id="63" name="Shape 61"/>
          <p:cNvSpPr/>
          <p:nvPr/>
        </p:nvSpPr>
        <p:spPr>
          <a:xfrm>
            <a:off x="8074152" y="3675888"/>
            <a:ext cx="1819656" cy="-676656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8778240" y="3831336"/>
            <a:ext cx="1261872" cy="694944"/>
          </a:xfrm>
          <a:prstGeom prst="roundRect">
            <a:avLst>
              <a:gd name="adj" fmla="val 1052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8732520" y="3767328"/>
            <a:ext cx="1261872" cy="694944"/>
          </a:xfrm>
          <a:prstGeom prst="roundRect">
            <a:avLst>
              <a:gd name="adj" fmla="val 10526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732520" y="4023360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820" dirty="0"/>
          </a:p>
        </p:txBody>
      </p:sp>
      <p:sp>
        <p:nvSpPr>
          <p:cNvPr id="67" name="Shape 65"/>
          <p:cNvSpPr/>
          <p:nvPr/>
        </p:nvSpPr>
        <p:spPr>
          <a:xfrm>
            <a:off x="8074152" y="3675888"/>
            <a:ext cx="539496" cy="438912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68" name="Shape 66"/>
          <p:cNvSpPr/>
          <p:nvPr/>
        </p:nvSpPr>
        <p:spPr>
          <a:xfrm>
            <a:off x="10149840" y="4379976"/>
            <a:ext cx="1261872" cy="694944"/>
          </a:xfrm>
          <a:prstGeom prst="roundRect">
            <a:avLst>
              <a:gd name="adj" fmla="val 1052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0104120" y="4315968"/>
            <a:ext cx="1261872" cy="694944"/>
          </a:xfrm>
          <a:prstGeom prst="roundRect">
            <a:avLst>
              <a:gd name="adj" fmla="val 10526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70" name="Text 68"/>
          <p:cNvSpPr/>
          <p:nvPr/>
        </p:nvSpPr>
        <p:spPr>
          <a:xfrm>
            <a:off x="10104120" y="4572000"/>
            <a:ext cx="126187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To-Do</a:t>
            </a:r>
            <a:endParaRPr lang="en-US" sz="820" dirty="0"/>
          </a:p>
        </p:txBody>
      </p:sp>
      <p:sp>
        <p:nvSpPr>
          <p:cNvPr id="71" name="Shape 69"/>
          <p:cNvSpPr/>
          <p:nvPr/>
        </p:nvSpPr>
        <p:spPr>
          <a:xfrm>
            <a:off x="8074152" y="3675888"/>
            <a:ext cx="1911096" cy="987552"/>
          </a:xfrm>
          <a:prstGeom prst="line">
            <a:avLst/>
          </a:prstGeom>
          <a:noFill/>
          <a:ln w="13970">
            <a:solidFill>
              <a:srgbClr val="93C5FD"/>
            </a:solidFill>
            <a:prstDash val="solid"/>
            <a:tailEnd type="triangle"/>
          </a:ln>
        </p:spPr>
      </p:sp>
      <p:sp>
        <p:nvSpPr>
          <p:cNvPr id="72" name="Shape 70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Document Generation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one project blueprint, the platform produces the core planning documents reviewers expect.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2093976"/>
            <a:ext cx="2395728" cy="3328416"/>
          </a:xfrm>
          <a:prstGeom prst="roundRect">
            <a:avLst>
              <a:gd name="adj" fmla="val 305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2029968"/>
            <a:ext cx="2395728" cy="3328416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746504" y="2359152"/>
            <a:ext cx="585216" cy="58521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2563EB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16217" y="2464491"/>
            <a:ext cx="245791" cy="327721"/>
          </a:xfrm>
          <a:prstGeom prst="roundRect">
            <a:avLst>
              <a:gd name="adj" fmla="val 744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2563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957182" y="2569830"/>
            <a:ext cx="140452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1957182" y="2645908"/>
            <a:ext cx="111191" cy="0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069848" y="31546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BRD</a:t>
            </a:r>
            <a:endParaRPr lang="en-US" sz="1350" dirty="0"/>
          </a:p>
        </p:txBody>
      </p:sp>
      <p:sp>
        <p:nvSpPr>
          <p:cNvPr id="43" name="Text 41"/>
          <p:cNvSpPr/>
          <p:nvPr/>
        </p:nvSpPr>
        <p:spPr>
          <a:xfrm>
            <a:off x="1069848" y="36758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Requirements Document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3730752" y="2093976"/>
            <a:ext cx="2395728" cy="3328416"/>
          </a:xfrm>
          <a:prstGeom prst="roundRect">
            <a:avLst>
              <a:gd name="adj" fmla="val 305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685032" y="2029968"/>
            <a:ext cx="2395728" cy="3328416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562856" y="2359152"/>
            <a:ext cx="585216" cy="58521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4F46E5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732569" y="2464491"/>
            <a:ext cx="245791" cy="327721"/>
          </a:xfrm>
          <a:prstGeom prst="roundRect">
            <a:avLst>
              <a:gd name="adj" fmla="val 744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4F46E5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4773534" y="2569830"/>
            <a:ext cx="140452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4773534" y="2645908"/>
            <a:ext cx="111191" cy="0"/>
          </a:xfrm>
          <a:prstGeom prst="line">
            <a:avLst/>
          </a:prstGeom>
          <a:noFill/>
          <a:ln w="15240">
            <a:solidFill>
              <a:srgbClr val="4F46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886200" y="31546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SRS</a:t>
            </a:r>
            <a:endParaRPr lang="en-US" sz="1350" dirty="0"/>
          </a:p>
        </p:txBody>
      </p:sp>
      <p:sp>
        <p:nvSpPr>
          <p:cNvPr id="51" name="Text 49"/>
          <p:cNvSpPr/>
          <p:nvPr/>
        </p:nvSpPr>
        <p:spPr>
          <a:xfrm>
            <a:off x="3886200" y="36758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Requirements Specification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6547104" y="2093976"/>
            <a:ext cx="2395728" cy="3328416"/>
          </a:xfrm>
          <a:prstGeom prst="roundRect">
            <a:avLst>
              <a:gd name="adj" fmla="val 305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6501384" y="2029968"/>
            <a:ext cx="2395728" cy="3328416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379208" y="2359152"/>
            <a:ext cx="585216" cy="58521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06B6D4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7548921" y="2464491"/>
            <a:ext cx="245791" cy="327721"/>
          </a:xfrm>
          <a:prstGeom prst="roundRect">
            <a:avLst>
              <a:gd name="adj" fmla="val 744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06B6D4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7589886" y="2569830"/>
            <a:ext cx="140452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589886" y="2645908"/>
            <a:ext cx="111191" cy="0"/>
          </a:xfrm>
          <a:prstGeom prst="line">
            <a:avLst/>
          </a:prstGeom>
          <a:noFill/>
          <a:ln w="15240">
            <a:solidFill>
              <a:srgbClr val="06B6D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702552" y="31546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Roadmap</a:t>
            </a:r>
            <a:endParaRPr lang="en-US" sz="1350" dirty="0"/>
          </a:p>
        </p:txBody>
      </p:sp>
      <p:sp>
        <p:nvSpPr>
          <p:cNvPr id="59" name="Text 57"/>
          <p:cNvSpPr/>
          <p:nvPr/>
        </p:nvSpPr>
        <p:spPr>
          <a:xfrm>
            <a:off x="6702552" y="36758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Phases, milestones, and execution order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9363456" y="2093976"/>
            <a:ext cx="2395728" cy="3328416"/>
          </a:xfrm>
          <a:prstGeom prst="roundRect">
            <a:avLst>
              <a:gd name="adj" fmla="val 3053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9317736" y="2029968"/>
            <a:ext cx="2395728" cy="3328416"/>
          </a:xfrm>
          <a:prstGeom prst="roundRect">
            <a:avLst>
              <a:gd name="adj" fmla="val 3053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10195560" y="2359152"/>
            <a:ext cx="585216" cy="585216"/>
          </a:xfrm>
          <a:prstGeom prst="ellipse">
            <a:avLst/>
          </a:prstGeom>
          <a:solidFill>
            <a:srgbClr val="F8FAFC"/>
          </a:solidFill>
          <a:ln w="12700">
            <a:solidFill>
              <a:srgbClr val="14B8A6">
                <a:alpha val="3000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0365273" y="2464491"/>
            <a:ext cx="245791" cy="327721"/>
          </a:xfrm>
          <a:prstGeom prst="roundRect">
            <a:avLst>
              <a:gd name="adj" fmla="val 7440"/>
            </a:avLst>
          </a:prstGeom>
          <a:solidFill>
            <a:srgbClr val="FFFFFF">
              <a:alpha val="92000"/>
            </a:srgbClr>
          </a:solidFill>
          <a:ln w="15240">
            <a:solidFill>
              <a:srgbClr val="14B8A6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0406238" y="2569830"/>
            <a:ext cx="140452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0406238" y="2645908"/>
            <a:ext cx="111191" cy="0"/>
          </a:xfrm>
          <a:prstGeom prst="line">
            <a:avLst/>
          </a:prstGeom>
          <a:noFill/>
          <a:ln w="15240">
            <a:solidFill>
              <a:srgbClr val="14B8A6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9518904" y="3154680"/>
            <a:ext cx="1993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To-Do List</a:t>
            </a:r>
            <a:endParaRPr lang="en-US" sz="1350" dirty="0"/>
          </a:p>
        </p:txBody>
      </p:sp>
      <p:sp>
        <p:nvSpPr>
          <p:cNvPr id="67" name="Text 65"/>
          <p:cNvSpPr/>
          <p:nvPr/>
        </p:nvSpPr>
        <p:spPr>
          <a:xfrm>
            <a:off x="9518904" y="3675888"/>
            <a:ext cx="199339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Actionable task breakdown for development</a:t>
            </a:r>
            <a:endParaRPr lang="en-US" sz="870" dirty="0"/>
          </a:p>
        </p:txBody>
      </p:sp>
      <p:sp>
        <p:nvSpPr>
          <p:cNvPr id="68" name="Shape 66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Prompt Generation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 also creates implementation prompts so planning decisions can move smoothly into coding work.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23544" y="1911096"/>
            <a:ext cx="4133088" cy="4096512"/>
          </a:xfrm>
          <a:prstGeom prst="roundRect">
            <a:avLst>
              <a:gd name="adj" fmla="val 178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1847088"/>
            <a:ext cx="4133088" cy="4096512"/>
          </a:xfrm>
          <a:prstGeom prst="roundRect">
            <a:avLst>
              <a:gd name="adj" fmla="val 1786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170432" y="213969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Prompt categories</a:t>
            </a:r>
            <a:endParaRPr lang="en-US" sz="1380" dirty="0"/>
          </a:p>
        </p:txBody>
      </p:sp>
      <p:sp>
        <p:nvSpPr>
          <p:cNvPr id="39" name="Shape 37"/>
          <p:cNvSpPr/>
          <p:nvPr/>
        </p:nvSpPr>
        <p:spPr>
          <a:xfrm>
            <a:off x="1188720" y="2651760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2563EB">
                <a:alpha val="42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261872" y="2734056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730" dirty="0"/>
          </a:p>
        </p:txBody>
      </p:sp>
      <p:sp>
        <p:nvSpPr>
          <p:cNvPr id="41" name="Shape 39"/>
          <p:cNvSpPr/>
          <p:nvPr/>
        </p:nvSpPr>
        <p:spPr>
          <a:xfrm>
            <a:off x="2852928" y="2651760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4F46E5">
                <a:alpha val="4200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2734056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730" dirty="0"/>
          </a:p>
        </p:txBody>
      </p:sp>
      <p:sp>
        <p:nvSpPr>
          <p:cNvPr id="43" name="Shape 41"/>
          <p:cNvSpPr/>
          <p:nvPr/>
        </p:nvSpPr>
        <p:spPr>
          <a:xfrm>
            <a:off x="1188720" y="3182112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06B6D4">
                <a:alpha val="42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261872" y="3264408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730" dirty="0"/>
          </a:p>
        </p:txBody>
      </p:sp>
      <p:sp>
        <p:nvSpPr>
          <p:cNvPr id="45" name="Shape 43"/>
          <p:cNvSpPr/>
          <p:nvPr/>
        </p:nvSpPr>
        <p:spPr>
          <a:xfrm>
            <a:off x="2852928" y="3182112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14B8A6">
                <a:alpha val="4200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926080" y="3264408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730" dirty="0"/>
          </a:p>
        </p:txBody>
      </p:sp>
      <p:sp>
        <p:nvSpPr>
          <p:cNvPr id="47" name="Shape 45"/>
          <p:cNvSpPr/>
          <p:nvPr/>
        </p:nvSpPr>
        <p:spPr>
          <a:xfrm>
            <a:off x="1188720" y="3712464"/>
            <a:ext cx="1389888" cy="292608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1430">
            <a:solidFill>
              <a:srgbClr val="F59E0B">
                <a:alpha val="4200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61872" y="3794760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3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730" dirty="0"/>
          </a:p>
        </p:txBody>
      </p:sp>
      <p:sp>
        <p:nvSpPr>
          <p:cNvPr id="49" name="Text 47"/>
          <p:cNvSpPr/>
          <p:nvPr/>
        </p:nvSpPr>
        <p:spPr>
          <a:xfrm>
            <a:off x="1188720" y="4800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prompt carries the chosen stack, project context, scope, and expected output style.</a:t>
            </a:r>
            <a:endParaRPr lang="en-US" sz="930" dirty="0"/>
          </a:p>
        </p:txBody>
      </p:sp>
      <p:sp>
        <p:nvSpPr>
          <p:cNvPr id="50" name="Shape 48"/>
          <p:cNvSpPr/>
          <p:nvPr/>
        </p:nvSpPr>
        <p:spPr>
          <a:xfrm>
            <a:off x="5733288" y="1911096"/>
            <a:ext cx="5468112" cy="4096512"/>
          </a:xfrm>
          <a:prstGeom prst="roundRect">
            <a:avLst>
              <a:gd name="adj" fmla="val 178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5687568" y="1847088"/>
            <a:ext cx="5468112" cy="4096512"/>
          </a:xfrm>
          <a:prstGeom prst="roundRect">
            <a:avLst>
              <a:gd name="adj" fmla="val 178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071616" y="2578608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272784" y="2487168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Reduces ambiguity before coding begins.</a:t>
            </a:r>
            <a:endParaRPr lang="en-US" sz="1260" dirty="0"/>
          </a:p>
        </p:txBody>
      </p:sp>
      <p:sp>
        <p:nvSpPr>
          <p:cNvPr id="54" name="Shape 52"/>
          <p:cNvSpPr/>
          <p:nvPr/>
        </p:nvSpPr>
        <p:spPr>
          <a:xfrm>
            <a:off x="6071616" y="3200400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272784" y="3108960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Keeps AI coding tools aligned to the approved plan.</a:t>
            </a:r>
            <a:endParaRPr lang="en-US" sz="1260" dirty="0"/>
          </a:p>
        </p:txBody>
      </p:sp>
      <p:sp>
        <p:nvSpPr>
          <p:cNvPr id="56" name="Shape 54"/>
          <p:cNvSpPr/>
          <p:nvPr/>
        </p:nvSpPr>
        <p:spPr>
          <a:xfrm>
            <a:off x="6071616" y="382219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72784" y="3730752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module-wise implementation and explanation.</a:t>
            </a:r>
            <a:endParaRPr lang="en-US" sz="1260" dirty="0"/>
          </a:p>
        </p:txBody>
      </p:sp>
      <p:sp>
        <p:nvSpPr>
          <p:cNvPr id="58" name="Shape 56"/>
          <p:cNvSpPr/>
          <p:nvPr/>
        </p:nvSpPr>
        <p:spPr>
          <a:xfrm>
            <a:off x="6071616" y="4443984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272784" y="4352544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students justify design and testing choices.</a:t>
            </a:r>
            <a:endParaRPr lang="en-US" sz="1260" dirty="0"/>
          </a:p>
        </p:txBody>
      </p:sp>
      <p:sp>
        <p:nvSpPr>
          <p:cNvPr id="60" name="Shape 58"/>
          <p:cNvSpPr/>
          <p:nvPr/>
        </p:nvSpPr>
        <p:spPr>
          <a:xfrm>
            <a:off x="6071616" y="5065776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6272784" y="4974336"/>
            <a:ext cx="4480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as a bridge between planning and development.</a:t>
            </a:r>
            <a:endParaRPr lang="en-US" sz="1260" dirty="0"/>
          </a:p>
        </p:txBody>
      </p:sp>
      <p:sp>
        <p:nvSpPr>
          <p:cNvPr id="62" name="Shape 60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Comparison with Existing Tools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 stands out by combining context memory, academic documentation, and implementation prompts.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50392" y="1892808"/>
            <a:ext cx="10607040" cy="4297680"/>
          </a:xfrm>
          <a:prstGeom prst="roundRect">
            <a:avLst>
              <a:gd name="adj" fmla="val 1702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04672" y="1828800"/>
            <a:ext cx="10607040" cy="4297680"/>
          </a:xfrm>
          <a:prstGeom prst="roundRect">
            <a:avLst>
              <a:gd name="adj" fmla="val 1702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04672" y="1828800"/>
            <a:ext cx="2834640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D9E7F7">
                <a:alpha val="8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96112" y="2011680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760" dirty="0"/>
          </a:p>
        </p:txBody>
      </p:sp>
      <p:sp>
        <p:nvSpPr>
          <p:cNvPr id="40" name="Shape 38"/>
          <p:cNvSpPr/>
          <p:nvPr/>
        </p:nvSpPr>
        <p:spPr>
          <a:xfrm>
            <a:off x="3639312" y="1828800"/>
            <a:ext cx="2194560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D9E7F7">
                <a:alpha val="8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730752" y="201168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Tools</a:t>
            </a:r>
            <a:endParaRPr lang="en-US" sz="760" dirty="0"/>
          </a:p>
        </p:txBody>
      </p:sp>
      <p:sp>
        <p:nvSpPr>
          <p:cNvPr id="42" name="Shape 40"/>
          <p:cNvSpPr/>
          <p:nvPr/>
        </p:nvSpPr>
        <p:spPr>
          <a:xfrm>
            <a:off x="5833872" y="1828800"/>
            <a:ext cx="2103120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D9E7F7">
                <a:alpha val="8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25312" y="2011680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</a:t>
            </a:r>
            <a:endParaRPr lang="en-US" sz="760" dirty="0"/>
          </a:p>
        </p:txBody>
      </p:sp>
      <p:sp>
        <p:nvSpPr>
          <p:cNvPr id="44" name="Shape 42"/>
          <p:cNvSpPr/>
          <p:nvPr/>
        </p:nvSpPr>
        <p:spPr>
          <a:xfrm>
            <a:off x="7936992" y="1828800"/>
            <a:ext cx="2011680" cy="512064"/>
          </a:xfrm>
          <a:prstGeom prst="rect">
            <a:avLst/>
          </a:prstGeom>
          <a:solidFill>
            <a:srgbClr val="2563EB"/>
          </a:solidFill>
          <a:ln w="12700">
            <a:solidFill>
              <a:srgbClr val="D9E7F7">
                <a:alpha val="8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028432" y="201168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760" dirty="0"/>
          </a:p>
        </p:txBody>
      </p:sp>
      <p:sp>
        <p:nvSpPr>
          <p:cNvPr id="46" name="Shape 44"/>
          <p:cNvSpPr/>
          <p:nvPr/>
        </p:nvSpPr>
        <p:spPr>
          <a:xfrm>
            <a:off x="9948672" y="1828800"/>
            <a:ext cx="1463040" cy="512064"/>
          </a:xfrm>
          <a:prstGeom prst="rect">
            <a:avLst/>
          </a:prstGeom>
          <a:solidFill>
            <a:srgbClr val="EEF4FF"/>
          </a:solidFill>
          <a:ln w="12700">
            <a:solidFill>
              <a:srgbClr val="D9E7F7">
                <a:alpha val="8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040112" y="201168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Fit</a:t>
            </a:r>
            <a:endParaRPr lang="en-US" sz="760" dirty="0"/>
          </a:p>
        </p:txBody>
      </p:sp>
      <p:sp>
        <p:nvSpPr>
          <p:cNvPr id="48" name="Shape 46"/>
          <p:cNvSpPr/>
          <p:nvPr/>
        </p:nvSpPr>
        <p:spPr>
          <a:xfrm>
            <a:off x="804672" y="2340864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96112" y="2606040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planning guidance</a:t>
            </a:r>
            <a:endParaRPr lang="en-US" sz="770" dirty="0"/>
          </a:p>
        </p:txBody>
      </p:sp>
      <p:sp>
        <p:nvSpPr>
          <p:cNvPr id="50" name="Shape 48"/>
          <p:cNvSpPr/>
          <p:nvPr/>
        </p:nvSpPr>
        <p:spPr>
          <a:xfrm>
            <a:off x="3639312" y="2340864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730752" y="2606040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</a:t>
            </a:r>
            <a:endParaRPr lang="en-US" sz="770" dirty="0"/>
          </a:p>
        </p:txBody>
      </p:sp>
      <p:sp>
        <p:nvSpPr>
          <p:cNvPr id="52" name="Shape 50"/>
          <p:cNvSpPr/>
          <p:nvPr/>
        </p:nvSpPr>
        <p:spPr>
          <a:xfrm>
            <a:off x="5833872" y="2340864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25312" y="2606040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Idea-level</a:t>
            </a:r>
            <a:endParaRPr lang="en-US" sz="770" dirty="0"/>
          </a:p>
        </p:txBody>
      </p:sp>
      <p:sp>
        <p:nvSpPr>
          <p:cNvPr id="54" name="Shape 52"/>
          <p:cNvSpPr/>
          <p:nvPr/>
        </p:nvSpPr>
        <p:spPr>
          <a:xfrm>
            <a:off x="7936992" y="2340864"/>
            <a:ext cx="20116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8028432" y="2606040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workflow</a:t>
            </a:r>
            <a:endParaRPr lang="en-US" sz="770" dirty="0"/>
          </a:p>
        </p:txBody>
      </p:sp>
      <p:sp>
        <p:nvSpPr>
          <p:cNvPr id="56" name="Shape 54"/>
          <p:cNvSpPr/>
          <p:nvPr/>
        </p:nvSpPr>
        <p:spPr>
          <a:xfrm>
            <a:off x="9948672" y="2340864"/>
            <a:ext cx="1463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10040112" y="2606040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770" dirty="0"/>
          </a:p>
        </p:txBody>
      </p:sp>
      <p:sp>
        <p:nvSpPr>
          <p:cNvPr id="58" name="Shape 56"/>
          <p:cNvSpPr/>
          <p:nvPr/>
        </p:nvSpPr>
        <p:spPr>
          <a:xfrm>
            <a:off x="804672" y="3054096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96112" y="3319272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Persistent context memory</a:t>
            </a:r>
            <a:endParaRPr lang="en-US" sz="770" dirty="0"/>
          </a:p>
        </p:txBody>
      </p:sp>
      <p:sp>
        <p:nvSpPr>
          <p:cNvPr id="60" name="Shape 58"/>
          <p:cNvSpPr/>
          <p:nvPr/>
        </p:nvSpPr>
        <p:spPr>
          <a:xfrm>
            <a:off x="3639312" y="3054096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3730752" y="3319272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770" dirty="0"/>
          </a:p>
        </p:txBody>
      </p:sp>
      <p:sp>
        <p:nvSpPr>
          <p:cNvPr id="62" name="Shape 60"/>
          <p:cNvSpPr/>
          <p:nvPr/>
        </p:nvSpPr>
        <p:spPr>
          <a:xfrm>
            <a:off x="5833872" y="3054096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25312" y="3319272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</a:t>
            </a:r>
            <a:endParaRPr lang="en-US" sz="770" dirty="0"/>
          </a:p>
        </p:txBody>
      </p:sp>
      <p:sp>
        <p:nvSpPr>
          <p:cNvPr id="64" name="Shape 62"/>
          <p:cNvSpPr/>
          <p:nvPr/>
        </p:nvSpPr>
        <p:spPr>
          <a:xfrm>
            <a:off x="7936992" y="3054096"/>
            <a:ext cx="20116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028432" y="3319272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Blueprint reuse</a:t>
            </a:r>
            <a:endParaRPr lang="en-US" sz="770" dirty="0"/>
          </a:p>
        </p:txBody>
      </p:sp>
      <p:sp>
        <p:nvSpPr>
          <p:cNvPr id="66" name="Shape 64"/>
          <p:cNvSpPr/>
          <p:nvPr/>
        </p:nvSpPr>
        <p:spPr>
          <a:xfrm>
            <a:off x="9948672" y="3054096"/>
            <a:ext cx="1463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0040112" y="3319272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770" dirty="0"/>
          </a:p>
        </p:txBody>
      </p:sp>
      <p:sp>
        <p:nvSpPr>
          <p:cNvPr id="68" name="Shape 66"/>
          <p:cNvSpPr/>
          <p:nvPr/>
        </p:nvSpPr>
        <p:spPr>
          <a:xfrm>
            <a:off x="804672" y="3767328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96112" y="4032504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 / SRS generation</a:t>
            </a:r>
            <a:endParaRPr lang="en-US" sz="770" dirty="0"/>
          </a:p>
        </p:txBody>
      </p:sp>
      <p:sp>
        <p:nvSpPr>
          <p:cNvPr id="70" name="Shape 68"/>
          <p:cNvSpPr/>
          <p:nvPr/>
        </p:nvSpPr>
        <p:spPr>
          <a:xfrm>
            <a:off x="3639312" y="3767328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3730752" y="4032504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</a:t>
            </a:r>
            <a:endParaRPr lang="en-US" sz="770" dirty="0"/>
          </a:p>
        </p:txBody>
      </p:sp>
      <p:sp>
        <p:nvSpPr>
          <p:cNvPr id="72" name="Shape 70"/>
          <p:cNvSpPr/>
          <p:nvPr/>
        </p:nvSpPr>
        <p:spPr>
          <a:xfrm>
            <a:off x="5833872" y="3767328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25312" y="4032504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Possible, but manual</a:t>
            </a:r>
            <a:endParaRPr lang="en-US" sz="770" dirty="0"/>
          </a:p>
        </p:txBody>
      </p:sp>
      <p:sp>
        <p:nvSpPr>
          <p:cNvPr id="74" name="Shape 72"/>
          <p:cNvSpPr/>
          <p:nvPr/>
        </p:nvSpPr>
        <p:spPr>
          <a:xfrm>
            <a:off x="7936992" y="3767328"/>
            <a:ext cx="20116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028432" y="4032504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outputs</a:t>
            </a:r>
            <a:endParaRPr lang="en-US" sz="770" dirty="0"/>
          </a:p>
        </p:txBody>
      </p:sp>
      <p:sp>
        <p:nvSpPr>
          <p:cNvPr id="76" name="Shape 74"/>
          <p:cNvSpPr/>
          <p:nvPr/>
        </p:nvSpPr>
        <p:spPr>
          <a:xfrm>
            <a:off x="9948672" y="3767328"/>
            <a:ext cx="1463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10040112" y="4032504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770" dirty="0"/>
          </a:p>
        </p:txBody>
      </p:sp>
      <p:sp>
        <p:nvSpPr>
          <p:cNvPr id="78" name="Shape 76"/>
          <p:cNvSpPr/>
          <p:nvPr/>
        </p:nvSpPr>
        <p:spPr>
          <a:xfrm>
            <a:off x="804672" y="4480560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96112" y="4745736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 prompts</a:t>
            </a:r>
            <a:endParaRPr lang="en-US" sz="770" dirty="0"/>
          </a:p>
        </p:txBody>
      </p:sp>
      <p:sp>
        <p:nvSpPr>
          <p:cNvPr id="80" name="Shape 78"/>
          <p:cNvSpPr/>
          <p:nvPr/>
        </p:nvSpPr>
        <p:spPr>
          <a:xfrm>
            <a:off x="3639312" y="4480560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3730752" y="4745736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Rare</a:t>
            </a:r>
            <a:endParaRPr lang="en-US" sz="770" dirty="0"/>
          </a:p>
        </p:txBody>
      </p:sp>
      <p:sp>
        <p:nvSpPr>
          <p:cNvPr id="82" name="Shape 80"/>
          <p:cNvSpPr/>
          <p:nvPr/>
        </p:nvSpPr>
        <p:spPr>
          <a:xfrm>
            <a:off x="5833872" y="4480560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25312" y="474573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Generic</a:t>
            </a:r>
            <a:endParaRPr lang="en-US" sz="770" dirty="0"/>
          </a:p>
        </p:txBody>
      </p:sp>
      <p:sp>
        <p:nvSpPr>
          <p:cNvPr id="84" name="Shape 82"/>
          <p:cNvSpPr/>
          <p:nvPr/>
        </p:nvSpPr>
        <p:spPr>
          <a:xfrm>
            <a:off x="7936992" y="4480560"/>
            <a:ext cx="20116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028432" y="474573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Project-specific</a:t>
            </a:r>
            <a:endParaRPr lang="en-US" sz="770" dirty="0"/>
          </a:p>
        </p:txBody>
      </p:sp>
      <p:sp>
        <p:nvSpPr>
          <p:cNvPr id="86" name="Shape 84"/>
          <p:cNvSpPr/>
          <p:nvPr/>
        </p:nvSpPr>
        <p:spPr>
          <a:xfrm>
            <a:off x="9948672" y="4480560"/>
            <a:ext cx="1463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10040112" y="4745736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770" dirty="0"/>
          </a:p>
        </p:txBody>
      </p:sp>
      <p:sp>
        <p:nvSpPr>
          <p:cNvPr id="88" name="Shape 86"/>
          <p:cNvSpPr/>
          <p:nvPr/>
        </p:nvSpPr>
        <p:spPr>
          <a:xfrm>
            <a:off x="804672" y="5193792"/>
            <a:ext cx="28346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896112" y="545896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review readiness</a:t>
            </a:r>
            <a:endParaRPr lang="en-US" sz="770" dirty="0"/>
          </a:p>
        </p:txBody>
      </p:sp>
      <p:sp>
        <p:nvSpPr>
          <p:cNvPr id="90" name="Shape 88"/>
          <p:cNvSpPr/>
          <p:nvPr/>
        </p:nvSpPr>
        <p:spPr>
          <a:xfrm>
            <a:off x="3639312" y="5193792"/>
            <a:ext cx="21945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3730752" y="5458968"/>
            <a:ext cx="2011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770" dirty="0"/>
          </a:p>
        </p:txBody>
      </p:sp>
      <p:sp>
        <p:nvSpPr>
          <p:cNvPr id="92" name="Shape 90"/>
          <p:cNvSpPr/>
          <p:nvPr/>
        </p:nvSpPr>
        <p:spPr>
          <a:xfrm>
            <a:off x="5833872" y="5193792"/>
            <a:ext cx="210312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5925312" y="5458968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</a:t>
            </a:r>
            <a:endParaRPr lang="en-US" sz="770" dirty="0"/>
          </a:p>
        </p:txBody>
      </p:sp>
      <p:sp>
        <p:nvSpPr>
          <p:cNvPr id="94" name="Shape 92"/>
          <p:cNvSpPr/>
          <p:nvPr/>
        </p:nvSpPr>
        <p:spPr>
          <a:xfrm>
            <a:off x="7936992" y="5193792"/>
            <a:ext cx="2011680" cy="713232"/>
          </a:xfrm>
          <a:prstGeom prst="rect">
            <a:avLst/>
          </a:prstGeom>
          <a:solidFill>
            <a:srgbClr val="EFF6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8028432" y="5458968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</a:t>
            </a:r>
            <a:endParaRPr lang="en-US" sz="770" dirty="0"/>
          </a:p>
        </p:txBody>
      </p:sp>
      <p:sp>
        <p:nvSpPr>
          <p:cNvPr id="96" name="Shape 94"/>
          <p:cNvSpPr/>
          <p:nvPr/>
        </p:nvSpPr>
        <p:spPr>
          <a:xfrm>
            <a:off x="9948672" y="5193792"/>
            <a:ext cx="146304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7F7">
                <a:alpha val="76000"/>
              </a:srgbClr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0040112" y="5458968"/>
            <a:ext cx="1280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7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770" dirty="0"/>
          </a:p>
        </p:txBody>
      </p:sp>
      <p:sp>
        <p:nvSpPr>
          <p:cNvPr id="98" name="Shape 96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Testing and Validation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focused on whether the workflow, outputs, and deployment experience worked reliably end to end.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23544" y="2002536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77824" y="1938528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078992" y="2139696"/>
            <a:ext cx="749808" cy="27432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78992" y="221284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720" dirty="0"/>
          </a:p>
        </p:txBody>
      </p:sp>
      <p:sp>
        <p:nvSpPr>
          <p:cNvPr id="40" name="Text 38"/>
          <p:cNvSpPr/>
          <p:nvPr/>
        </p:nvSpPr>
        <p:spPr>
          <a:xfrm>
            <a:off x="1078992" y="25237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Authentication flow</a:t>
            </a:r>
            <a:endParaRPr lang="en-US" sz="1060" dirty="0"/>
          </a:p>
        </p:txBody>
      </p:sp>
      <p:sp>
        <p:nvSpPr>
          <p:cNvPr id="41" name="Text 39"/>
          <p:cNvSpPr/>
          <p:nvPr/>
        </p:nvSpPr>
        <p:spPr>
          <a:xfrm>
            <a:off x="1078992" y="27980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Login, logout, and protected access.</a:t>
            </a:r>
            <a:endParaRPr lang="en-US" sz="820" dirty="0"/>
          </a:p>
        </p:txBody>
      </p:sp>
      <p:sp>
        <p:nvSpPr>
          <p:cNvPr id="42" name="Shape 40"/>
          <p:cNvSpPr/>
          <p:nvPr/>
        </p:nvSpPr>
        <p:spPr>
          <a:xfrm>
            <a:off x="4581144" y="2002536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535424" y="1938528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736592" y="2139696"/>
            <a:ext cx="749808" cy="27432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736592" y="221284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720" dirty="0"/>
          </a:p>
        </p:txBody>
      </p:sp>
      <p:sp>
        <p:nvSpPr>
          <p:cNvPr id="46" name="Text 44"/>
          <p:cNvSpPr/>
          <p:nvPr/>
        </p:nvSpPr>
        <p:spPr>
          <a:xfrm>
            <a:off x="4736592" y="25237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Project creation</a:t>
            </a:r>
            <a:endParaRPr lang="en-US" sz="1060" dirty="0"/>
          </a:p>
        </p:txBody>
      </p:sp>
      <p:sp>
        <p:nvSpPr>
          <p:cNvPr id="47" name="Text 45"/>
          <p:cNvSpPr/>
          <p:nvPr/>
        </p:nvSpPr>
        <p:spPr>
          <a:xfrm>
            <a:off x="4736592" y="27980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project workspace and saved details.</a:t>
            </a:r>
            <a:endParaRPr lang="en-US" sz="820" dirty="0"/>
          </a:p>
        </p:txBody>
      </p:sp>
      <p:sp>
        <p:nvSpPr>
          <p:cNvPr id="48" name="Shape 46"/>
          <p:cNvSpPr/>
          <p:nvPr/>
        </p:nvSpPr>
        <p:spPr>
          <a:xfrm>
            <a:off x="8238744" y="2002536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193024" y="1938528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8394192" y="2139696"/>
            <a:ext cx="749808" cy="27432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8394192" y="221284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720" dirty="0"/>
          </a:p>
        </p:txBody>
      </p:sp>
      <p:sp>
        <p:nvSpPr>
          <p:cNvPr id="52" name="Text 50"/>
          <p:cNvSpPr/>
          <p:nvPr/>
        </p:nvSpPr>
        <p:spPr>
          <a:xfrm>
            <a:off x="8394192" y="25237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AI stage collection</a:t>
            </a:r>
            <a:endParaRPr lang="en-US" sz="1060" dirty="0"/>
          </a:p>
        </p:txBody>
      </p:sp>
      <p:sp>
        <p:nvSpPr>
          <p:cNvPr id="53" name="Text 51"/>
          <p:cNvSpPr/>
          <p:nvPr/>
        </p:nvSpPr>
        <p:spPr>
          <a:xfrm>
            <a:off x="8394192" y="27980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Stage-wise input and summary generation.</a:t>
            </a:r>
            <a:endParaRPr lang="en-US" sz="820" dirty="0"/>
          </a:p>
        </p:txBody>
      </p:sp>
      <p:sp>
        <p:nvSpPr>
          <p:cNvPr id="54" name="Shape 52"/>
          <p:cNvSpPr/>
          <p:nvPr/>
        </p:nvSpPr>
        <p:spPr>
          <a:xfrm>
            <a:off x="2770632" y="3831336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2724912" y="3767328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2926080" y="3968496"/>
            <a:ext cx="749808" cy="27432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926080" y="404164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720" dirty="0"/>
          </a:p>
        </p:txBody>
      </p:sp>
      <p:sp>
        <p:nvSpPr>
          <p:cNvPr id="58" name="Text 56"/>
          <p:cNvSpPr/>
          <p:nvPr/>
        </p:nvSpPr>
        <p:spPr>
          <a:xfrm>
            <a:off x="2926080" y="43525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Document outputs</a:t>
            </a:r>
            <a:endParaRPr lang="en-US" sz="1060" dirty="0"/>
          </a:p>
        </p:txBody>
      </p:sp>
      <p:sp>
        <p:nvSpPr>
          <p:cNvPr id="59" name="Text 57"/>
          <p:cNvSpPr/>
          <p:nvPr/>
        </p:nvSpPr>
        <p:spPr>
          <a:xfrm>
            <a:off x="2926080" y="46268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BRD, SRS, roadmap, and task creation.</a:t>
            </a:r>
            <a:endParaRPr lang="en-US" sz="820" dirty="0"/>
          </a:p>
        </p:txBody>
      </p:sp>
      <p:sp>
        <p:nvSpPr>
          <p:cNvPr id="60" name="Shape 58"/>
          <p:cNvSpPr/>
          <p:nvPr/>
        </p:nvSpPr>
        <p:spPr>
          <a:xfrm>
            <a:off x="6428232" y="3831336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382512" y="3767328"/>
            <a:ext cx="2926080" cy="1261872"/>
          </a:xfrm>
          <a:prstGeom prst="roundRect">
            <a:avLst>
              <a:gd name="adj" fmla="val 5797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6583680" y="3968496"/>
            <a:ext cx="749808" cy="274320"/>
          </a:xfrm>
          <a:prstGeom prst="roundRect">
            <a:avLst>
              <a:gd name="adj" fmla="val 33333"/>
            </a:avLst>
          </a:prstGeom>
          <a:solidFill>
            <a:srgbClr val="DCFCE7"/>
          </a:solidFill>
          <a:ln w="12700">
            <a:solidFill>
              <a:srgbClr val="DCFCE7">
                <a:alpha val="0"/>
              </a:srgbClr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583680" y="4041648"/>
            <a:ext cx="74980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1580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Passed</a:t>
            </a:r>
            <a:endParaRPr lang="en-US" sz="720" dirty="0"/>
          </a:p>
        </p:txBody>
      </p:sp>
      <p:sp>
        <p:nvSpPr>
          <p:cNvPr id="64" name="Text 62"/>
          <p:cNvSpPr/>
          <p:nvPr/>
        </p:nvSpPr>
        <p:spPr>
          <a:xfrm>
            <a:off x="6583680" y="4352544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Prompt outputs</a:t>
            </a:r>
            <a:endParaRPr lang="en-US" sz="1060" dirty="0"/>
          </a:p>
        </p:txBody>
      </p:sp>
      <p:sp>
        <p:nvSpPr>
          <p:cNvPr id="65" name="Text 63"/>
          <p:cNvSpPr/>
          <p:nvPr/>
        </p:nvSpPr>
        <p:spPr>
          <a:xfrm>
            <a:off x="6583680" y="4626864"/>
            <a:ext cx="2331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Context-aware implementation prompts.</a:t>
            </a:r>
            <a:endParaRPr lang="en-US" sz="820" dirty="0"/>
          </a:p>
        </p:txBody>
      </p:sp>
      <p:sp>
        <p:nvSpPr>
          <p:cNvPr id="66" name="Shape 64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Application Screenshots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final product screens here. The final review deck should show both light and dark theme support.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841248" y="1901952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4128" y="2084832"/>
            <a:ext cx="164592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670048" y="2084832"/>
            <a:ext cx="-164592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24128" y="23545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LANDING PAGE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1024128" y="268376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880" dirty="0"/>
          </a:p>
        </p:txBody>
      </p:sp>
      <p:sp>
        <p:nvSpPr>
          <p:cNvPr id="41" name="Shape 39"/>
          <p:cNvSpPr/>
          <p:nvPr/>
        </p:nvSpPr>
        <p:spPr>
          <a:xfrm>
            <a:off x="3090672" y="1901952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73552" y="2084832"/>
            <a:ext cx="164592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4919472" y="2084832"/>
            <a:ext cx="-164592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73552" y="23545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DASHBOARD</a:t>
            </a:r>
            <a:endParaRPr lang="en-US" sz="1350" dirty="0"/>
          </a:p>
        </p:txBody>
      </p:sp>
      <p:sp>
        <p:nvSpPr>
          <p:cNvPr id="45" name="Text 43"/>
          <p:cNvSpPr/>
          <p:nvPr/>
        </p:nvSpPr>
        <p:spPr>
          <a:xfrm>
            <a:off x="3273552" y="268376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880" dirty="0"/>
          </a:p>
        </p:txBody>
      </p:sp>
      <p:sp>
        <p:nvSpPr>
          <p:cNvPr id="46" name="Shape 44"/>
          <p:cNvSpPr/>
          <p:nvPr/>
        </p:nvSpPr>
        <p:spPr>
          <a:xfrm>
            <a:off x="5340096" y="1901952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522976" y="2084832"/>
            <a:ext cx="164592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168896" y="2084832"/>
            <a:ext cx="-164592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522976" y="23545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WORKSPACE</a:t>
            </a:r>
            <a:endParaRPr lang="en-US" sz="1350" dirty="0"/>
          </a:p>
        </p:txBody>
      </p:sp>
      <p:sp>
        <p:nvSpPr>
          <p:cNvPr id="50" name="Text 48"/>
          <p:cNvSpPr/>
          <p:nvPr/>
        </p:nvSpPr>
        <p:spPr>
          <a:xfrm>
            <a:off x="5522976" y="268376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880" dirty="0"/>
          </a:p>
        </p:txBody>
      </p:sp>
      <p:sp>
        <p:nvSpPr>
          <p:cNvPr id="51" name="Shape 49"/>
          <p:cNvSpPr/>
          <p:nvPr/>
        </p:nvSpPr>
        <p:spPr>
          <a:xfrm>
            <a:off x="7589520" y="1901952"/>
            <a:ext cx="201168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7772400" y="2084832"/>
            <a:ext cx="164592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418320" y="2084832"/>
            <a:ext cx="-164592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772400" y="2354580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GENERATED BRD</a:t>
            </a:r>
            <a:endParaRPr lang="en-US" sz="1350" dirty="0"/>
          </a:p>
        </p:txBody>
      </p:sp>
      <p:sp>
        <p:nvSpPr>
          <p:cNvPr id="55" name="Text 53"/>
          <p:cNvSpPr/>
          <p:nvPr/>
        </p:nvSpPr>
        <p:spPr>
          <a:xfrm>
            <a:off x="7772400" y="2683764"/>
            <a:ext cx="164592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880" dirty="0"/>
          </a:p>
        </p:txBody>
      </p:sp>
      <p:sp>
        <p:nvSpPr>
          <p:cNvPr id="56" name="Shape 54"/>
          <p:cNvSpPr/>
          <p:nvPr/>
        </p:nvSpPr>
        <p:spPr>
          <a:xfrm>
            <a:off x="9838944" y="1901952"/>
            <a:ext cx="1508760" cy="1417320"/>
          </a:xfrm>
          <a:prstGeom prst="roundRect">
            <a:avLst>
              <a:gd name="adj" fmla="val 5161"/>
            </a:avLst>
          </a:prstGeom>
          <a:solidFill>
            <a:srgbClr val="F8FB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0021824" y="2084832"/>
            <a:ext cx="114300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164824" y="2084832"/>
            <a:ext cx="-1143000" cy="1051560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0021824" y="2354580"/>
            <a:ext cx="1143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PROMPT PANEL</a:t>
            </a:r>
            <a:endParaRPr lang="en-US" sz="1350" dirty="0"/>
          </a:p>
        </p:txBody>
      </p:sp>
      <p:sp>
        <p:nvSpPr>
          <p:cNvPr id="60" name="Text 58"/>
          <p:cNvSpPr/>
          <p:nvPr/>
        </p:nvSpPr>
        <p:spPr>
          <a:xfrm>
            <a:off x="10021824" y="2683764"/>
            <a:ext cx="11430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placeholder</a:t>
            </a:r>
            <a:endParaRPr lang="en-US" sz="880" dirty="0"/>
          </a:p>
        </p:txBody>
      </p:sp>
      <p:sp>
        <p:nvSpPr>
          <p:cNvPr id="61" name="Shape 59"/>
          <p:cNvSpPr/>
          <p:nvPr/>
        </p:nvSpPr>
        <p:spPr>
          <a:xfrm>
            <a:off x="886968" y="3977640"/>
            <a:ext cx="10515600" cy="1325880"/>
          </a:xfrm>
          <a:prstGeom prst="roundRect">
            <a:avLst>
              <a:gd name="adj" fmla="val 551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841248" y="3913632"/>
            <a:ext cx="10515600" cy="1325880"/>
          </a:xfrm>
          <a:prstGeom prst="roundRect">
            <a:avLst>
              <a:gd name="adj" fmla="val 5517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1097280" y="4297680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Demonstrates both Light and Dark Theme support.</a:t>
            </a:r>
            <a:endParaRPr lang="en-US" sz="1220" dirty="0"/>
          </a:p>
        </p:txBody>
      </p:sp>
      <p:sp>
        <p:nvSpPr>
          <p:cNvPr id="64" name="Text 62"/>
          <p:cNvSpPr/>
          <p:nvPr/>
        </p:nvSpPr>
        <p:spPr>
          <a:xfrm>
            <a:off x="1097280" y="4626864"/>
            <a:ext cx="8778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inserts: Login page, Create Project page, Workspace chat + blueprint, generated BRD view, prompt generation panel, and theme variations.</a:t>
            </a:r>
            <a:endParaRPr lang="en-US" sz="920" dirty="0"/>
          </a:p>
        </p:txBody>
      </p:sp>
      <p:sp>
        <p:nvSpPr>
          <p:cNvPr id="65" name="Shape 63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76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Results and Benefits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prototype improves planning quality by turning scattered thinking into structured project outputs.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2057400"/>
            <a:ext cx="3054096" cy="1481328"/>
          </a:xfrm>
          <a:prstGeom prst="roundRect">
            <a:avLst>
              <a:gd name="adj" fmla="val 4938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1993392"/>
            <a:ext cx="30540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868680" y="1993392"/>
            <a:ext cx="91440" cy="148132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88136" y="23042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Time Saved</a:t>
            </a:r>
            <a:endParaRPr lang="en-US" sz="1260" dirty="0"/>
          </a:p>
        </p:txBody>
      </p:sp>
      <p:sp>
        <p:nvSpPr>
          <p:cNvPr id="40" name="Text 38"/>
          <p:cNvSpPr/>
          <p:nvPr/>
        </p:nvSpPr>
        <p:spPr>
          <a:xfrm>
            <a:off x="1088136" y="2688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movement from idea to first structured plan.</a:t>
            </a:r>
            <a:endParaRPr lang="en-US" sz="910" dirty="0"/>
          </a:p>
        </p:txBody>
      </p:sp>
      <p:sp>
        <p:nvSpPr>
          <p:cNvPr id="41" name="Shape 39"/>
          <p:cNvSpPr/>
          <p:nvPr/>
        </p:nvSpPr>
        <p:spPr>
          <a:xfrm>
            <a:off x="4617720" y="2057400"/>
            <a:ext cx="3054096" cy="1481328"/>
          </a:xfrm>
          <a:prstGeom prst="roundRect">
            <a:avLst>
              <a:gd name="adj" fmla="val 4938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572000" y="1993392"/>
            <a:ext cx="3054096" cy="1481328"/>
          </a:xfrm>
          <a:prstGeom prst="roundRect">
            <a:avLst>
              <a:gd name="adj" fmla="val 4938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572000" y="1993392"/>
            <a:ext cx="91440" cy="1481328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791456" y="23042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Better Documentation</a:t>
            </a:r>
            <a:endParaRPr lang="en-US" sz="1260" dirty="0"/>
          </a:p>
        </p:txBody>
      </p:sp>
      <p:sp>
        <p:nvSpPr>
          <p:cNvPr id="45" name="Text 43"/>
          <p:cNvSpPr/>
          <p:nvPr/>
        </p:nvSpPr>
        <p:spPr>
          <a:xfrm>
            <a:off x="4791456" y="2688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Cleaner BRD and SRS preparation for review.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8321040" y="2057400"/>
            <a:ext cx="3054096" cy="1481328"/>
          </a:xfrm>
          <a:prstGeom prst="roundRect">
            <a:avLst>
              <a:gd name="adj" fmla="val 4938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275320" y="1993392"/>
            <a:ext cx="3054096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8275320" y="1993392"/>
            <a:ext cx="91440" cy="1481328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494776" y="2304288"/>
            <a:ext cx="2331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Planning Efficiency</a:t>
            </a:r>
            <a:endParaRPr lang="en-US" sz="1260" dirty="0"/>
          </a:p>
        </p:txBody>
      </p:sp>
      <p:sp>
        <p:nvSpPr>
          <p:cNvPr id="50" name="Text 48"/>
          <p:cNvSpPr/>
          <p:nvPr/>
        </p:nvSpPr>
        <p:spPr>
          <a:xfrm>
            <a:off x="8494776" y="2688336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1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repetition across chat, docs, and tasks.</a:t>
            </a:r>
            <a:endParaRPr lang="en-US" sz="910" dirty="0"/>
          </a:p>
        </p:txBody>
      </p:sp>
      <p:sp>
        <p:nvSpPr>
          <p:cNvPr id="51" name="Shape 49"/>
          <p:cNvSpPr/>
          <p:nvPr/>
        </p:nvSpPr>
        <p:spPr>
          <a:xfrm>
            <a:off x="914400" y="3995928"/>
            <a:ext cx="10469880" cy="1572768"/>
          </a:xfrm>
          <a:prstGeom prst="roundRect">
            <a:avLst>
              <a:gd name="adj" fmla="val 4651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868680" y="3931920"/>
            <a:ext cx="10469880" cy="1572768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3" name="Shape 51"/>
          <p:cNvSpPr/>
          <p:nvPr/>
        </p:nvSpPr>
        <p:spPr>
          <a:xfrm>
            <a:off x="1188720" y="4425696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389888" y="4334256"/>
            <a:ext cx="9052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blueprint drives documents, roadmap, tasks, and prompts.</a:t>
            </a:r>
            <a:endParaRPr lang="en-US" sz="1180" dirty="0"/>
          </a:p>
        </p:txBody>
      </p:sp>
      <p:sp>
        <p:nvSpPr>
          <p:cNvPr id="55" name="Shape 53"/>
          <p:cNvSpPr/>
          <p:nvPr/>
        </p:nvSpPr>
        <p:spPr>
          <a:xfrm>
            <a:off x="1188720" y="4718304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389888" y="4626864"/>
            <a:ext cx="9052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can understand the workflow even with a quick glance through the deck.</a:t>
            </a:r>
            <a:endParaRPr lang="en-US" sz="1180" dirty="0"/>
          </a:p>
        </p:txBody>
      </p:sp>
      <p:sp>
        <p:nvSpPr>
          <p:cNvPr id="57" name="Shape 55"/>
          <p:cNvSpPr/>
          <p:nvPr/>
        </p:nvSpPr>
        <p:spPr>
          <a:xfrm>
            <a:off x="1188720" y="501091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389888" y="4919472"/>
            <a:ext cx="9052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system supports both project explanation and implementation planning.</a:t>
            </a:r>
            <a:endParaRPr lang="en-US" sz="1180" dirty="0"/>
          </a:p>
        </p:txBody>
      </p:sp>
      <p:sp>
        <p:nvSpPr>
          <p:cNvPr id="59" name="Shape 57"/>
          <p:cNvSpPr/>
          <p:nvPr/>
        </p:nvSpPr>
        <p:spPr>
          <a:xfrm>
            <a:off x="1188720" y="5303520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1389888" y="5212080"/>
            <a:ext cx="90525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8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architecture is ready for live demo and future feature growth.</a:t>
            </a:r>
            <a:endParaRPr lang="en-US" sz="1180" dirty="0"/>
          </a:p>
        </p:txBody>
      </p:sp>
      <p:sp>
        <p:nvSpPr>
          <p:cNvPr id="61" name="Shape 59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Future Enhancements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next version can move from planning assistant to a more complete project execution companion.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1051560" y="2075688"/>
            <a:ext cx="4224528" cy="1298448"/>
          </a:xfrm>
          <a:prstGeom prst="roundRect">
            <a:avLst>
              <a:gd name="adj" fmla="val 563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05840" y="2011680"/>
            <a:ext cx="4224528" cy="1298448"/>
          </a:xfrm>
          <a:prstGeom prst="roundRect">
            <a:avLst>
              <a:gd name="adj" fmla="val 5634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1207008" y="22311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207008" y="2340864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760" dirty="0"/>
          </a:p>
        </p:txBody>
      </p:sp>
      <p:sp>
        <p:nvSpPr>
          <p:cNvPr id="40" name="Text 38"/>
          <p:cNvSpPr/>
          <p:nvPr/>
        </p:nvSpPr>
        <p:spPr>
          <a:xfrm>
            <a:off x="1719072" y="226771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Team Collaboration</a:t>
            </a:r>
            <a:endParaRPr lang="en-US" sz="1220" dirty="0"/>
          </a:p>
        </p:txBody>
      </p:sp>
      <p:sp>
        <p:nvSpPr>
          <p:cNvPr id="41" name="Text 39"/>
          <p:cNvSpPr/>
          <p:nvPr/>
        </p:nvSpPr>
        <p:spPr>
          <a:xfrm>
            <a:off x="1207008" y="27249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workspaces, comments, and approval flow.</a:t>
            </a:r>
            <a:endParaRPr lang="en-US" sz="880" dirty="0"/>
          </a:p>
        </p:txBody>
      </p:sp>
      <p:sp>
        <p:nvSpPr>
          <p:cNvPr id="42" name="Shape 40"/>
          <p:cNvSpPr/>
          <p:nvPr/>
        </p:nvSpPr>
        <p:spPr>
          <a:xfrm>
            <a:off x="6080760" y="2075688"/>
            <a:ext cx="4224528" cy="1298448"/>
          </a:xfrm>
          <a:prstGeom prst="roundRect">
            <a:avLst>
              <a:gd name="adj" fmla="val 563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035040" y="2011680"/>
            <a:ext cx="4224528" cy="1298448"/>
          </a:xfrm>
          <a:prstGeom prst="roundRect">
            <a:avLst>
              <a:gd name="adj" fmla="val 5634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36208" y="223113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236208" y="2340864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760" dirty="0"/>
          </a:p>
        </p:txBody>
      </p:sp>
      <p:sp>
        <p:nvSpPr>
          <p:cNvPr id="46" name="Text 44"/>
          <p:cNvSpPr/>
          <p:nvPr/>
        </p:nvSpPr>
        <p:spPr>
          <a:xfrm>
            <a:off x="6748272" y="226771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UML Auto-Generation</a:t>
            </a:r>
            <a:endParaRPr lang="en-US" sz="1220" dirty="0"/>
          </a:p>
        </p:txBody>
      </p:sp>
      <p:sp>
        <p:nvSpPr>
          <p:cNvPr id="47" name="Text 45"/>
          <p:cNvSpPr/>
          <p:nvPr/>
        </p:nvSpPr>
        <p:spPr>
          <a:xfrm>
            <a:off x="6236208" y="272491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blueprint data into diagrams automatically.</a:t>
            </a:r>
            <a:endParaRPr lang="en-US" sz="880" dirty="0"/>
          </a:p>
        </p:txBody>
      </p:sp>
      <p:sp>
        <p:nvSpPr>
          <p:cNvPr id="48" name="Shape 46"/>
          <p:cNvSpPr/>
          <p:nvPr/>
        </p:nvSpPr>
        <p:spPr>
          <a:xfrm>
            <a:off x="1051560" y="3813048"/>
            <a:ext cx="4224528" cy="1298448"/>
          </a:xfrm>
          <a:prstGeom prst="roundRect">
            <a:avLst>
              <a:gd name="adj" fmla="val 563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1005840" y="3749040"/>
            <a:ext cx="4224528" cy="1298448"/>
          </a:xfrm>
          <a:prstGeom prst="roundRect">
            <a:avLst>
              <a:gd name="adj" fmla="val 5634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1207008" y="39684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1207008" y="4078224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760" dirty="0"/>
          </a:p>
        </p:txBody>
      </p:sp>
      <p:sp>
        <p:nvSpPr>
          <p:cNvPr id="52" name="Text 50"/>
          <p:cNvSpPr/>
          <p:nvPr/>
        </p:nvSpPr>
        <p:spPr>
          <a:xfrm>
            <a:off x="1719072" y="40050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DOCX / PPT Export</a:t>
            </a:r>
            <a:endParaRPr lang="en-US" sz="1220" dirty="0"/>
          </a:p>
        </p:txBody>
      </p:sp>
      <p:sp>
        <p:nvSpPr>
          <p:cNvPr id="53" name="Text 51"/>
          <p:cNvSpPr/>
          <p:nvPr/>
        </p:nvSpPr>
        <p:spPr>
          <a:xfrm>
            <a:off x="1207008" y="44622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 formatted reports and presentation assets.</a:t>
            </a:r>
            <a:endParaRPr lang="en-US" sz="880" dirty="0"/>
          </a:p>
        </p:txBody>
      </p:sp>
      <p:sp>
        <p:nvSpPr>
          <p:cNvPr id="54" name="Shape 52"/>
          <p:cNvSpPr/>
          <p:nvPr/>
        </p:nvSpPr>
        <p:spPr>
          <a:xfrm>
            <a:off x="6080760" y="3813048"/>
            <a:ext cx="4224528" cy="1298448"/>
          </a:xfrm>
          <a:prstGeom prst="roundRect">
            <a:avLst>
              <a:gd name="adj" fmla="val 563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035040" y="3749040"/>
            <a:ext cx="4224528" cy="1298448"/>
          </a:xfrm>
          <a:prstGeom prst="roundRect">
            <a:avLst>
              <a:gd name="adj" fmla="val 5634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6236208" y="3968496"/>
            <a:ext cx="347472" cy="347472"/>
          </a:xfrm>
          <a:prstGeom prst="roundRect">
            <a:avLst>
              <a:gd name="adj" fmla="val 21053"/>
            </a:avLst>
          </a:prstGeom>
          <a:solidFill>
            <a:srgbClr val="14B8A6"/>
          </a:solidFill>
          <a:ln w="12700">
            <a:solidFill>
              <a:srgbClr val="14B8A6">
                <a:alpha val="0"/>
              </a:srgbClr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236208" y="4078224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760" dirty="0"/>
          </a:p>
        </p:txBody>
      </p:sp>
      <p:sp>
        <p:nvSpPr>
          <p:cNvPr id="58" name="Text 56"/>
          <p:cNvSpPr/>
          <p:nvPr/>
        </p:nvSpPr>
        <p:spPr>
          <a:xfrm>
            <a:off x="6748272" y="4005072"/>
            <a:ext cx="2468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Voice Planning</a:t>
            </a:r>
            <a:endParaRPr lang="en-US" sz="1220" dirty="0"/>
          </a:p>
        </p:txBody>
      </p:sp>
      <p:sp>
        <p:nvSpPr>
          <p:cNvPr id="59" name="Text 57"/>
          <p:cNvSpPr/>
          <p:nvPr/>
        </p:nvSpPr>
        <p:spPr>
          <a:xfrm>
            <a:off x="6236208" y="4462272"/>
            <a:ext cx="3520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planning inputs through voice-guided interaction.</a:t>
            </a:r>
            <a:endParaRPr lang="en-US" sz="880" dirty="0"/>
          </a:p>
        </p:txBody>
      </p:sp>
      <p:sp>
        <p:nvSpPr>
          <p:cNvPr id="60" name="Shape 58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Conclusion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 helps students move from raw ideas to execution-ready planning with better structure and less manual effort.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Text 34"/>
          <p:cNvSpPr/>
          <p:nvPr/>
        </p:nvSpPr>
        <p:spPr>
          <a:xfrm>
            <a:off x="914400" y="2103120"/>
            <a:ext cx="58064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BuildFlow AI brings planning, memory, documents, and prompts into one clear workflow.</a:t>
            </a:r>
            <a:endParaRPr lang="en-US" sz="2800" dirty="0"/>
          </a:p>
        </p:txBody>
      </p:sp>
      <p:sp>
        <p:nvSpPr>
          <p:cNvPr id="37" name="Shape 35"/>
          <p:cNvSpPr/>
          <p:nvPr/>
        </p:nvSpPr>
        <p:spPr>
          <a:xfrm>
            <a:off x="960120" y="3749040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161288" y="3657600"/>
            <a:ext cx="5120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Improves planning clarity for final-year mini projects.</a:t>
            </a:r>
            <a:endParaRPr lang="en-US" sz="1260" dirty="0"/>
          </a:p>
        </p:txBody>
      </p:sp>
      <p:sp>
        <p:nvSpPr>
          <p:cNvPr id="39" name="Shape 37"/>
          <p:cNvSpPr/>
          <p:nvPr/>
        </p:nvSpPr>
        <p:spPr>
          <a:xfrm>
            <a:off x="960120" y="43708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161288" y="4279392"/>
            <a:ext cx="5120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Supports academic deliverables without breaking workflow continuity.</a:t>
            </a:r>
            <a:endParaRPr lang="en-US" sz="1260" dirty="0"/>
          </a:p>
        </p:txBody>
      </p:sp>
      <p:sp>
        <p:nvSpPr>
          <p:cNvPr id="41" name="Shape 39"/>
          <p:cNvSpPr/>
          <p:nvPr/>
        </p:nvSpPr>
        <p:spPr>
          <a:xfrm>
            <a:off x="960120" y="4992624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161288" y="4901184"/>
            <a:ext cx="51206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6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stronger bridge between planning discussion and coding execution.</a:t>
            </a:r>
            <a:endParaRPr lang="en-US" sz="1260" dirty="0"/>
          </a:p>
        </p:txBody>
      </p:sp>
      <p:sp>
        <p:nvSpPr>
          <p:cNvPr id="43" name="Shape 41"/>
          <p:cNvSpPr/>
          <p:nvPr/>
        </p:nvSpPr>
        <p:spPr>
          <a:xfrm>
            <a:off x="6949440" y="2203704"/>
            <a:ext cx="3584448" cy="969264"/>
          </a:xfrm>
          <a:prstGeom prst="roundRect">
            <a:avLst>
              <a:gd name="adj" fmla="val 754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903720" y="2139696"/>
            <a:ext cx="358444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6903720" y="2139696"/>
            <a:ext cx="109728" cy="9692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159752" y="2359152"/>
            <a:ext cx="3163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What it changes</a:t>
            </a:r>
            <a:endParaRPr lang="en-US" sz="1160" dirty="0"/>
          </a:p>
        </p:txBody>
      </p:sp>
      <p:sp>
        <p:nvSpPr>
          <p:cNvPr id="47" name="Text 45"/>
          <p:cNvSpPr/>
          <p:nvPr/>
        </p:nvSpPr>
        <p:spPr>
          <a:xfrm>
            <a:off x="7159752" y="2651760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see a structured process, not just final output screens.</a:t>
            </a:r>
            <a:endParaRPr lang="en-US" sz="890" dirty="0"/>
          </a:p>
        </p:txBody>
      </p:sp>
      <p:sp>
        <p:nvSpPr>
          <p:cNvPr id="48" name="Shape 46"/>
          <p:cNvSpPr/>
          <p:nvPr/>
        </p:nvSpPr>
        <p:spPr>
          <a:xfrm>
            <a:off x="6949440" y="3465576"/>
            <a:ext cx="3584448" cy="969264"/>
          </a:xfrm>
          <a:prstGeom prst="roundRect">
            <a:avLst>
              <a:gd name="adj" fmla="val 754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6903720" y="3401568"/>
            <a:ext cx="358444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03720" y="3401568"/>
            <a:ext cx="109728" cy="969264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159752" y="3621024"/>
            <a:ext cx="3163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Why it matters</a:t>
            </a:r>
            <a:endParaRPr lang="en-US" sz="1160" dirty="0"/>
          </a:p>
        </p:txBody>
      </p:sp>
      <p:sp>
        <p:nvSpPr>
          <p:cNvPr id="52" name="Text 50"/>
          <p:cNvSpPr/>
          <p:nvPr/>
        </p:nvSpPr>
        <p:spPr>
          <a:xfrm>
            <a:off x="7159752" y="3913632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planning improves implementation quality and presentation confidence.</a:t>
            </a:r>
            <a:endParaRPr lang="en-US" sz="890" dirty="0"/>
          </a:p>
        </p:txBody>
      </p:sp>
      <p:sp>
        <p:nvSpPr>
          <p:cNvPr id="53" name="Shape 51"/>
          <p:cNvSpPr/>
          <p:nvPr/>
        </p:nvSpPr>
        <p:spPr>
          <a:xfrm>
            <a:off x="6949440" y="4727448"/>
            <a:ext cx="3584448" cy="969264"/>
          </a:xfrm>
          <a:prstGeom prst="roundRect">
            <a:avLst>
              <a:gd name="adj" fmla="val 7547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6903720" y="4663440"/>
            <a:ext cx="3584448" cy="969264"/>
          </a:xfrm>
          <a:prstGeom prst="roundRect">
            <a:avLst>
              <a:gd name="adj" fmla="val 7547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6903720" y="4663440"/>
            <a:ext cx="109728" cy="969264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59752" y="4882896"/>
            <a:ext cx="316382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6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Project impact</a:t>
            </a:r>
            <a:endParaRPr lang="en-US" sz="1160" dirty="0"/>
          </a:p>
        </p:txBody>
      </p:sp>
      <p:sp>
        <p:nvSpPr>
          <p:cNvPr id="57" name="Text 55"/>
          <p:cNvSpPr/>
          <p:nvPr/>
        </p:nvSpPr>
        <p:spPr>
          <a:xfrm>
            <a:off x="7159752" y="517550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9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practical AI assistant for student project planning workflows.</a:t>
            </a:r>
            <a:endParaRPr lang="en-US" sz="890" dirty="0"/>
          </a:p>
        </p:txBody>
      </p:sp>
      <p:sp>
        <p:nvSpPr>
          <p:cNvPr id="58" name="Shape 56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1880000">
            <a:off x="8732520" y="-6858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1381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" y="438912"/>
            <a:ext cx="512064" cy="237744"/>
          </a:xfrm>
          <a:prstGeom prst="roundRect">
            <a:avLst>
              <a:gd name="adj" fmla="val 30769"/>
            </a:avLst>
          </a:prstGeom>
          <a:solidFill>
            <a:srgbClr val="EFF6FF"/>
          </a:solidFill>
          <a:ln w="12700">
            <a:solidFill>
              <a:srgbClr val="EFF6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03504" y="521208"/>
            <a:ext cx="51206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603504" y="841248"/>
            <a:ext cx="7269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Live Demo</a:t>
            </a:r>
            <a:endParaRPr lang="en-US" sz="2400" dirty="0"/>
          </a:p>
        </p:txBody>
      </p:sp>
      <p:sp>
        <p:nvSpPr>
          <p:cNvPr id="33" name="Shape 31"/>
          <p:cNvSpPr/>
          <p:nvPr/>
        </p:nvSpPr>
        <p:spPr>
          <a:xfrm>
            <a:off x="621792" y="1353312"/>
            <a:ext cx="987552" cy="0"/>
          </a:xfrm>
          <a:prstGeom prst="line">
            <a:avLst/>
          </a:prstGeom>
          <a:noFill/>
          <a:ln w="34290">
            <a:solidFill>
              <a:srgbClr val="06B6D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03504" y="1481328"/>
            <a:ext cx="7543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this slide during the demo to guide reviewers through the deployed product flow.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1892808"/>
            <a:ext cx="4005072" cy="4169664"/>
          </a:xfrm>
          <a:prstGeom prst="roundRect">
            <a:avLst>
              <a:gd name="adj" fmla="val 1826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68680" y="1828800"/>
            <a:ext cx="4005072" cy="4169664"/>
          </a:xfrm>
          <a:prstGeom prst="roundRect">
            <a:avLst>
              <a:gd name="adj" fmla="val 1826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1170432" y="2139696"/>
            <a:ext cx="124358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Demo flow</a:t>
            </a:r>
            <a:endParaRPr lang="en-US" sz="1320" dirty="0"/>
          </a:p>
        </p:txBody>
      </p:sp>
      <p:sp>
        <p:nvSpPr>
          <p:cNvPr id="39" name="Shape 37"/>
          <p:cNvSpPr/>
          <p:nvPr/>
        </p:nvSpPr>
        <p:spPr>
          <a:xfrm>
            <a:off x="1207008" y="2706624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408176" y="2615184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deployed application</a:t>
            </a:r>
            <a:endParaRPr lang="en-US" sz="1200" dirty="0"/>
          </a:p>
        </p:txBody>
      </p:sp>
      <p:sp>
        <p:nvSpPr>
          <p:cNvPr id="41" name="Shape 39"/>
          <p:cNvSpPr/>
          <p:nvPr/>
        </p:nvSpPr>
        <p:spPr>
          <a:xfrm>
            <a:off x="1207008" y="3310128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1408176" y="3218688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or select a project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1207008" y="3913632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1408176" y="3822192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 stage-wise AI chat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1207008" y="4517136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408176" y="4425696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blueprint memory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1207008" y="5120640"/>
            <a:ext cx="100584" cy="100584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408176" y="5029200"/>
            <a:ext cx="269748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BRD and prompts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5532120" y="1892808"/>
            <a:ext cx="4937760" cy="1938528"/>
          </a:xfrm>
          <a:prstGeom prst="roundRect">
            <a:avLst>
              <a:gd name="adj" fmla="val 3774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5486400" y="1828800"/>
            <a:ext cx="4937760" cy="1938528"/>
          </a:xfrm>
          <a:prstGeom prst="roundRect">
            <a:avLst>
              <a:gd name="adj" fmla="val 3774"/>
            </a:avLst>
          </a:prstGeom>
          <a:solidFill>
            <a:srgbClr val="EFF6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5815584" y="2157984"/>
            <a:ext cx="1325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3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URL</a:t>
            </a:r>
            <a:endParaRPr lang="en-US" sz="930" dirty="0"/>
          </a:p>
        </p:txBody>
      </p:sp>
      <p:sp>
        <p:nvSpPr>
          <p:cNvPr id="52" name="Shape 50"/>
          <p:cNvSpPr/>
          <p:nvPr/>
        </p:nvSpPr>
        <p:spPr>
          <a:xfrm>
            <a:off x="5779008" y="2487168"/>
            <a:ext cx="4315968" cy="786384"/>
          </a:xfrm>
          <a:prstGeom prst="roundRect">
            <a:avLst>
              <a:gd name="adj" fmla="val 9302"/>
            </a:avLst>
          </a:prstGeom>
          <a:solidFill>
            <a:srgbClr val="F8FB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5961888" y="2670048"/>
            <a:ext cx="3950208" cy="420624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9912096" y="2670048"/>
            <a:ext cx="-3950208" cy="420624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961888" y="2624328"/>
            <a:ext cx="3950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URL PLACEHOLDER</a:t>
            </a:r>
            <a:endParaRPr lang="en-US" sz="1350" dirty="0"/>
          </a:p>
        </p:txBody>
      </p:sp>
      <p:sp>
        <p:nvSpPr>
          <p:cNvPr id="56" name="Text 54"/>
          <p:cNvSpPr/>
          <p:nvPr/>
        </p:nvSpPr>
        <p:spPr>
          <a:xfrm>
            <a:off x="5961888" y="2953512"/>
            <a:ext cx="39502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deployed URL</a:t>
            </a:r>
            <a:endParaRPr lang="en-US" sz="880" dirty="0"/>
          </a:p>
        </p:txBody>
      </p:sp>
      <p:sp>
        <p:nvSpPr>
          <p:cNvPr id="57" name="Shape 55"/>
          <p:cNvSpPr/>
          <p:nvPr/>
        </p:nvSpPr>
        <p:spPr>
          <a:xfrm>
            <a:off x="5532120" y="4105656"/>
            <a:ext cx="2011680" cy="1956816"/>
          </a:xfrm>
          <a:prstGeom prst="roundRect">
            <a:avLst>
              <a:gd name="adj" fmla="val 3738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5486400" y="4041648"/>
            <a:ext cx="2011680" cy="1956816"/>
          </a:xfrm>
          <a:prstGeom prst="roundRect">
            <a:avLst>
              <a:gd name="adj" fmla="val 3738"/>
            </a:avLst>
          </a:prstGeom>
          <a:solidFill>
            <a:srgbClr val="FFFF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5806440" y="4352544"/>
            <a:ext cx="1371600" cy="1298448"/>
          </a:xfrm>
          <a:prstGeom prst="roundRect">
            <a:avLst>
              <a:gd name="adj" fmla="val 5634"/>
            </a:avLst>
          </a:prstGeom>
          <a:solidFill>
            <a:srgbClr val="F8FBFF"/>
          </a:solidFill>
          <a:ln w="15240">
            <a:solidFill>
              <a:srgbClr val="93C5F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989320" y="4535424"/>
            <a:ext cx="1005840" cy="932688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6995160" y="4535424"/>
            <a:ext cx="-1005840" cy="932688"/>
          </a:xfrm>
          <a:prstGeom prst="line">
            <a:avLst/>
          </a:prstGeom>
          <a:noFill/>
          <a:ln w="9525">
            <a:solidFill>
              <a:srgbClr val="BFDBFE">
                <a:alpha val="90000"/>
              </a:srgbClr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989320" y="474573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2563EB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QR CODE</a:t>
            </a:r>
            <a:endParaRPr lang="en-US" sz="1350" dirty="0"/>
          </a:p>
        </p:txBody>
      </p:sp>
      <p:sp>
        <p:nvSpPr>
          <p:cNvPr id="63" name="Text 61"/>
          <p:cNvSpPr/>
          <p:nvPr/>
        </p:nvSpPr>
        <p:spPr>
          <a:xfrm>
            <a:off x="5989320" y="5074920"/>
            <a:ext cx="10058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Insert QR</a:t>
            </a:r>
            <a:endParaRPr lang="en-US" sz="880" dirty="0"/>
          </a:p>
        </p:txBody>
      </p:sp>
      <p:sp>
        <p:nvSpPr>
          <p:cNvPr id="64" name="Shape 62"/>
          <p:cNvSpPr/>
          <p:nvPr/>
        </p:nvSpPr>
        <p:spPr>
          <a:xfrm>
            <a:off x="7909560" y="4105656"/>
            <a:ext cx="2560320" cy="1956816"/>
          </a:xfrm>
          <a:prstGeom prst="roundRect">
            <a:avLst>
              <a:gd name="adj" fmla="val 3738"/>
            </a:avLst>
          </a:prstGeom>
          <a:solidFill>
            <a:srgbClr val="0F172A">
              <a:alpha val="10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863840" y="4041648"/>
            <a:ext cx="2560320" cy="1956816"/>
          </a:xfrm>
          <a:prstGeom prst="roundRect">
            <a:avLst>
              <a:gd name="adj" fmla="val 3738"/>
            </a:avLst>
          </a:prstGeom>
          <a:solidFill>
            <a:srgbClr val="ECFEFF"/>
          </a:solidFill>
          <a:ln w="12700">
            <a:solidFill>
              <a:srgbClr val="D9E7F7"/>
            </a:solidFill>
            <a:prstDash val="solid"/>
          </a:ln>
          <a:effectLst>
            <a:outerShdw sx="100000" sy="100000" kx="0" ky="0" algn="bl" rotWithShape="0" blurRad="27940" dist="50800" dir="2700000">
              <a:srgbClr val="1E293B">
                <a:alpha val="12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8156448" y="437083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Reviewer cue</a:t>
            </a:r>
            <a:endParaRPr lang="en-US" sz="1080" dirty="0"/>
          </a:p>
        </p:txBody>
      </p:sp>
      <p:sp>
        <p:nvSpPr>
          <p:cNvPr id="67" name="Text 65"/>
          <p:cNvSpPr/>
          <p:nvPr/>
        </p:nvSpPr>
        <p:spPr>
          <a:xfrm>
            <a:off x="8156448" y="4709160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 one project from input collection to generated BRD and prompts.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760" dirty="0"/>
          </a:p>
        </p:txBody>
      </p: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4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4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320000">
            <a:off x="-1097280" y="-914400"/>
            <a:ext cx="3840480" cy="3840480"/>
          </a:xfrm>
          <a:prstGeom prst="arc">
            <a:avLst/>
          </a:prstGeom>
          <a:solidFill>
            <a:srgbClr val="DBEAFE">
              <a:alpha val="74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2480000">
            <a:off x="8595360" y="4160520"/>
            <a:ext cx="3566160" cy="3566160"/>
          </a:xfrm>
          <a:prstGeom prst="arc">
            <a:avLst/>
          </a:prstGeom>
          <a:solidFill>
            <a:srgbClr val="CFFAFE">
              <a:alpha val="65000"/>
            </a:srgbClr>
          </a:solidFill>
          <a:ln w="12700">
            <a:solidFill>
              <a:srgbClr val="CFFAFE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6128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91109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66090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41071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16052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91032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013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0994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15975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90956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659368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409176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158984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08792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1658600" y="0"/>
            <a:ext cx="0" cy="685800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0" y="34747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0" y="109728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184708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0" y="259689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0" y="3346704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0" y="4096512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0" y="4846320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0" y="5596128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0" y="6345936"/>
            <a:ext cx="12191695" cy="0"/>
          </a:xfrm>
          <a:prstGeom prst="line">
            <a:avLst/>
          </a:prstGeom>
          <a:noFill/>
          <a:ln w="4064">
            <a:solidFill>
              <a:srgbClr val="CBD5E1">
                <a:alpha val="8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 rot="720000">
            <a:off x="7973568" y="868680"/>
            <a:ext cx="3566160" cy="3566160"/>
          </a:xfrm>
          <a:prstGeom prst="arc">
            <a:avLst/>
          </a:prstGeom>
          <a:solidFill>
            <a:srgbClr val="DBEAFE">
              <a:alpha val="88000"/>
            </a:srgbClr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48256" y="1719072"/>
            <a:ext cx="80467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Thank You</a:t>
            </a:r>
            <a:endParaRPr lang="en-US" sz="3400" dirty="0"/>
          </a:p>
        </p:txBody>
      </p:sp>
      <p:sp>
        <p:nvSpPr>
          <p:cNvPr id="32" name="Text 30"/>
          <p:cNvSpPr/>
          <p:nvPr/>
        </p:nvSpPr>
        <p:spPr>
          <a:xfrm>
            <a:off x="4261104" y="25968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33" name="Shape 31"/>
          <p:cNvSpPr/>
          <p:nvPr/>
        </p:nvSpPr>
        <p:spPr>
          <a:xfrm>
            <a:off x="3008376" y="3849624"/>
            <a:ext cx="6309360" cy="1481328"/>
          </a:xfrm>
          <a:prstGeom prst="roundRect">
            <a:avLst>
              <a:gd name="adj" fmla="val 7407"/>
            </a:avLst>
          </a:prstGeom>
          <a:solidFill>
            <a:srgbClr val="0F172A">
              <a:alpha val="7000"/>
            </a:srgbClr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962656" y="3785616"/>
            <a:ext cx="6309360" cy="1481328"/>
          </a:xfrm>
          <a:prstGeom prst="roundRect">
            <a:avLst>
              <a:gd name="adj" fmla="val 7407"/>
            </a:avLst>
          </a:prstGeom>
          <a:solidFill>
            <a:srgbClr val="FFFFFF">
              <a:alpha val="84000"/>
            </a:srgbClr>
          </a:solidFill>
          <a:ln w="12700">
            <a:solidFill>
              <a:srgbClr val="BFDBFE">
                <a:alpha val="82000"/>
              </a:srgbClr>
            </a:solidFill>
            <a:prstDash val="solid"/>
          </a:ln>
          <a:effectLst>
            <a:outerShdw sx="100000" sy="100000" kx="0" ky="0" algn="bl" rotWithShape="0" blurRad="29210" dist="50800" dir="2700000">
              <a:srgbClr val="1E293B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3310128" y="4206240"/>
            <a:ext cx="5577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0F172A"/>
                </a:solidFill>
                <a:latin typeface="Bahnschrift" pitchFamily="34" charset="0"/>
                <a:ea typeface="Bahnschrift" pitchFamily="34" charset="-122"/>
                <a:cs typeface="Bahnschrift" pitchFamily="34" charset="-120"/>
              </a:rPr>
              <a:t>BuildFlow AI - AI-Based Project Planning Assistant</a:t>
            </a:r>
            <a:endParaRPr lang="en-US" sz="1220" dirty="0"/>
          </a:p>
        </p:txBody>
      </p:sp>
      <p:sp>
        <p:nvSpPr>
          <p:cNvPr id="36" name="Text 34"/>
          <p:cNvSpPr/>
          <p:nvPr/>
        </p:nvSpPr>
        <p:spPr>
          <a:xfrm>
            <a:off x="3310128" y="4617720"/>
            <a:ext cx="5577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AJAY M | SHAFI AHMED F | VIDYASAAGAR M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10405872" y="402336"/>
            <a:ext cx="10972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8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BuildFlow AI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603504" y="6473952"/>
            <a:ext cx="10899648" cy="0"/>
          </a:xfrm>
          <a:prstGeom prst="line">
            <a:avLst/>
          </a:prstGeom>
          <a:noFill/>
          <a:ln w="6985">
            <a:solidFill>
              <a:srgbClr val="D9E7F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1338560" y="6400800"/>
            <a:ext cx="25603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760" dirty="0"/>
          </a:p>
        </p:txBody>
      </p:sp>
    </p:spTree>
  </p:cSld>
  <p:clrMapOvr>
    <a:masterClrMapping/>
  </p:clrMapOvr>
  <p:transition spd="med">
    <p:zoom dir="in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0" fill="hold">
                      <p:stCondLst>
                        <p:cond delay="0"/>
                      </p:stCondLst>
                      <p:childTnLst>
                        <p:par>
                          <p:cTn id="11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2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1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3" dur="480" fill="hold"/>
                                  <p:tgtEl>
                                    <p:spTgt spid="31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180"/>
                      </p:stCondLst>
                      <p:childTnLst>
                        <p:par>
                          <p:cTn id="15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16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2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17" dur="480" fill="hold"/>
                                  <p:tgtEl>
                                    <p:spTgt spid="32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240"/>
                      </p:stCondLst>
                      <p:childTnLst>
                        <p:par>
                          <p:cTn id="19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0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5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1" dur="480" fill="hold"/>
                                  <p:tgtEl>
                                    <p:spTgt spid="35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300"/>
                      </p:stCondLst>
                      <p:childTnLst>
                        <p:par>
                          <p:cTn id="23" presetID="10" presetClass="entr" presetSubtype="0" fill="hold" grpId="0" nodeType="clickEffect">
                            <p:stCondLst>
                              <p:cond delay="0"/>
                            </p:stCondLst>
                            <p:childTnLst>
                              <p:set>
                                <p:cBhvr>
                                  <p:cTn id="24" dur="1" fill="hold">
                                    <p:stCondLst>
                                      <p:cond delay="0"/>
                                    </p:stCondLst>
                                  </p:cTn>
                                  <p:tgtEl>
                                    <p:spTgt spid="36"/>
                                  </p:tgtEl>
                                  <p:attrNameLst>
                                    <p:attrName>style.visibility</p:attrName>
                                  </p:attrNameLst>
                                </p:cBhvr>
                                <p:to>
                                  <p:strVal val="visible"/>
                                </p:to>
                              </p:set>
                              <p:animEffect transition="in" filter="fade">
                                <p:cBhvr>
                                  <p:cTn id="25" dur="480" fill="hold"/>
                                  <p:tgtEl>
                                    <p:spTgt spid="36"/>
                                  </p:tgtEl>
                                </p:cBhvr>
                              </p:animEffect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Bahnschrif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Rajiv Gandhi College of Engineering and Technology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BuildFlow AI - AI-Based Project Planning Assistant</dc:title>
  <dc:subject>BuildFlow AI final-year mini project presentation</dc:subject>
  <dc:creator>Codex</dc:creator>
  <cp:lastModifiedBy>Codex</cp:lastModifiedBy>
  <cp:revision>1</cp:revision>
  <dcterms:created xsi:type="dcterms:W3CDTF">2026-05-10T16:15:38Z</dcterms:created>
  <dcterms:modified xsi:type="dcterms:W3CDTF">2026-05-10T16:15:38Z</dcterms:modified>
</cp:coreProperties>
</file>